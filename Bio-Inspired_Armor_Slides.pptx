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charts/chart10.xml" ContentType="application/vnd.openxmlformats-officedocument.drawingml.chart+xml"/>
  <Override PartName="/ppt/charts/chart11.xml" ContentType="application/vnd.openxmlformats-officedocument.drawingml.char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embedTrueTypeFonts="1" saveSubsetFonts="1" autoCompressPictures="0">
  <p:sldMasterIdLst>
    <p:sldMasterId id="2147483682" r:id="rId1"/>
  </p:sldMasterIdLst>
  <p:notesMasterIdLst>
    <p:notesMasterId r:id="rId3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</p:sldIdLst>
  <p:sldSz cx="9144000" cy="5143500" type="screen16x9"/>
  <p:notesSz cx="6858000" cy="9144000"/>
  <p:embeddedFontLst>
    <p:embeddedFont>
      <p:font typeface="Consolas" panose="020B0609020204030204" pitchFamily="49" charset="0"/>
      <p:regular r:id="rId37"/>
      <p:bold r:id="rId38"/>
      <p:italic r:id="rId39"/>
      <p:boldItalic r:id="rId40"/>
    </p:embeddedFont>
    <p:embeddedFont>
      <p:font typeface="Kanit"/>
      <p:regular r:id="rId41"/>
      <p:bold r:id="rId42"/>
      <p:italic r:id="rId43"/>
      <p:boldItalic r:id="rId44"/>
    </p:embeddedFont>
    <p:embeddedFont>
      <p:font typeface="Open Sans" panose="020B0606030504020204" pitchFamily="34" charset="0"/>
      <p:regular r:id="rId45"/>
      <p:bold r:id="rId46"/>
      <p:italic r:id="rId47"/>
      <p:boldItalic r:id="rId4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8BB2AB5-A046-43E5-8953-F0C3DBCBA539}">
  <a:tblStyle styleId="{48BB2AB5-A046-43E5-8953-F0C3DBCBA539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975"/>
    <p:restoredTop sz="94658"/>
  </p:normalViewPr>
  <p:slideViewPr>
    <p:cSldViewPr snapToGrid="0">
      <p:cViewPr varScale="1">
        <p:scale>
          <a:sx n="160" d="100"/>
          <a:sy n="160" d="100"/>
        </p:scale>
        <p:origin x="1016" y="17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font" Target="fonts/font3.fntdata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font" Target="fonts/font6.fntdata"/><Relationship Id="rId47" Type="http://schemas.openxmlformats.org/officeDocument/2006/relationships/font" Target="fonts/font11.fntdata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font" Target="fonts/font1.fntdata"/><Relationship Id="rId40" Type="http://schemas.openxmlformats.org/officeDocument/2006/relationships/font" Target="fonts/font4.fntdata"/><Relationship Id="rId45" Type="http://schemas.openxmlformats.org/officeDocument/2006/relationships/font" Target="fonts/font9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font" Target="fonts/font8.fntdata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font" Target="fonts/font7.fntdata"/><Relationship Id="rId48" Type="http://schemas.openxmlformats.org/officeDocument/2006/relationships/font" Target="fonts/font12.fntdata"/><Relationship Id="rId8" Type="http://schemas.openxmlformats.org/officeDocument/2006/relationships/slide" Target="slides/slide7.xml"/><Relationship Id="rId51" Type="http://schemas.openxmlformats.org/officeDocument/2006/relationships/theme" Target="theme/theme1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font" Target="fonts/font2.fntdata"/><Relationship Id="rId46" Type="http://schemas.openxmlformats.org/officeDocument/2006/relationships/font" Target="fonts/font10.fntdata"/><Relationship Id="rId20" Type="http://schemas.openxmlformats.org/officeDocument/2006/relationships/slide" Target="slides/slide19.xml"/><Relationship Id="rId41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3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4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5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6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7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8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9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10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000" b="0">
                <a:solidFill>
                  <a:srgbClr val="FFFFFF"/>
                </a:solidFill>
                <a:latin typeface="Kanit"/>
              </a:rPr>
              <a:t>Average breaking point (N)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Average breaking point (N)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4A4C54"/>
              </a:solidFill>
            </c:spPr>
            <c:extLst>
              <c:ext xmlns:c16="http://schemas.microsoft.com/office/drawing/2014/chart" uri="{C3380CC4-5D6E-409C-BE32-E72D297353CC}">
                <c16:uniqueId val="{00000001-905F-ED45-8C86-403535F53C4C}"/>
              </c:ext>
            </c:extLst>
          </c:dPt>
          <c:dPt>
            <c:idx val="1"/>
            <c:invertIfNegative val="1"/>
            <c:bubble3D val="0"/>
            <c:spPr>
              <a:solidFill>
                <a:srgbClr val="A6192E"/>
              </a:solidFill>
            </c:spPr>
            <c:extLst>
              <c:ext xmlns:c16="http://schemas.microsoft.com/office/drawing/2014/chart" uri="{C3380CC4-5D6E-409C-BE32-E72D297353CC}">
                <c16:uniqueId val="{00000003-905F-ED45-8C86-403535F53C4C}"/>
              </c:ext>
            </c:extLst>
          </c:dPt>
          <c:dPt>
            <c:idx val="2"/>
            <c:invertIfNegative val="1"/>
            <c:bubble3D val="0"/>
            <c:spPr>
              <a:solidFill>
                <a:srgbClr val="4A4C54"/>
              </a:solidFill>
            </c:spPr>
            <c:extLst>
              <c:ext xmlns:c16="http://schemas.microsoft.com/office/drawing/2014/chart" uri="{C3380CC4-5D6E-409C-BE32-E72D297353CC}">
                <c16:uniqueId val="{00000005-905F-ED45-8C86-403535F53C4C}"/>
              </c:ext>
            </c:extLst>
          </c:dPt>
          <c:dPt>
            <c:idx val="3"/>
            <c:invertIfNegative val="1"/>
            <c:bubble3D val="0"/>
            <c:spPr>
              <a:solidFill>
                <a:srgbClr val="4A4C54"/>
              </a:solidFill>
            </c:spPr>
            <c:extLst>
              <c:ext xmlns:c16="http://schemas.microsoft.com/office/drawing/2014/chart" uri="{C3380CC4-5D6E-409C-BE32-E72D297353CC}">
                <c16:uniqueId val="{00000007-905F-ED45-8C86-403535F53C4C}"/>
              </c:ext>
            </c:extLst>
          </c:dPt>
          <c:dPt>
            <c:idx val="4"/>
            <c:invertIfNegative val="1"/>
            <c:bubble3D val="0"/>
            <c:spPr>
              <a:solidFill>
                <a:srgbClr val="4A4C54"/>
              </a:solidFill>
            </c:spPr>
            <c:extLst>
              <c:ext xmlns:c16="http://schemas.microsoft.com/office/drawing/2014/chart" uri="{C3380CC4-5D6E-409C-BE32-E72D297353CC}">
                <c16:uniqueId val="{00000009-905F-ED45-8C86-403535F53C4C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>
                    <a:solidFill>
                      <a:srgbClr val="FFFFFF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Grid</c:v>
                </c:pt>
                <c:pt idx="1">
                  <c:v>1.0 mm</c:v>
                </c:pt>
                <c:pt idx="2">
                  <c:v>1.5 mm</c:v>
                </c:pt>
                <c:pt idx="3">
                  <c:v>2.0 mm</c:v>
                </c:pt>
                <c:pt idx="4">
                  <c:v>2.5 mm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309.3666667</c:v>
                </c:pt>
                <c:pt idx="1">
                  <c:v>456.733</c:v>
                </c:pt>
                <c:pt idx="2">
                  <c:v>447.7</c:v>
                </c:pt>
                <c:pt idx="3">
                  <c:v>420.16666666999998</c:v>
                </c:pt>
                <c:pt idx="4">
                  <c:v>343.866666667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905F-ED45-8C86-403535F53C4C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3B3C43"/>
            </a:solidFill>
          </a:ln>
        </c:spPr>
        <c:txPr>
          <a:bodyPr/>
          <a:lstStyle/>
          <a:p>
            <a:pPr>
              <a:defRPr sz="850">
                <a:solidFill>
                  <a:srgbClr val="B3B5BC"/>
                </a:solidFill>
              </a:defRPr>
            </a:pPr>
            <a:endParaRPr lang="en-US"/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orientation val="minMax"/>
          <c:max val="550"/>
          <c:min val="0"/>
        </c:scaling>
        <c:delete val="0"/>
        <c:axPos val="l"/>
        <c:majorGridlines>
          <c:spPr>
            <a:ln w="6350">
              <a:solidFill>
                <a:srgbClr val="3B3C43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7E8089"/>
                </a:solidFill>
              </a:defRPr>
            </a:pPr>
            <a:endParaRPr lang="en-US"/>
          </a:p>
        </c:txPr>
        <c:crossAx val="2068027336"/>
        <c:crosses val="autoZero"/>
        <c:crossBetween val="between"/>
        <c:majorUnit val="100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  <c:txPr>
    <a:bodyPr/>
    <a:lstStyle/>
    <a:p>
      <a:pPr>
        <a:defRPr sz="900">
          <a:solidFill>
            <a:srgbClr val="B3B5BC"/>
          </a:solidFill>
          <a:latin typeface="Open Sans"/>
        </a:defRPr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000" b="0">
                <a:solidFill>
                  <a:srgbClr val="FFFFFF"/>
                </a:solidFill>
                <a:latin typeface="Kanit"/>
              </a:rPr>
              <a:t>Change in resistance (k</a:t>
            </a:r>
            <a:r>
              <a:rPr lang="el-GR" sz="1000" b="0">
                <a:solidFill>
                  <a:srgbClr val="FFFFFF"/>
                </a:solidFill>
                <a:latin typeface="Kanit"/>
              </a:rPr>
              <a:t>Ω)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Change in resistance (kΩ)</c:v>
                </c:pt>
              </c:strCache>
            </c:strRef>
          </c:tx>
          <c:spPr>
            <a:ln w="28575">
              <a:solidFill>
                <a:srgbClr val="A9ABB3"/>
              </a:solidFill>
            </a:ln>
          </c:spPr>
          <c:marker>
            <c:symbol val="circle"/>
            <c:size val="7"/>
            <c:spPr>
              <a:solidFill>
                <a:srgbClr val="A9ABB3"/>
              </a:solidFill>
              <a:ln>
                <a:solidFill>
                  <a:srgbClr val="A9ABB3"/>
                </a:solidFill>
              </a:ln>
            </c:spPr>
          </c:marker>
          <c:dPt>
            <c:idx val="1"/>
            <c:marker>
              <c:symbol val="circle"/>
              <c:size val="11"/>
              <c:spPr>
                <a:solidFill>
                  <a:srgbClr val="A6192E"/>
                </a:solidFill>
                <a:ln>
                  <a:solidFill>
                    <a:srgbClr val="FFFFFF"/>
                  </a:solidFill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BFEF-4144-BEA3-E2656C8D49E9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>
                    <a:solidFill>
                      <a:srgbClr val="FFFFFF"/>
                    </a:solidFill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Grid</c:v>
                </c:pt>
                <c:pt idx="1">
                  <c:v>1.0 mm</c:v>
                </c:pt>
                <c:pt idx="2">
                  <c:v>1.5 mm</c:v>
                </c:pt>
                <c:pt idx="3">
                  <c:v>2.0 mm</c:v>
                </c:pt>
                <c:pt idx="4">
                  <c:v>2.5 mm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0.1229</c:v>
                </c:pt>
                <c:pt idx="1">
                  <c:v>0.57310000000000005</c:v>
                </c:pt>
                <c:pt idx="2">
                  <c:v>0.34766000000000002</c:v>
                </c:pt>
                <c:pt idx="3">
                  <c:v>0.36899999999999999</c:v>
                </c:pt>
                <c:pt idx="4">
                  <c:v>7.2330000000000005E-2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BFEF-4144-BEA3-E2656C8D49E9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3B3C43"/>
            </a:solidFill>
          </a:ln>
        </c:spPr>
        <c:txPr>
          <a:bodyPr/>
          <a:lstStyle/>
          <a:p>
            <a:pPr>
              <a:defRPr sz="850">
                <a:solidFill>
                  <a:srgbClr val="B3B5BC"/>
                </a:solidFill>
              </a:defRPr>
            </a:pPr>
            <a:endParaRPr lang="en-US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0.7"/>
          <c:min val="0"/>
        </c:scaling>
        <c:delete val="0"/>
        <c:axPos val="l"/>
        <c:majorGridlines>
          <c:spPr>
            <a:ln w="6350">
              <a:solidFill>
                <a:srgbClr val="3B3C43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7E8089"/>
                </a:solidFill>
              </a:defRPr>
            </a:pPr>
            <a:endParaRPr lang="en-US"/>
          </a:p>
        </c:txPr>
        <c:crossAx val="2118791784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00">
          <a:solidFill>
            <a:srgbClr val="B3B5BC"/>
          </a:solidFill>
          <a:latin typeface="Open Sans"/>
        </a:defRPr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000" b="0">
                <a:solidFill>
                  <a:srgbClr val="FFFFFF"/>
                </a:solidFill>
                <a:latin typeface="Kanit"/>
              </a:rPr>
              <a:t>Average breaking point (N)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Average breaking point (N)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4A4C54"/>
              </a:solidFill>
            </c:spPr>
            <c:extLst>
              <c:ext xmlns:c16="http://schemas.microsoft.com/office/drawing/2014/chart" uri="{C3380CC4-5D6E-409C-BE32-E72D297353CC}">
                <c16:uniqueId val="{00000001-A7F3-D248-B6DE-2D19ADC8BDD2}"/>
              </c:ext>
            </c:extLst>
          </c:dPt>
          <c:dPt>
            <c:idx val="1"/>
            <c:invertIfNegative val="1"/>
            <c:bubble3D val="0"/>
            <c:spPr>
              <a:solidFill>
                <a:srgbClr val="4A4C54"/>
              </a:solidFill>
            </c:spPr>
            <c:extLst>
              <c:ext xmlns:c16="http://schemas.microsoft.com/office/drawing/2014/chart" uri="{C3380CC4-5D6E-409C-BE32-E72D297353CC}">
                <c16:uniqueId val="{00000003-A7F3-D248-B6DE-2D19ADC8BDD2}"/>
              </c:ext>
            </c:extLst>
          </c:dPt>
          <c:dPt>
            <c:idx val="2"/>
            <c:invertIfNegative val="1"/>
            <c:bubble3D val="0"/>
            <c:spPr>
              <a:solidFill>
                <a:srgbClr val="A6192E"/>
              </a:solidFill>
            </c:spPr>
            <c:extLst>
              <c:ext xmlns:c16="http://schemas.microsoft.com/office/drawing/2014/chart" uri="{C3380CC4-5D6E-409C-BE32-E72D297353CC}">
                <c16:uniqueId val="{00000005-A7F3-D248-B6DE-2D19ADC8BDD2}"/>
              </c:ext>
            </c:extLst>
          </c:dPt>
          <c:dPt>
            <c:idx val="3"/>
            <c:invertIfNegative val="1"/>
            <c:bubble3D val="0"/>
            <c:spPr>
              <a:solidFill>
                <a:srgbClr val="4A4C54"/>
              </a:solidFill>
            </c:spPr>
            <c:extLst>
              <c:ext xmlns:c16="http://schemas.microsoft.com/office/drawing/2014/chart" uri="{C3380CC4-5D6E-409C-BE32-E72D297353CC}">
                <c16:uniqueId val="{00000007-A7F3-D248-B6DE-2D19ADC8BDD2}"/>
              </c:ext>
            </c:extLst>
          </c:dPt>
          <c:dPt>
            <c:idx val="4"/>
            <c:invertIfNegative val="1"/>
            <c:bubble3D val="0"/>
            <c:spPr>
              <a:solidFill>
                <a:srgbClr val="4A4C54"/>
              </a:solidFill>
            </c:spPr>
            <c:extLst>
              <c:ext xmlns:c16="http://schemas.microsoft.com/office/drawing/2014/chart" uri="{C3380CC4-5D6E-409C-BE32-E72D297353CC}">
                <c16:uniqueId val="{00000009-A7F3-D248-B6DE-2D19ADC8BDD2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>
                    <a:solidFill>
                      <a:srgbClr val="FFFFFF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0.75 mm</c:v>
                </c:pt>
                <c:pt idx="1">
                  <c:v>0.9 mm</c:v>
                </c:pt>
                <c:pt idx="2">
                  <c:v>1.0 mm</c:v>
                </c:pt>
                <c:pt idx="3">
                  <c:v>1.25 mm</c:v>
                </c:pt>
                <c:pt idx="4">
                  <c:v>1.5 mm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165.7</c:v>
                </c:pt>
                <c:pt idx="1">
                  <c:v>323.633333333</c:v>
                </c:pt>
                <c:pt idx="2">
                  <c:v>456.733</c:v>
                </c:pt>
                <c:pt idx="3">
                  <c:v>439.46666670000002</c:v>
                </c:pt>
                <c:pt idx="4">
                  <c:v>447.7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A7F3-D248-B6DE-2D19ADC8BDD2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3B3C43"/>
            </a:solidFill>
          </a:ln>
        </c:spPr>
        <c:txPr>
          <a:bodyPr/>
          <a:lstStyle/>
          <a:p>
            <a:pPr>
              <a:defRPr sz="850">
                <a:solidFill>
                  <a:srgbClr val="B3B5BC"/>
                </a:solidFill>
              </a:defRPr>
            </a:pPr>
            <a:endParaRPr lang="en-US"/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orientation val="minMax"/>
          <c:max val="550"/>
          <c:min val="0"/>
        </c:scaling>
        <c:delete val="0"/>
        <c:axPos val="l"/>
        <c:majorGridlines>
          <c:spPr>
            <a:ln w="6350">
              <a:solidFill>
                <a:srgbClr val="3B3C43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7E8089"/>
                </a:solidFill>
              </a:defRPr>
            </a:pPr>
            <a:endParaRPr lang="en-US"/>
          </a:p>
        </c:txPr>
        <c:crossAx val="2068027336"/>
        <c:crosses val="autoZero"/>
        <c:crossBetween val="between"/>
        <c:majorUnit val="100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  <c:txPr>
    <a:bodyPr/>
    <a:lstStyle/>
    <a:p>
      <a:pPr>
        <a:defRPr sz="900">
          <a:solidFill>
            <a:srgbClr val="B3B5BC"/>
          </a:solidFill>
          <a:latin typeface="Open Sans"/>
        </a:defRPr>
      </a:pPr>
      <a:endParaRPr lang="en-US"/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000" b="0">
                <a:solidFill>
                  <a:srgbClr val="FFFFFF"/>
                </a:solidFill>
                <a:latin typeface="Kanit"/>
              </a:rPr>
              <a:t>Change in resistance (k</a:t>
            </a:r>
            <a:r>
              <a:rPr lang="el-GR" sz="1000" b="0">
                <a:solidFill>
                  <a:srgbClr val="FFFFFF"/>
                </a:solidFill>
                <a:latin typeface="Kanit"/>
              </a:rPr>
              <a:t>Ω)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Change in resistance (kΩ)</c:v>
                </c:pt>
              </c:strCache>
            </c:strRef>
          </c:tx>
          <c:spPr>
            <a:ln w="28575">
              <a:solidFill>
                <a:srgbClr val="A9ABB3"/>
              </a:solidFill>
            </a:ln>
          </c:spPr>
          <c:marker>
            <c:symbol val="circle"/>
            <c:size val="7"/>
            <c:spPr>
              <a:solidFill>
                <a:srgbClr val="A9ABB3"/>
              </a:solidFill>
              <a:ln>
                <a:solidFill>
                  <a:srgbClr val="A9ABB3"/>
                </a:solidFill>
              </a:ln>
            </c:spPr>
          </c:marker>
          <c:dPt>
            <c:idx val="2"/>
            <c:marker>
              <c:symbol val="circle"/>
              <c:size val="11"/>
              <c:spPr>
                <a:solidFill>
                  <a:srgbClr val="A6192E"/>
                </a:solidFill>
                <a:ln>
                  <a:solidFill>
                    <a:srgbClr val="FFFFFF"/>
                  </a:solidFill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74B2-B94E-933A-3BFB8C374C33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>
                    <a:solidFill>
                      <a:srgbClr val="FFFFFF"/>
                    </a:solidFill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Sheet1!$A$2:$A$5</c:f>
              <c:strCache>
                <c:ptCount val="4"/>
                <c:pt idx="0">
                  <c:v>0.75 mm</c:v>
                </c:pt>
                <c:pt idx="1">
                  <c:v>0.9 mm</c:v>
                </c:pt>
                <c:pt idx="2">
                  <c:v>1.0 mm</c:v>
                </c:pt>
                <c:pt idx="3">
                  <c:v>1.25 mm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8.8300000000000003E-2</c:v>
                </c:pt>
                <c:pt idx="1">
                  <c:v>0.14965999999999999</c:v>
                </c:pt>
                <c:pt idx="2">
                  <c:v>0.57310000000000005</c:v>
                </c:pt>
                <c:pt idx="3">
                  <c:v>0.43030000000000002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74B2-B94E-933A-3BFB8C374C33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3B3C43"/>
            </a:solidFill>
          </a:ln>
        </c:spPr>
        <c:txPr>
          <a:bodyPr/>
          <a:lstStyle/>
          <a:p>
            <a:pPr>
              <a:defRPr sz="850">
                <a:solidFill>
                  <a:srgbClr val="B3B5BC"/>
                </a:solidFill>
              </a:defRPr>
            </a:pPr>
            <a:endParaRPr lang="en-US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0.7"/>
          <c:min val="0"/>
        </c:scaling>
        <c:delete val="0"/>
        <c:axPos val="l"/>
        <c:majorGridlines>
          <c:spPr>
            <a:ln w="6350">
              <a:solidFill>
                <a:srgbClr val="3B3C43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7E8089"/>
                </a:solidFill>
              </a:defRPr>
            </a:pPr>
            <a:endParaRPr lang="en-US"/>
          </a:p>
        </c:txPr>
        <c:crossAx val="2118791784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00">
          <a:solidFill>
            <a:srgbClr val="B3B5BC"/>
          </a:solidFill>
          <a:latin typeface="Open Sans"/>
        </a:defRPr>
      </a:pPr>
      <a:endParaRPr lang="en-US"/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000" b="0">
                <a:solidFill>
                  <a:srgbClr val="FFFFFF"/>
                </a:solidFill>
                <a:latin typeface="Kanit"/>
              </a:rPr>
              <a:t>Average breaking point (N)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Average breaking point (N)</c:v>
                </c:pt>
              </c:strCache>
            </c:strRef>
          </c:tx>
          <c:invertIfNegative val="1"/>
          <c:dPt>
            <c:idx val="0"/>
            <c:invertIfNegative val="1"/>
            <c:bubble3D val="0"/>
            <c:spPr>
              <a:solidFill>
                <a:srgbClr val="4A4C54"/>
              </a:solidFill>
            </c:spPr>
            <c:extLst>
              <c:ext xmlns:c16="http://schemas.microsoft.com/office/drawing/2014/chart" uri="{C3380CC4-5D6E-409C-BE32-E72D297353CC}">
                <c16:uniqueId val="{00000001-A3BC-264A-9B1C-14FDEE4DA5BA}"/>
              </c:ext>
            </c:extLst>
          </c:dPt>
          <c:dPt>
            <c:idx val="1"/>
            <c:invertIfNegative val="1"/>
            <c:bubble3D val="0"/>
            <c:spPr>
              <a:solidFill>
                <a:srgbClr val="4A4C54"/>
              </a:solidFill>
            </c:spPr>
            <c:extLst>
              <c:ext xmlns:c16="http://schemas.microsoft.com/office/drawing/2014/chart" uri="{C3380CC4-5D6E-409C-BE32-E72D297353CC}">
                <c16:uniqueId val="{00000003-A3BC-264A-9B1C-14FDEE4DA5BA}"/>
              </c:ext>
            </c:extLst>
          </c:dPt>
          <c:dPt>
            <c:idx val="2"/>
            <c:invertIfNegative val="1"/>
            <c:bubble3D val="0"/>
            <c:spPr>
              <a:solidFill>
                <a:srgbClr val="4A4C54"/>
              </a:solidFill>
            </c:spPr>
            <c:extLst>
              <c:ext xmlns:c16="http://schemas.microsoft.com/office/drawing/2014/chart" uri="{C3380CC4-5D6E-409C-BE32-E72D297353CC}">
                <c16:uniqueId val="{00000005-A3BC-264A-9B1C-14FDEE4DA5BA}"/>
              </c:ext>
            </c:extLst>
          </c:dPt>
          <c:dPt>
            <c:idx val="3"/>
            <c:invertIfNegative val="1"/>
            <c:bubble3D val="0"/>
            <c:spPr>
              <a:solidFill>
                <a:srgbClr val="A6192E"/>
              </a:solidFill>
            </c:spPr>
            <c:extLst>
              <c:ext xmlns:c16="http://schemas.microsoft.com/office/drawing/2014/chart" uri="{C3380CC4-5D6E-409C-BE32-E72D297353CC}">
                <c16:uniqueId val="{00000007-A3BC-264A-9B1C-14FDEE4DA5BA}"/>
              </c:ext>
            </c:extLst>
          </c:dPt>
          <c:dPt>
            <c:idx val="4"/>
            <c:invertIfNegative val="1"/>
            <c:bubble3D val="0"/>
            <c:spPr>
              <a:solidFill>
                <a:srgbClr val="4A4C54"/>
              </a:solidFill>
            </c:spPr>
            <c:extLst>
              <c:ext xmlns:c16="http://schemas.microsoft.com/office/drawing/2014/chart" uri="{C3380CC4-5D6E-409C-BE32-E72D297353CC}">
                <c16:uniqueId val="{00000009-A3BC-264A-9B1C-14FDEE4DA5BA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>
                    <a:solidFill>
                      <a:srgbClr val="FFFFFF"/>
                    </a:solidFill>
                  </a:defRPr>
                </a:pPr>
                <a:endParaRPr lang="en-US"/>
              </a:p>
            </c:txPr>
            <c:dLblPos val="out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−1.0 mm</c:v>
                </c:pt>
                <c:pt idx="1">
                  <c:v>−0.5 mm</c:v>
                </c:pt>
                <c:pt idx="2">
                  <c:v>Original</c:v>
                </c:pt>
                <c:pt idx="3">
                  <c:v>+0.5 mm</c:v>
                </c:pt>
                <c:pt idx="4">
                  <c:v>+1.0 mm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455.1</c:v>
                </c:pt>
                <c:pt idx="1">
                  <c:v>462.26659999999998</c:v>
                </c:pt>
                <c:pt idx="2">
                  <c:v>467.83332999999999</c:v>
                </c:pt>
                <c:pt idx="3">
                  <c:v>493.73333000000002</c:v>
                </c:pt>
                <c:pt idx="4">
                  <c:v>465.4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A3BC-264A-9B1C-14FDEE4DA5BA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55"/>
        <c:axId val="2068027336"/>
        <c:axId val="2113994440"/>
      </c:barChart>
      <c:catAx>
        <c:axId val="2068027336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3B3C43"/>
            </a:solidFill>
          </a:ln>
        </c:spPr>
        <c:txPr>
          <a:bodyPr/>
          <a:lstStyle/>
          <a:p>
            <a:pPr>
              <a:defRPr sz="850">
                <a:solidFill>
                  <a:srgbClr val="B3B5BC"/>
                </a:solidFill>
              </a:defRPr>
            </a:pPr>
            <a:endParaRPr lang="en-US"/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>
          <c:orientation val="minMax"/>
          <c:max val="550"/>
          <c:min val="0"/>
        </c:scaling>
        <c:delete val="0"/>
        <c:axPos val="l"/>
        <c:majorGridlines>
          <c:spPr>
            <a:ln w="6350">
              <a:solidFill>
                <a:srgbClr val="3B3C43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7E8089"/>
                </a:solidFill>
              </a:defRPr>
            </a:pPr>
            <a:endParaRPr lang="en-US"/>
          </a:p>
        </c:txPr>
        <c:crossAx val="2068027336"/>
        <c:crosses val="autoZero"/>
        <c:crossBetween val="between"/>
        <c:majorUnit val="100"/>
      </c:valAx>
      <c:spPr>
        <a:noFill/>
        <a:ln>
          <a:noFill/>
        </a:ln>
      </c:spPr>
    </c:plotArea>
    <c:plotVisOnly val="1"/>
    <c:dispBlanksAs val="gap"/>
    <c:showDLblsOverMax val="1"/>
  </c:chart>
  <c:spPr>
    <a:noFill/>
    <a:ln>
      <a:noFill/>
    </a:ln>
  </c:spPr>
  <c:txPr>
    <a:bodyPr/>
    <a:lstStyle/>
    <a:p>
      <a:pPr>
        <a:defRPr sz="900">
          <a:solidFill>
            <a:srgbClr val="B3B5BC"/>
          </a:solidFill>
          <a:latin typeface="Open Sans"/>
        </a:defRPr>
      </a:pPr>
      <a:endParaRPr lang="en-US"/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000" b="0">
                <a:solidFill>
                  <a:srgbClr val="FFFFFF"/>
                </a:solidFill>
                <a:latin typeface="Kanit"/>
              </a:rPr>
              <a:t>Change in resistance (k</a:t>
            </a:r>
            <a:r>
              <a:rPr lang="el-GR" sz="1000" b="0">
                <a:solidFill>
                  <a:srgbClr val="FFFFFF"/>
                </a:solidFill>
                <a:latin typeface="Kanit"/>
              </a:rPr>
              <a:t>Ω)</a:t>
            </a:r>
          </a:p>
        </c:rich>
      </c:tx>
      <c:overlay val="0"/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Change in resistance (kΩ)</c:v>
                </c:pt>
              </c:strCache>
            </c:strRef>
          </c:tx>
          <c:spPr>
            <a:ln w="28575">
              <a:solidFill>
                <a:srgbClr val="A9ABB3"/>
              </a:solidFill>
            </a:ln>
          </c:spPr>
          <c:marker>
            <c:symbol val="circle"/>
            <c:size val="7"/>
            <c:spPr>
              <a:solidFill>
                <a:srgbClr val="A9ABB3"/>
              </a:solidFill>
              <a:ln>
                <a:solidFill>
                  <a:srgbClr val="A9ABB3"/>
                </a:solidFill>
              </a:ln>
            </c:spPr>
          </c:marker>
          <c:dPt>
            <c:idx val="4"/>
            <c:marker>
              <c:symbol val="circle"/>
              <c:size val="11"/>
              <c:spPr>
                <a:solidFill>
                  <a:srgbClr val="A6192E"/>
                </a:solidFill>
                <a:ln>
                  <a:solidFill>
                    <a:srgbClr val="FFFFFF"/>
                  </a:solidFill>
                </a:ln>
              </c:spPr>
            </c:marker>
            <c:bubble3D val="0"/>
            <c:extLst>
              <c:ext xmlns:c16="http://schemas.microsoft.com/office/drawing/2014/chart" uri="{C3380CC4-5D6E-409C-BE32-E72D297353CC}">
                <c16:uniqueId val="{00000000-20C8-B54B-848B-D98EAF9C6D17}"/>
              </c:ext>
            </c:extLst>
          </c:dPt>
          <c:dLbls>
            <c:numFmt formatCode="0.0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850" b="0">
                    <a:solidFill>
                      <a:srgbClr val="FFFFFF"/>
                    </a:solidFill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Sheet1!$A$2:$A$6</c:f>
              <c:strCache>
                <c:ptCount val="5"/>
                <c:pt idx="0">
                  <c:v>−1.0 mm</c:v>
                </c:pt>
                <c:pt idx="1">
                  <c:v>−0.5 mm</c:v>
                </c:pt>
                <c:pt idx="2">
                  <c:v>Original</c:v>
                </c:pt>
                <c:pt idx="3">
                  <c:v>+0.5 mm</c:v>
                </c:pt>
                <c:pt idx="4">
                  <c:v>+1.0 mm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0.96293300000000004</c:v>
                </c:pt>
                <c:pt idx="1">
                  <c:v>0.3049333333</c:v>
                </c:pt>
                <c:pt idx="2">
                  <c:v>0.57310000000000005</c:v>
                </c:pt>
                <c:pt idx="3">
                  <c:v>0.21310000000000001</c:v>
                </c:pt>
                <c:pt idx="4">
                  <c:v>1.0892333000000001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20C8-B54B-848B-D98EAF9C6D17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numFmt formatCode="General" sourceLinked="0"/>
        <c:majorTickMark val="none"/>
        <c:minorTickMark val="none"/>
        <c:tickLblPos val="nextTo"/>
        <c:spPr>
          <a:ln>
            <a:solidFill>
              <a:srgbClr val="3B3C43"/>
            </a:solidFill>
          </a:ln>
        </c:spPr>
        <c:txPr>
          <a:bodyPr/>
          <a:lstStyle/>
          <a:p>
            <a:pPr>
              <a:defRPr sz="850">
                <a:solidFill>
                  <a:srgbClr val="B3B5BC"/>
                </a:solidFill>
              </a:defRPr>
            </a:pPr>
            <a:endParaRPr lang="en-US"/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orientation val="minMax"/>
          <c:max val="1.3"/>
          <c:min val="0"/>
        </c:scaling>
        <c:delete val="0"/>
        <c:axPos val="l"/>
        <c:majorGridlines>
          <c:spPr>
            <a:ln w="6350">
              <a:solidFill>
                <a:srgbClr val="3B3C43"/>
              </a:solidFill>
            </a:ln>
          </c:spPr>
        </c:majorGridlines>
        <c:numFmt formatCode="General" sourceLinked="1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7E8089"/>
                </a:solidFill>
              </a:defRPr>
            </a:pPr>
            <a:endParaRPr lang="en-US"/>
          </a:p>
        </c:txPr>
        <c:crossAx val="2118791784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00">
          <a:solidFill>
            <a:srgbClr val="B3B5BC"/>
          </a:solidFill>
          <a:latin typeface="Open Sans"/>
        </a:defRPr>
      </a:pPr>
      <a:endParaRPr lang="en-US"/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Run 1</c:v>
                </c:pt>
              </c:strCache>
            </c:strRef>
          </c:tx>
          <c:spPr>
            <a:ln w="9525">
              <a:solidFill>
                <a:srgbClr val="6E717A"/>
              </a:solidFill>
            </a:ln>
          </c:spPr>
          <c:marker>
            <c:symbol val="none"/>
          </c:marker>
          <c:xVal>
            <c:numRef>
              <c:f>Sheet1!$A$2:$A$36</c:f>
              <c:numCache>
                <c:formatCode>General</c:formatCode>
                <c:ptCount val="35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</c:numCache>
            </c:numRef>
          </c:xVal>
          <c:yVal>
            <c:numRef>
              <c:f>Sheet1!$B$2:$B$36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10</c:v>
                </c:pt>
                <c:pt idx="4">
                  <c:v>30</c:v>
                </c:pt>
                <c:pt idx="5">
                  <c:v>60</c:v>
                </c:pt>
                <c:pt idx="6">
                  <c:v>90</c:v>
                </c:pt>
                <c:pt idx="7">
                  <c:v>130</c:v>
                </c:pt>
                <c:pt idx="8">
                  <c:v>170</c:v>
                </c:pt>
                <c:pt idx="9">
                  <c:v>205</c:v>
                </c:pt>
                <c:pt idx="10">
                  <c:v>240</c:v>
                </c:pt>
                <c:pt idx="11">
                  <c:v>280</c:v>
                </c:pt>
                <c:pt idx="12">
                  <c:v>310</c:v>
                </c:pt>
                <c:pt idx="13">
                  <c:v>360</c:v>
                </c:pt>
                <c:pt idx="14">
                  <c:v>420</c:v>
                </c:pt>
                <c:pt idx="15">
                  <c:v>470</c:v>
                </c:pt>
                <c:pt idx="16">
                  <c:v>490</c:v>
                </c:pt>
                <c:pt idx="17">
                  <c:v>495</c:v>
                </c:pt>
                <c:pt idx="18">
                  <c:v>510</c:v>
                </c:pt>
                <c:pt idx="19">
                  <c:v>490</c:v>
                </c:pt>
                <c:pt idx="20">
                  <c:v>470</c:v>
                </c:pt>
                <c:pt idx="21">
                  <c:v>410</c:v>
                </c:pt>
                <c:pt idx="22">
                  <c:v>350</c:v>
                </c:pt>
                <c:pt idx="23">
                  <c:v>310</c:v>
                </c:pt>
                <c:pt idx="24">
                  <c:v>210</c:v>
                </c:pt>
                <c:pt idx="25">
                  <c:v>160</c:v>
                </c:pt>
                <c:pt idx="26">
                  <c:v>110</c:v>
                </c:pt>
                <c:pt idx="27">
                  <c:v>75</c:v>
                </c:pt>
                <c:pt idx="28">
                  <c:v>50</c:v>
                </c:pt>
                <c:pt idx="29">
                  <c:v>30</c:v>
                </c:pt>
                <c:pt idx="30">
                  <c:v>10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FF4A-064C-820A-4CC33EF50F4F}"/>
            </c:ext>
          </c:extLst>
        </c:ser>
        <c:ser>
          <c:idx val="1"/>
          <c:order val="1"/>
          <c:tx>
            <c:strRef>
              <c:f>Sheet1!$B$38</c:f>
              <c:strCache>
                <c:ptCount val="1"/>
                <c:pt idx="0">
                  <c:v>Run 2</c:v>
                </c:pt>
              </c:strCache>
            </c:strRef>
          </c:tx>
          <c:spPr>
            <a:ln w="9525">
              <a:solidFill>
                <a:srgbClr val="6E717A"/>
              </a:solidFill>
            </a:ln>
          </c:spPr>
          <c:marker>
            <c:symbol val="none"/>
          </c:marker>
          <c:xVal>
            <c:numRef>
              <c:f>Sheet1!$A$39:$A$61</c:f>
              <c:numCache>
                <c:formatCode>General</c:formatCode>
                <c:ptCount val="23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</c:numCache>
            </c:numRef>
          </c:xVal>
          <c:yVal>
            <c:numRef>
              <c:f>Sheet1!$B$39:$B$61</c:f>
              <c:numCache>
                <c:formatCode>General</c:formatCode>
                <c:ptCount val="2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10</c:v>
                </c:pt>
                <c:pt idx="5">
                  <c:v>25</c:v>
                </c:pt>
                <c:pt idx="6">
                  <c:v>50</c:v>
                </c:pt>
                <c:pt idx="7">
                  <c:v>105</c:v>
                </c:pt>
                <c:pt idx="8">
                  <c:v>160</c:v>
                </c:pt>
                <c:pt idx="9">
                  <c:v>220</c:v>
                </c:pt>
                <c:pt idx="10">
                  <c:v>270</c:v>
                </c:pt>
                <c:pt idx="11">
                  <c:v>350</c:v>
                </c:pt>
                <c:pt idx="12">
                  <c:v>425</c:v>
                </c:pt>
                <c:pt idx="13">
                  <c:v>450</c:v>
                </c:pt>
                <c:pt idx="14">
                  <c:v>480</c:v>
                </c:pt>
                <c:pt idx="15">
                  <c:v>520</c:v>
                </c:pt>
                <c:pt idx="16">
                  <c:v>450</c:v>
                </c:pt>
                <c:pt idx="17">
                  <c:v>370</c:v>
                </c:pt>
                <c:pt idx="18">
                  <c:v>300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FF4A-064C-820A-4CC33EF50F4F}"/>
            </c:ext>
          </c:extLst>
        </c:ser>
        <c:ser>
          <c:idx val="2"/>
          <c:order val="2"/>
          <c:tx>
            <c:strRef>
              <c:f>Sheet1!$B$63</c:f>
              <c:strCache>
                <c:ptCount val="1"/>
                <c:pt idx="0">
                  <c:v>Run 3</c:v>
                </c:pt>
              </c:strCache>
            </c:strRef>
          </c:tx>
          <c:spPr>
            <a:ln w="9525">
              <a:solidFill>
                <a:srgbClr val="6E717A"/>
              </a:solidFill>
            </a:ln>
          </c:spPr>
          <c:marker>
            <c:symbol val="none"/>
          </c:marker>
          <c:xVal>
            <c:numRef>
              <c:f>Sheet1!$A$64:$A$90</c:f>
              <c:numCache>
                <c:formatCode>General</c:formatCode>
                <c:ptCount val="27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</c:numCache>
            </c:numRef>
          </c:xVal>
          <c:yVal>
            <c:numRef>
              <c:f>Sheet1!$B$64:$B$90</c:f>
              <c:numCache>
                <c:formatCode>General</c:formatCode>
                <c:ptCount val="2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15</c:v>
                </c:pt>
                <c:pt idx="6">
                  <c:v>35</c:v>
                </c:pt>
                <c:pt idx="7">
                  <c:v>65</c:v>
                </c:pt>
                <c:pt idx="8">
                  <c:v>110</c:v>
                </c:pt>
                <c:pt idx="9">
                  <c:v>160</c:v>
                </c:pt>
                <c:pt idx="10">
                  <c:v>220</c:v>
                </c:pt>
                <c:pt idx="11">
                  <c:v>290</c:v>
                </c:pt>
                <c:pt idx="12">
                  <c:v>385</c:v>
                </c:pt>
                <c:pt idx="13">
                  <c:v>435</c:v>
                </c:pt>
                <c:pt idx="14">
                  <c:v>475</c:v>
                </c:pt>
                <c:pt idx="15">
                  <c:v>485</c:v>
                </c:pt>
                <c:pt idx="16">
                  <c:v>410</c:v>
                </c:pt>
                <c:pt idx="17">
                  <c:v>350</c:v>
                </c:pt>
                <c:pt idx="18">
                  <c:v>325</c:v>
                </c:pt>
                <c:pt idx="19">
                  <c:v>320</c:v>
                </c:pt>
                <c:pt idx="20">
                  <c:v>300</c:v>
                </c:pt>
                <c:pt idx="21">
                  <c:v>260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FF4A-064C-820A-4CC33EF50F4F}"/>
            </c:ext>
          </c:extLst>
        </c:ser>
        <c:ser>
          <c:idx val="3"/>
          <c:order val="3"/>
          <c:tx>
            <c:strRef>
              <c:f>Sheet1!$B$92</c:f>
              <c:strCache>
                <c:ptCount val="1"/>
                <c:pt idx="0">
                  <c:v>Run 4</c:v>
                </c:pt>
              </c:strCache>
            </c:strRef>
          </c:tx>
          <c:spPr>
            <a:ln w="9525">
              <a:solidFill>
                <a:srgbClr val="6E717A"/>
              </a:solidFill>
            </a:ln>
          </c:spPr>
          <c:marker>
            <c:symbol val="none"/>
          </c:marker>
          <c:xVal>
            <c:numRef>
              <c:f>Sheet1!$A$93:$A$116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xVal>
          <c:yVal>
            <c:numRef>
              <c:f>Sheet1!$B$93:$B$116</c:f>
              <c:numCache>
                <c:formatCode>General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</c:v>
                </c:pt>
                <c:pt idx="5">
                  <c:v>25</c:v>
                </c:pt>
                <c:pt idx="6">
                  <c:v>60</c:v>
                </c:pt>
                <c:pt idx="7">
                  <c:v>110</c:v>
                </c:pt>
                <c:pt idx="8">
                  <c:v>170</c:v>
                </c:pt>
                <c:pt idx="9">
                  <c:v>225</c:v>
                </c:pt>
                <c:pt idx="10">
                  <c:v>310</c:v>
                </c:pt>
                <c:pt idx="11">
                  <c:v>410</c:v>
                </c:pt>
                <c:pt idx="12">
                  <c:v>440</c:v>
                </c:pt>
                <c:pt idx="13">
                  <c:v>235</c:v>
                </c:pt>
                <c:pt idx="14">
                  <c:v>235</c:v>
                </c:pt>
                <c:pt idx="15">
                  <c:v>225</c:v>
                </c:pt>
                <c:pt idx="16">
                  <c:v>200</c:v>
                </c:pt>
                <c:pt idx="17">
                  <c:v>110</c:v>
                </c:pt>
                <c:pt idx="18">
                  <c:v>55</c:v>
                </c:pt>
                <c:pt idx="19">
                  <c:v>30</c:v>
                </c:pt>
                <c:pt idx="20">
                  <c:v>15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FF4A-064C-820A-4CC33EF50F4F}"/>
            </c:ext>
          </c:extLst>
        </c:ser>
        <c:ser>
          <c:idx val="4"/>
          <c:order val="4"/>
          <c:tx>
            <c:strRef>
              <c:f>Sheet1!$B$118</c:f>
              <c:strCache>
                <c:ptCount val="1"/>
                <c:pt idx="0">
                  <c:v>Run 5</c:v>
                </c:pt>
              </c:strCache>
            </c:strRef>
          </c:tx>
          <c:spPr>
            <a:ln w="9525">
              <a:solidFill>
                <a:srgbClr val="6E717A"/>
              </a:solidFill>
            </a:ln>
          </c:spPr>
          <c:marker>
            <c:symbol val="none"/>
          </c:marker>
          <c:xVal>
            <c:numRef>
              <c:f>Sheet1!$A$119:$A$143</c:f>
              <c:numCache>
                <c:formatCode>General</c:formatCode>
                <c:ptCount val="25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</c:numCache>
            </c:numRef>
          </c:xVal>
          <c:yVal>
            <c:numRef>
              <c:f>Sheet1!$B$119:$B$143</c:f>
              <c:numCache>
                <c:formatCode>General</c:formatCode>
                <c:ptCount val="2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10</c:v>
                </c:pt>
                <c:pt idx="7">
                  <c:v>30</c:v>
                </c:pt>
                <c:pt idx="8">
                  <c:v>80</c:v>
                </c:pt>
                <c:pt idx="9">
                  <c:v>140</c:v>
                </c:pt>
                <c:pt idx="10">
                  <c:v>200</c:v>
                </c:pt>
                <c:pt idx="11">
                  <c:v>260</c:v>
                </c:pt>
                <c:pt idx="12">
                  <c:v>325</c:v>
                </c:pt>
                <c:pt idx="13">
                  <c:v>410</c:v>
                </c:pt>
                <c:pt idx="14">
                  <c:v>450</c:v>
                </c:pt>
                <c:pt idx="15">
                  <c:v>485</c:v>
                </c:pt>
                <c:pt idx="16">
                  <c:v>475</c:v>
                </c:pt>
                <c:pt idx="17">
                  <c:v>505</c:v>
                </c:pt>
                <c:pt idx="18">
                  <c:v>450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FF4A-064C-820A-4CC33EF50F4F}"/>
            </c:ext>
          </c:extLst>
        </c:ser>
        <c:ser>
          <c:idx val="5"/>
          <c:order val="5"/>
          <c:tx>
            <c:strRef>
              <c:f>Sheet1!$B$145</c:f>
              <c:strCache>
                <c:ptCount val="1"/>
                <c:pt idx="0">
                  <c:v>Run 6</c:v>
                </c:pt>
              </c:strCache>
            </c:strRef>
          </c:tx>
          <c:spPr>
            <a:ln w="9525">
              <a:solidFill>
                <a:srgbClr val="6E717A"/>
              </a:solidFill>
            </a:ln>
          </c:spPr>
          <c:marker>
            <c:symbol val="none"/>
          </c:marker>
          <c:xVal>
            <c:numRef>
              <c:f>Sheet1!$A$146:$A$168</c:f>
              <c:numCache>
                <c:formatCode>General</c:formatCode>
                <c:ptCount val="23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</c:numCache>
            </c:numRef>
          </c:xVal>
          <c:yVal>
            <c:numRef>
              <c:f>Sheet1!$B$146:$B$168</c:f>
              <c:numCache>
                <c:formatCode>General</c:formatCode>
                <c:ptCount val="2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</c:v>
                </c:pt>
                <c:pt idx="5">
                  <c:v>20</c:v>
                </c:pt>
                <c:pt idx="6">
                  <c:v>45</c:v>
                </c:pt>
                <c:pt idx="7">
                  <c:v>95</c:v>
                </c:pt>
                <c:pt idx="8">
                  <c:v>160</c:v>
                </c:pt>
                <c:pt idx="9">
                  <c:v>230</c:v>
                </c:pt>
                <c:pt idx="10">
                  <c:v>320</c:v>
                </c:pt>
                <c:pt idx="11">
                  <c:v>420</c:v>
                </c:pt>
                <c:pt idx="12">
                  <c:v>435</c:v>
                </c:pt>
                <c:pt idx="13">
                  <c:v>485</c:v>
                </c:pt>
                <c:pt idx="14">
                  <c:v>440</c:v>
                </c:pt>
                <c:pt idx="15">
                  <c:v>410</c:v>
                </c:pt>
                <c:pt idx="16">
                  <c:v>445</c:v>
                </c:pt>
                <c:pt idx="17">
                  <c:v>420</c:v>
                </c:pt>
                <c:pt idx="18">
                  <c:v>370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5-FF4A-064C-820A-4CC33EF50F4F}"/>
            </c:ext>
          </c:extLst>
        </c:ser>
        <c:ser>
          <c:idx val="6"/>
          <c:order val="6"/>
          <c:tx>
            <c:strRef>
              <c:f>Sheet1!$B$170</c:f>
              <c:strCache>
                <c:ptCount val="1"/>
                <c:pt idx="0">
                  <c:v>Run 7</c:v>
                </c:pt>
              </c:strCache>
            </c:strRef>
          </c:tx>
          <c:spPr>
            <a:ln w="9525">
              <a:solidFill>
                <a:srgbClr val="6E717A"/>
              </a:solidFill>
            </a:ln>
          </c:spPr>
          <c:marker>
            <c:symbol val="none"/>
          </c:marker>
          <c:xVal>
            <c:numRef>
              <c:f>Sheet1!$A$171:$A$193</c:f>
              <c:numCache>
                <c:formatCode>General</c:formatCode>
                <c:ptCount val="23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</c:numCache>
            </c:numRef>
          </c:xVal>
          <c:yVal>
            <c:numRef>
              <c:f>Sheet1!$B$171:$B$193</c:f>
              <c:numCache>
                <c:formatCode>General</c:formatCode>
                <c:ptCount val="23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10</c:v>
                </c:pt>
                <c:pt idx="6">
                  <c:v>35</c:v>
                </c:pt>
                <c:pt idx="7">
                  <c:v>90</c:v>
                </c:pt>
                <c:pt idx="8">
                  <c:v>170</c:v>
                </c:pt>
                <c:pt idx="9">
                  <c:v>225</c:v>
                </c:pt>
                <c:pt idx="10">
                  <c:v>310</c:v>
                </c:pt>
                <c:pt idx="11">
                  <c:v>430</c:v>
                </c:pt>
                <c:pt idx="12">
                  <c:v>455</c:v>
                </c:pt>
                <c:pt idx="13">
                  <c:v>490</c:v>
                </c:pt>
                <c:pt idx="14">
                  <c:v>220</c:v>
                </c:pt>
                <c:pt idx="15">
                  <c:v>220</c:v>
                </c:pt>
                <c:pt idx="16">
                  <c:v>210</c:v>
                </c:pt>
                <c:pt idx="17">
                  <c:v>160</c:v>
                </c:pt>
                <c:pt idx="18">
                  <c:v>90</c:v>
                </c:pt>
                <c:pt idx="19">
                  <c:v>40</c:v>
                </c:pt>
                <c:pt idx="20">
                  <c:v>10</c:v>
                </c:pt>
                <c:pt idx="21">
                  <c:v>0</c:v>
                </c:pt>
                <c:pt idx="22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6-FF4A-064C-820A-4CC33EF50F4F}"/>
            </c:ext>
          </c:extLst>
        </c:ser>
        <c:ser>
          <c:idx val="7"/>
          <c:order val="7"/>
          <c:tx>
            <c:strRef>
              <c:f>Sheet1!$B$195</c:f>
              <c:strCache>
                <c:ptCount val="1"/>
                <c:pt idx="0">
                  <c:v>Run 8</c:v>
                </c:pt>
              </c:strCache>
            </c:strRef>
          </c:tx>
          <c:spPr>
            <a:ln w="9525">
              <a:solidFill>
                <a:srgbClr val="6E717A"/>
              </a:solidFill>
            </a:ln>
          </c:spPr>
          <c:marker>
            <c:symbol val="none"/>
          </c:marker>
          <c:xVal>
            <c:numRef>
              <c:f>Sheet1!$A$196:$A$220</c:f>
              <c:numCache>
                <c:formatCode>General</c:formatCode>
                <c:ptCount val="25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</c:numCache>
            </c:numRef>
          </c:xVal>
          <c:yVal>
            <c:numRef>
              <c:f>Sheet1!$B$196:$B$220</c:f>
              <c:numCache>
                <c:formatCode>General</c:formatCode>
                <c:ptCount val="2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</c:v>
                </c:pt>
                <c:pt idx="5">
                  <c:v>20</c:v>
                </c:pt>
                <c:pt idx="6">
                  <c:v>45</c:v>
                </c:pt>
                <c:pt idx="7">
                  <c:v>90</c:v>
                </c:pt>
                <c:pt idx="8">
                  <c:v>150</c:v>
                </c:pt>
                <c:pt idx="9">
                  <c:v>200</c:v>
                </c:pt>
                <c:pt idx="10">
                  <c:v>270</c:v>
                </c:pt>
                <c:pt idx="11">
                  <c:v>380</c:v>
                </c:pt>
                <c:pt idx="12">
                  <c:v>420</c:v>
                </c:pt>
                <c:pt idx="13">
                  <c:v>435</c:v>
                </c:pt>
                <c:pt idx="14">
                  <c:v>455</c:v>
                </c:pt>
                <c:pt idx="15">
                  <c:v>465</c:v>
                </c:pt>
                <c:pt idx="16">
                  <c:v>260</c:v>
                </c:pt>
                <c:pt idx="17">
                  <c:v>230</c:v>
                </c:pt>
                <c:pt idx="18">
                  <c:v>170</c:v>
                </c:pt>
                <c:pt idx="19">
                  <c:v>110</c:v>
                </c:pt>
                <c:pt idx="20">
                  <c:v>65</c:v>
                </c:pt>
                <c:pt idx="21">
                  <c:v>35</c:v>
                </c:pt>
                <c:pt idx="22">
                  <c:v>15</c:v>
                </c:pt>
                <c:pt idx="23">
                  <c:v>0</c:v>
                </c:pt>
                <c:pt idx="24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7-FF4A-064C-820A-4CC33EF50F4F}"/>
            </c:ext>
          </c:extLst>
        </c:ser>
        <c:ser>
          <c:idx val="8"/>
          <c:order val="8"/>
          <c:tx>
            <c:strRef>
              <c:f>Sheet1!$B$222</c:f>
              <c:strCache>
                <c:ptCount val="1"/>
                <c:pt idx="0">
                  <c:v>Run 9</c:v>
                </c:pt>
              </c:strCache>
            </c:strRef>
          </c:tx>
          <c:spPr>
            <a:ln w="9525">
              <a:solidFill>
                <a:srgbClr val="6E717A"/>
              </a:solidFill>
            </a:ln>
          </c:spPr>
          <c:marker>
            <c:symbol val="none"/>
          </c:marker>
          <c:xVal>
            <c:numRef>
              <c:f>Sheet1!$A$223:$A$246</c:f>
              <c:numCache>
                <c:formatCode>General</c:formatCode>
                <c:ptCount val="24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</c:numCache>
            </c:numRef>
          </c:xVal>
          <c:yVal>
            <c:numRef>
              <c:f>Sheet1!$B$223:$B$246</c:f>
              <c:numCache>
                <c:formatCode>General</c:formatCode>
                <c:ptCount val="2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10</c:v>
                </c:pt>
                <c:pt idx="6">
                  <c:v>35</c:v>
                </c:pt>
                <c:pt idx="7">
                  <c:v>70</c:v>
                </c:pt>
                <c:pt idx="8">
                  <c:v>135</c:v>
                </c:pt>
                <c:pt idx="9">
                  <c:v>200</c:v>
                </c:pt>
                <c:pt idx="10">
                  <c:v>280</c:v>
                </c:pt>
                <c:pt idx="11">
                  <c:v>380</c:v>
                </c:pt>
                <c:pt idx="12">
                  <c:v>450</c:v>
                </c:pt>
                <c:pt idx="13">
                  <c:v>510</c:v>
                </c:pt>
                <c:pt idx="14">
                  <c:v>470</c:v>
                </c:pt>
                <c:pt idx="15">
                  <c:v>435</c:v>
                </c:pt>
                <c:pt idx="16">
                  <c:v>175</c:v>
                </c:pt>
                <c:pt idx="17">
                  <c:v>180</c:v>
                </c:pt>
                <c:pt idx="18">
                  <c:v>140</c:v>
                </c:pt>
                <c:pt idx="19">
                  <c:v>75</c:v>
                </c:pt>
                <c:pt idx="20">
                  <c:v>35</c:v>
                </c:pt>
                <c:pt idx="21">
                  <c:v>10</c:v>
                </c:pt>
                <c:pt idx="22">
                  <c:v>0</c:v>
                </c:pt>
                <c:pt idx="23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8-FF4A-064C-820A-4CC33EF50F4F}"/>
            </c:ext>
          </c:extLst>
        </c:ser>
        <c:ser>
          <c:idx val="9"/>
          <c:order val="9"/>
          <c:tx>
            <c:strRef>
              <c:f>Sheet1!$B$248</c:f>
              <c:strCache>
                <c:ptCount val="1"/>
                <c:pt idx="0">
                  <c:v>Run 10</c:v>
                </c:pt>
              </c:strCache>
            </c:strRef>
          </c:tx>
          <c:spPr>
            <a:ln w="9525">
              <a:solidFill>
                <a:srgbClr val="6E717A"/>
              </a:solidFill>
            </a:ln>
          </c:spPr>
          <c:marker>
            <c:symbol val="none"/>
          </c:marker>
          <c:xVal>
            <c:numRef>
              <c:f>Sheet1!$A$249:$A$275</c:f>
              <c:numCache>
                <c:formatCode>General</c:formatCode>
                <c:ptCount val="27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</c:numCache>
            </c:numRef>
          </c:xVal>
          <c:yVal>
            <c:numRef>
              <c:f>Sheet1!$B$249:$B$275</c:f>
              <c:numCache>
                <c:formatCode>General</c:formatCode>
                <c:ptCount val="27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5</c:v>
                </c:pt>
                <c:pt idx="5">
                  <c:v>30</c:v>
                </c:pt>
                <c:pt idx="6">
                  <c:v>70</c:v>
                </c:pt>
                <c:pt idx="7">
                  <c:v>120</c:v>
                </c:pt>
                <c:pt idx="8">
                  <c:v>170</c:v>
                </c:pt>
                <c:pt idx="9">
                  <c:v>220</c:v>
                </c:pt>
                <c:pt idx="10">
                  <c:v>300</c:v>
                </c:pt>
                <c:pt idx="11">
                  <c:v>380</c:v>
                </c:pt>
                <c:pt idx="12">
                  <c:v>435</c:v>
                </c:pt>
                <c:pt idx="13">
                  <c:v>445</c:v>
                </c:pt>
                <c:pt idx="14">
                  <c:v>465</c:v>
                </c:pt>
                <c:pt idx="15">
                  <c:v>430</c:v>
                </c:pt>
                <c:pt idx="16">
                  <c:v>260</c:v>
                </c:pt>
                <c:pt idx="17">
                  <c:v>250</c:v>
                </c:pt>
                <c:pt idx="18">
                  <c:v>245</c:v>
                </c:pt>
                <c:pt idx="19">
                  <c:v>220</c:v>
                </c:pt>
                <c:pt idx="20">
                  <c:v>140</c:v>
                </c:pt>
                <c:pt idx="21">
                  <c:v>90</c:v>
                </c:pt>
                <c:pt idx="22">
                  <c:v>50</c:v>
                </c:pt>
                <c:pt idx="23">
                  <c:v>20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9-FF4A-064C-820A-4CC33EF50F4F}"/>
            </c:ext>
          </c:extLst>
        </c:ser>
        <c:ser>
          <c:idx val="10"/>
          <c:order val="10"/>
          <c:tx>
            <c:strRef>
              <c:f>Sheet1!$B$277</c:f>
              <c:strCache>
                <c:ptCount val="1"/>
                <c:pt idx="0">
                  <c:v>Average</c:v>
                </c:pt>
              </c:strCache>
            </c:strRef>
          </c:tx>
          <c:spPr>
            <a:ln w="34925">
              <a:solidFill>
                <a:srgbClr val="E0435A"/>
              </a:solidFill>
            </a:ln>
          </c:spPr>
          <c:marker>
            <c:symbol val="none"/>
          </c:marker>
          <c:xVal>
            <c:numRef>
              <c:f>Sheet1!$A$278:$A$312</c:f>
              <c:numCache>
                <c:formatCode>General</c:formatCode>
                <c:ptCount val="35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  <c:pt idx="29">
                  <c:v>29</c:v>
                </c:pt>
                <c:pt idx="30">
                  <c:v>30</c:v>
                </c:pt>
                <c:pt idx="31">
                  <c:v>31</c:v>
                </c:pt>
                <c:pt idx="32">
                  <c:v>32</c:v>
                </c:pt>
                <c:pt idx="33">
                  <c:v>33</c:v>
                </c:pt>
                <c:pt idx="34">
                  <c:v>34</c:v>
                </c:pt>
              </c:numCache>
            </c:numRef>
          </c:xVal>
          <c:yVal>
            <c:numRef>
              <c:f>Sheet1!$B$278:$B$312</c:f>
              <c:numCache>
                <c:formatCode>General</c:formatCode>
                <c:ptCount val="3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1</c:v>
                </c:pt>
                <c:pt idx="4">
                  <c:v>6</c:v>
                </c:pt>
                <c:pt idx="5">
                  <c:v>21.5</c:v>
                </c:pt>
                <c:pt idx="6">
                  <c:v>47.5</c:v>
                </c:pt>
                <c:pt idx="7">
                  <c:v>90.5</c:v>
                </c:pt>
                <c:pt idx="8">
                  <c:v>147.5</c:v>
                </c:pt>
                <c:pt idx="9">
                  <c:v>202.5</c:v>
                </c:pt>
                <c:pt idx="10">
                  <c:v>272</c:v>
                </c:pt>
                <c:pt idx="11">
                  <c:v>358</c:v>
                </c:pt>
                <c:pt idx="12">
                  <c:v>408</c:v>
                </c:pt>
                <c:pt idx="13">
                  <c:v>425.5</c:v>
                </c:pt>
                <c:pt idx="14">
                  <c:v>411</c:v>
                </c:pt>
                <c:pt idx="15">
                  <c:v>414.5</c:v>
                </c:pt>
                <c:pt idx="16">
                  <c:v>337.5</c:v>
                </c:pt>
                <c:pt idx="17">
                  <c:v>307</c:v>
                </c:pt>
                <c:pt idx="18">
                  <c:v>265.5</c:v>
                </c:pt>
                <c:pt idx="19">
                  <c:v>128.5</c:v>
                </c:pt>
                <c:pt idx="20">
                  <c:v>103.5</c:v>
                </c:pt>
                <c:pt idx="21">
                  <c:v>80.5</c:v>
                </c:pt>
                <c:pt idx="22">
                  <c:v>41.5</c:v>
                </c:pt>
                <c:pt idx="23">
                  <c:v>47.142857139999997</c:v>
                </c:pt>
                <c:pt idx="24">
                  <c:v>42</c:v>
                </c:pt>
                <c:pt idx="25">
                  <c:v>53.333333330000002</c:v>
                </c:pt>
                <c:pt idx="26">
                  <c:v>36.666666669999998</c:v>
                </c:pt>
                <c:pt idx="27">
                  <c:v>75</c:v>
                </c:pt>
                <c:pt idx="28">
                  <c:v>50</c:v>
                </c:pt>
                <c:pt idx="29">
                  <c:v>30</c:v>
                </c:pt>
                <c:pt idx="30">
                  <c:v>10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FF4A-064C-820A-4CC33EF50F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128940872"/>
        <c:axId val="2129643912"/>
      </c:scatterChart>
      <c:valAx>
        <c:axId val="2128940872"/>
        <c:scaling>
          <c:orientation val="minMax"/>
          <c:max val="35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en-US" sz="800" b="0">
                    <a:solidFill>
                      <a:srgbClr val="7E8089"/>
                    </a:solidFill>
                    <a:latin typeface="Open Sans"/>
                  </a:rPr>
                  <a:t>Time (s)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>
            <a:solidFill>
              <a:srgbClr val="3B3C43"/>
            </a:solidFill>
          </a:ln>
        </c:spPr>
        <c:txPr>
          <a:bodyPr/>
          <a:lstStyle/>
          <a:p>
            <a:pPr>
              <a:defRPr sz="850">
                <a:solidFill>
                  <a:srgbClr val="B3B5BC"/>
                </a:solidFill>
              </a:defRPr>
            </a:pPr>
            <a:endParaRPr lang="en-US"/>
          </a:p>
        </c:txPr>
        <c:crossAx val="2129643912"/>
        <c:crosses val="autoZero"/>
        <c:crossBetween val="midCat"/>
        <c:majorUnit val="5"/>
      </c:valAx>
      <c:valAx>
        <c:axId val="2129643912"/>
        <c:scaling>
          <c:orientation val="minMax"/>
          <c:max val="550"/>
          <c:min val="0"/>
        </c:scaling>
        <c:delete val="0"/>
        <c:axPos val="l"/>
        <c:majorGridlines>
          <c:spPr>
            <a:ln w="6350">
              <a:solidFill>
                <a:srgbClr val="3B3C43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800" b="0">
                    <a:solidFill>
                      <a:srgbClr val="7E8089"/>
                    </a:solidFill>
                    <a:latin typeface="Open Sans"/>
                  </a:rPr>
                  <a:t>Force (N)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7E8089"/>
                </a:solidFill>
              </a:defRPr>
            </a:pPr>
            <a:endParaRPr lang="en-US"/>
          </a:p>
        </c:txPr>
        <c:crossAx val="2128940872"/>
        <c:crosses val="autoZero"/>
        <c:crossBetween val="midCat"/>
        <c:majorUnit val="100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00">
          <a:solidFill>
            <a:srgbClr val="B3B5BC"/>
          </a:solidFill>
          <a:latin typeface="Open Sans"/>
        </a:defRPr>
      </a:pPr>
      <a:endParaRPr lang="en-US"/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Run 1</c:v>
                </c:pt>
              </c:strCache>
            </c:strRef>
          </c:tx>
          <c:spPr>
            <a:ln w="9525">
              <a:solidFill>
                <a:srgbClr val="6E717A"/>
              </a:solidFill>
            </a:ln>
          </c:spPr>
          <c:marker>
            <c:symbol val="none"/>
          </c:marker>
          <c:xVal>
            <c:numRef>
              <c:f>Sheet1!$A$2:$A$11</c:f>
              <c:numCache>
                <c:formatCode>General</c:formatCode>
                <c:ptCount val="10"/>
                <c:pt idx="0">
                  <c:v>0</c:v>
                </c:pt>
                <c:pt idx="1">
                  <c:v>0.37</c:v>
                </c:pt>
                <c:pt idx="2">
                  <c:v>1.1499999999999999</c:v>
                </c:pt>
                <c:pt idx="3">
                  <c:v>1.94</c:v>
                </c:pt>
                <c:pt idx="4">
                  <c:v>2.71</c:v>
                </c:pt>
                <c:pt idx="5">
                  <c:v>3.53</c:v>
                </c:pt>
                <c:pt idx="6">
                  <c:v>4.18</c:v>
                </c:pt>
                <c:pt idx="7">
                  <c:v>4.71</c:v>
                </c:pt>
                <c:pt idx="8">
                  <c:v>5.31</c:v>
                </c:pt>
                <c:pt idx="9">
                  <c:v>6.06</c:v>
                </c:pt>
              </c:numCache>
            </c:numRef>
          </c:xVal>
          <c:yVal>
            <c:numRef>
              <c:f>Sheet1!$B$2:$B$11</c:f>
              <c:numCache>
                <c:formatCode>General</c:formatCode>
                <c:ptCount val="10"/>
                <c:pt idx="0">
                  <c:v>0.48920000000000002</c:v>
                </c:pt>
                <c:pt idx="1">
                  <c:v>0.5464</c:v>
                </c:pt>
                <c:pt idx="2">
                  <c:v>0.5474</c:v>
                </c:pt>
                <c:pt idx="3">
                  <c:v>0.54810000000000003</c:v>
                </c:pt>
                <c:pt idx="4">
                  <c:v>0.55359999999999998</c:v>
                </c:pt>
                <c:pt idx="5">
                  <c:v>0.60029999999999994</c:v>
                </c:pt>
                <c:pt idx="6">
                  <c:v>0.61699999999999999</c:v>
                </c:pt>
                <c:pt idx="7">
                  <c:v>0.55959999999999999</c:v>
                </c:pt>
                <c:pt idx="8">
                  <c:v>0.55959999999999999</c:v>
                </c:pt>
                <c:pt idx="9">
                  <c:v>0.60319999999999996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DDE5-694D-A043-C44FC9432CE0}"/>
            </c:ext>
          </c:extLst>
        </c:ser>
        <c:ser>
          <c:idx val="1"/>
          <c:order val="1"/>
          <c:tx>
            <c:strRef>
              <c:f>Sheet1!$B$13</c:f>
              <c:strCache>
                <c:ptCount val="1"/>
                <c:pt idx="0">
                  <c:v>Run 2</c:v>
                </c:pt>
              </c:strCache>
            </c:strRef>
          </c:tx>
          <c:spPr>
            <a:ln w="9525">
              <a:solidFill>
                <a:srgbClr val="6E717A"/>
              </a:solidFill>
            </a:ln>
          </c:spPr>
          <c:marker>
            <c:symbol val="none"/>
          </c:marker>
          <c:xVal>
            <c:numRef>
              <c:f>Sheet1!$A$14:$A$23</c:f>
              <c:numCache>
                <c:formatCode>General</c:formatCode>
                <c:ptCount val="10"/>
                <c:pt idx="0">
                  <c:v>0</c:v>
                </c:pt>
                <c:pt idx="1">
                  <c:v>0.54</c:v>
                </c:pt>
                <c:pt idx="2">
                  <c:v>1.17</c:v>
                </c:pt>
                <c:pt idx="3">
                  <c:v>1.93</c:v>
                </c:pt>
                <c:pt idx="4">
                  <c:v>2.67</c:v>
                </c:pt>
                <c:pt idx="5">
                  <c:v>3.41</c:v>
                </c:pt>
                <c:pt idx="6">
                  <c:v>4</c:v>
                </c:pt>
                <c:pt idx="7">
                  <c:v>4.6399999999999997</c:v>
                </c:pt>
                <c:pt idx="8">
                  <c:v>5.27</c:v>
                </c:pt>
                <c:pt idx="9">
                  <c:v>6.56</c:v>
                </c:pt>
              </c:numCache>
            </c:numRef>
          </c:xVal>
          <c:yVal>
            <c:numRef>
              <c:f>Sheet1!$B$14:$B$23</c:f>
              <c:numCache>
                <c:formatCode>General</c:formatCode>
                <c:ptCount val="10"/>
                <c:pt idx="0">
                  <c:v>0.50070000000000003</c:v>
                </c:pt>
                <c:pt idx="1">
                  <c:v>0.64900000000000002</c:v>
                </c:pt>
                <c:pt idx="2">
                  <c:v>0.57689999999999997</c:v>
                </c:pt>
                <c:pt idx="3">
                  <c:v>0.55810000000000004</c:v>
                </c:pt>
                <c:pt idx="4">
                  <c:v>0.54710000000000003</c:v>
                </c:pt>
                <c:pt idx="5">
                  <c:v>0.57240000000000002</c:v>
                </c:pt>
                <c:pt idx="6">
                  <c:v>0.72819999999999996</c:v>
                </c:pt>
                <c:pt idx="7">
                  <c:v>0.78120000000000001</c:v>
                </c:pt>
                <c:pt idx="8">
                  <c:v>0.72619999999999996</c:v>
                </c:pt>
                <c:pt idx="9">
                  <c:v>0.8387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DDE5-694D-A043-C44FC9432CE0}"/>
            </c:ext>
          </c:extLst>
        </c:ser>
        <c:ser>
          <c:idx val="2"/>
          <c:order val="2"/>
          <c:tx>
            <c:strRef>
              <c:f>Sheet1!$B$25</c:f>
              <c:strCache>
                <c:ptCount val="1"/>
                <c:pt idx="0">
                  <c:v>Run 3</c:v>
                </c:pt>
              </c:strCache>
            </c:strRef>
          </c:tx>
          <c:spPr>
            <a:ln w="9525">
              <a:solidFill>
                <a:srgbClr val="6E717A"/>
              </a:solidFill>
            </a:ln>
          </c:spPr>
          <c:marker>
            <c:symbol val="none"/>
          </c:marker>
          <c:xVal>
            <c:numRef>
              <c:f>Sheet1!$A$26:$A$35</c:f>
              <c:numCache>
                <c:formatCode>General</c:formatCode>
                <c:ptCount val="10"/>
                <c:pt idx="0">
                  <c:v>0</c:v>
                </c:pt>
                <c:pt idx="1">
                  <c:v>0.82</c:v>
                </c:pt>
                <c:pt idx="2">
                  <c:v>1.67</c:v>
                </c:pt>
                <c:pt idx="3">
                  <c:v>2.46</c:v>
                </c:pt>
                <c:pt idx="4">
                  <c:v>3.26</c:v>
                </c:pt>
                <c:pt idx="5">
                  <c:v>4.08</c:v>
                </c:pt>
                <c:pt idx="6">
                  <c:v>4.9400000000000004</c:v>
                </c:pt>
                <c:pt idx="7">
                  <c:v>5.7</c:v>
                </c:pt>
                <c:pt idx="8">
                  <c:v>6.92</c:v>
                </c:pt>
                <c:pt idx="9">
                  <c:v>8.3000000000000007</c:v>
                </c:pt>
              </c:numCache>
            </c:numRef>
          </c:xVal>
          <c:yVal>
            <c:numRef>
              <c:f>Sheet1!$B$26:$B$35</c:f>
              <c:numCache>
                <c:formatCode>General</c:formatCode>
                <c:ptCount val="10"/>
                <c:pt idx="0">
                  <c:v>0.83089999999999997</c:v>
                </c:pt>
                <c:pt idx="1">
                  <c:v>1.0621</c:v>
                </c:pt>
                <c:pt idx="2">
                  <c:v>1.0984</c:v>
                </c:pt>
                <c:pt idx="3">
                  <c:v>1.0098</c:v>
                </c:pt>
                <c:pt idx="4">
                  <c:v>1.0128999999999999</c:v>
                </c:pt>
                <c:pt idx="5">
                  <c:v>1.0114000000000001</c:v>
                </c:pt>
                <c:pt idx="6">
                  <c:v>1.0388999999999999</c:v>
                </c:pt>
                <c:pt idx="7">
                  <c:v>1.1508</c:v>
                </c:pt>
                <c:pt idx="8">
                  <c:v>1.0916999999999999</c:v>
                </c:pt>
                <c:pt idx="9">
                  <c:v>1.1508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DDE5-694D-A043-C44FC9432CE0}"/>
            </c:ext>
          </c:extLst>
        </c:ser>
        <c:ser>
          <c:idx val="3"/>
          <c:order val="3"/>
          <c:tx>
            <c:strRef>
              <c:f>Sheet1!$B$37</c:f>
              <c:strCache>
                <c:ptCount val="1"/>
                <c:pt idx="0">
                  <c:v>Run 4</c:v>
                </c:pt>
              </c:strCache>
            </c:strRef>
          </c:tx>
          <c:spPr>
            <a:ln w="9525">
              <a:solidFill>
                <a:srgbClr val="6E717A"/>
              </a:solidFill>
            </a:ln>
          </c:spPr>
          <c:marker>
            <c:symbol val="none"/>
          </c:marker>
          <c:xVal>
            <c:numRef>
              <c:f>Sheet1!$A$38:$A$47</c:f>
              <c:numCache>
                <c:formatCode>General</c:formatCode>
                <c:ptCount val="10"/>
                <c:pt idx="0">
                  <c:v>0</c:v>
                </c:pt>
                <c:pt idx="1">
                  <c:v>0.77</c:v>
                </c:pt>
                <c:pt idx="2">
                  <c:v>1.44</c:v>
                </c:pt>
                <c:pt idx="3">
                  <c:v>1.9</c:v>
                </c:pt>
                <c:pt idx="4">
                  <c:v>2.4</c:v>
                </c:pt>
                <c:pt idx="5">
                  <c:v>3.03</c:v>
                </c:pt>
                <c:pt idx="6">
                  <c:v>3.61</c:v>
                </c:pt>
                <c:pt idx="7">
                  <c:v>4.22</c:v>
                </c:pt>
                <c:pt idx="8">
                  <c:v>4.93</c:v>
                </c:pt>
                <c:pt idx="9">
                  <c:v>5.38</c:v>
                </c:pt>
              </c:numCache>
            </c:numRef>
          </c:xVal>
          <c:yVal>
            <c:numRef>
              <c:f>Sheet1!$B$38:$B$47</c:f>
              <c:numCache>
                <c:formatCode>General</c:formatCode>
                <c:ptCount val="10"/>
                <c:pt idx="0">
                  <c:v>0.84140000000000004</c:v>
                </c:pt>
                <c:pt idx="1">
                  <c:v>1.3866000000000001</c:v>
                </c:pt>
                <c:pt idx="2">
                  <c:v>1.0905</c:v>
                </c:pt>
                <c:pt idx="3">
                  <c:v>0.97250000000000003</c:v>
                </c:pt>
                <c:pt idx="4">
                  <c:v>0.88900000000000001</c:v>
                </c:pt>
                <c:pt idx="5">
                  <c:v>0.87109999999999999</c:v>
                </c:pt>
                <c:pt idx="6">
                  <c:v>0.87929999999999997</c:v>
                </c:pt>
                <c:pt idx="7">
                  <c:v>0.95850000000000002</c:v>
                </c:pt>
                <c:pt idx="8">
                  <c:v>0.95409999999999995</c:v>
                </c:pt>
                <c:pt idx="9">
                  <c:v>0.88560000000000005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DDE5-694D-A043-C44FC9432CE0}"/>
            </c:ext>
          </c:extLst>
        </c:ser>
        <c:ser>
          <c:idx val="4"/>
          <c:order val="4"/>
          <c:tx>
            <c:strRef>
              <c:f>Sheet1!$B$49</c:f>
              <c:strCache>
                <c:ptCount val="1"/>
                <c:pt idx="0">
                  <c:v>Run 5</c:v>
                </c:pt>
              </c:strCache>
            </c:strRef>
          </c:tx>
          <c:spPr>
            <a:ln w="9525">
              <a:solidFill>
                <a:srgbClr val="6E717A"/>
              </a:solidFill>
            </a:ln>
          </c:spPr>
          <c:marker>
            <c:symbol val="none"/>
          </c:marker>
          <c:xVal>
            <c:numRef>
              <c:f>Sheet1!$A$50:$A$59</c:f>
              <c:numCache>
                <c:formatCode>General</c:formatCode>
                <c:ptCount val="10"/>
                <c:pt idx="0">
                  <c:v>0</c:v>
                </c:pt>
                <c:pt idx="1">
                  <c:v>0.83</c:v>
                </c:pt>
                <c:pt idx="2">
                  <c:v>1.6</c:v>
                </c:pt>
                <c:pt idx="3">
                  <c:v>2.59</c:v>
                </c:pt>
                <c:pt idx="4">
                  <c:v>3.35</c:v>
                </c:pt>
                <c:pt idx="5">
                  <c:v>4.1399999999999997</c:v>
                </c:pt>
                <c:pt idx="6">
                  <c:v>4.91</c:v>
                </c:pt>
                <c:pt idx="7">
                  <c:v>5.71</c:v>
                </c:pt>
                <c:pt idx="8">
                  <c:v>6.31</c:v>
                </c:pt>
                <c:pt idx="9">
                  <c:v>7.51</c:v>
                </c:pt>
              </c:numCache>
            </c:numRef>
          </c:xVal>
          <c:yVal>
            <c:numRef>
              <c:f>Sheet1!$B$50:$B$59</c:f>
              <c:numCache>
                <c:formatCode>General</c:formatCode>
                <c:ptCount val="10"/>
                <c:pt idx="0">
                  <c:v>0.51690000000000003</c:v>
                </c:pt>
                <c:pt idx="1">
                  <c:v>0.51749999999999996</c:v>
                </c:pt>
                <c:pt idx="2">
                  <c:v>0.68989999999999996</c:v>
                </c:pt>
                <c:pt idx="3">
                  <c:v>0.62609999999999999</c:v>
                </c:pt>
                <c:pt idx="4">
                  <c:v>0.60499999999999998</c:v>
                </c:pt>
                <c:pt idx="5">
                  <c:v>0.61040000000000005</c:v>
                </c:pt>
                <c:pt idx="6">
                  <c:v>0.65300000000000002</c:v>
                </c:pt>
                <c:pt idx="7">
                  <c:v>0.67710000000000004</c:v>
                </c:pt>
                <c:pt idx="8">
                  <c:v>0.76090000000000002</c:v>
                </c:pt>
                <c:pt idx="9">
                  <c:v>0.76090000000000002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DDE5-694D-A043-C44FC9432CE0}"/>
            </c:ext>
          </c:extLst>
        </c:ser>
        <c:ser>
          <c:idx val="5"/>
          <c:order val="5"/>
          <c:tx>
            <c:strRef>
              <c:f>Sheet1!$B$61</c:f>
              <c:strCache>
                <c:ptCount val="1"/>
                <c:pt idx="0">
                  <c:v>Run 6</c:v>
                </c:pt>
              </c:strCache>
            </c:strRef>
          </c:tx>
          <c:spPr>
            <a:ln w="9525">
              <a:solidFill>
                <a:srgbClr val="6E717A"/>
              </a:solidFill>
            </a:ln>
          </c:spPr>
          <c:marker>
            <c:symbol val="none"/>
          </c:marker>
          <c:xVal>
            <c:numRef>
              <c:f>Sheet1!$A$62:$A$71</c:f>
              <c:numCache>
                <c:formatCode>General</c:formatCode>
                <c:ptCount val="10"/>
                <c:pt idx="0">
                  <c:v>0</c:v>
                </c:pt>
                <c:pt idx="1">
                  <c:v>0.69</c:v>
                </c:pt>
                <c:pt idx="2">
                  <c:v>1.31</c:v>
                </c:pt>
                <c:pt idx="3">
                  <c:v>1.97</c:v>
                </c:pt>
                <c:pt idx="4">
                  <c:v>2.5299999999999998</c:v>
                </c:pt>
                <c:pt idx="5">
                  <c:v>3.27</c:v>
                </c:pt>
                <c:pt idx="6">
                  <c:v>3.96</c:v>
                </c:pt>
                <c:pt idx="7">
                  <c:v>4.53</c:v>
                </c:pt>
                <c:pt idx="8">
                  <c:v>5.16</c:v>
                </c:pt>
                <c:pt idx="9">
                  <c:v>5.84</c:v>
                </c:pt>
              </c:numCache>
            </c:numRef>
          </c:xVal>
          <c:yVal>
            <c:numRef>
              <c:f>Sheet1!$B$62:$B$71</c:f>
              <c:numCache>
                <c:formatCode>General</c:formatCode>
                <c:ptCount val="10"/>
                <c:pt idx="0">
                  <c:v>0.56640000000000001</c:v>
                </c:pt>
                <c:pt idx="1">
                  <c:v>0.76480000000000004</c:v>
                </c:pt>
                <c:pt idx="2">
                  <c:v>0.62439999999999996</c:v>
                </c:pt>
                <c:pt idx="3">
                  <c:v>0.59530000000000005</c:v>
                </c:pt>
                <c:pt idx="4">
                  <c:v>0.59799999999999998</c:v>
                </c:pt>
                <c:pt idx="5">
                  <c:v>0.61899999999999999</c:v>
                </c:pt>
                <c:pt idx="6">
                  <c:v>0.64390000000000003</c:v>
                </c:pt>
                <c:pt idx="7">
                  <c:v>0.65690000000000004</c:v>
                </c:pt>
                <c:pt idx="8">
                  <c:v>0.64680000000000004</c:v>
                </c:pt>
                <c:pt idx="9">
                  <c:v>0.63060000000000005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5-DDE5-694D-A043-C44FC9432CE0}"/>
            </c:ext>
          </c:extLst>
        </c:ser>
        <c:ser>
          <c:idx val="6"/>
          <c:order val="6"/>
          <c:tx>
            <c:strRef>
              <c:f>Sheet1!$B$73</c:f>
              <c:strCache>
                <c:ptCount val="1"/>
                <c:pt idx="0">
                  <c:v>Run 7</c:v>
                </c:pt>
              </c:strCache>
            </c:strRef>
          </c:tx>
          <c:spPr>
            <a:ln w="9525">
              <a:solidFill>
                <a:srgbClr val="6E717A"/>
              </a:solidFill>
            </a:ln>
          </c:spPr>
          <c:marker>
            <c:symbol val="none"/>
          </c:marker>
          <c:xVal>
            <c:numRef>
              <c:f>Sheet1!$A$74:$A$83</c:f>
              <c:numCache>
                <c:formatCode>General</c:formatCode>
                <c:ptCount val="10"/>
                <c:pt idx="0">
                  <c:v>0</c:v>
                </c:pt>
                <c:pt idx="1">
                  <c:v>0.74</c:v>
                </c:pt>
                <c:pt idx="2">
                  <c:v>1.51</c:v>
                </c:pt>
                <c:pt idx="3">
                  <c:v>2.35</c:v>
                </c:pt>
                <c:pt idx="4">
                  <c:v>3.09</c:v>
                </c:pt>
                <c:pt idx="5">
                  <c:v>3.87</c:v>
                </c:pt>
                <c:pt idx="6">
                  <c:v>4.6500000000000004</c:v>
                </c:pt>
                <c:pt idx="7">
                  <c:v>5.41</c:v>
                </c:pt>
                <c:pt idx="8">
                  <c:v>6.2</c:v>
                </c:pt>
                <c:pt idx="9">
                  <c:v>6.97</c:v>
                </c:pt>
              </c:numCache>
            </c:numRef>
          </c:xVal>
          <c:yVal>
            <c:numRef>
              <c:f>Sheet1!$B$74:$B$83</c:f>
              <c:numCache>
                <c:formatCode>General</c:formatCode>
                <c:ptCount val="10"/>
                <c:pt idx="0">
                  <c:v>0.55959999999999999</c:v>
                </c:pt>
                <c:pt idx="1">
                  <c:v>0.63429999999999997</c:v>
                </c:pt>
                <c:pt idx="2">
                  <c:v>0.6905</c:v>
                </c:pt>
                <c:pt idx="3">
                  <c:v>0.64870000000000005</c:v>
                </c:pt>
                <c:pt idx="4">
                  <c:v>0.65210000000000001</c:v>
                </c:pt>
                <c:pt idx="5">
                  <c:v>0.63239999999999996</c:v>
                </c:pt>
                <c:pt idx="6">
                  <c:v>0.63990000000000002</c:v>
                </c:pt>
                <c:pt idx="7">
                  <c:v>0.67920000000000003</c:v>
                </c:pt>
                <c:pt idx="8">
                  <c:v>0.7349</c:v>
                </c:pt>
                <c:pt idx="9">
                  <c:v>0.66239999999999999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6-DDE5-694D-A043-C44FC9432CE0}"/>
            </c:ext>
          </c:extLst>
        </c:ser>
        <c:ser>
          <c:idx val="7"/>
          <c:order val="7"/>
          <c:tx>
            <c:strRef>
              <c:f>Sheet1!$B$85</c:f>
              <c:strCache>
                <c:ptCount val="1"/>
                <c:pt idx="0">
                  <c:v>Run 8</c:v>
                </c:pt>
              </c:strCache>
            </c:strRef>
          </c:tx>
          <c:spPr>
            <a:ln w="9525">
              <a:solidFill>
                <a:srgbClr val="6E717A"/>
              </a:solidFill>
            </a:ln>
          </c:spPr>
          <c:marker>
            <c:symbol val="none"/>
          </c:marker>
          <c:xVal>
            <c:numRef>
              <c:f>Sheet1!$A$86:$A$95</c:f>
              <c:numCache>
                <c:formatCode>General</c:formatCode>
                <c:ptCount val="10"/>
                <c:pt idx="0">
                  <c:v>0</c:v>
                </c:pt>
                <c:pt idx="1">
                  <c:v>0.67</c:v>
                </c:pt>
                <c:pt idx="2">
                  <c:v>1.21</c:v>
                </c:pt>
                <c:pt idx="3">
                  <c:v>1.86</c:v>
                </c:pt>
                <c:pt idx="4">
                  <c:v>2.4</c:v>
                </c:pt>
                <c:pt idx="5">
                  <c:v>3.07</c:v>
                </c:pt>
                <c:pt idx="6">
                  <c:v>3.57</c:v>
                </c:pt>
                <c:pt idx="7">
                  <c:v>4.1900000000000004</c:v>
                </c:pt>
                <c:pt idx="8">
                  <c:v>4.87</c:v>
                </c:pt>
                <c:pt idx="9">
                  <c:v>5.42</c:v>
                </c:pt>
              </c:numCache>
            </c:numRef>
          </c:xVal>
          <c:yVal>
            <c:numRef>
              <c:f>Sheet1!$B$86:$B$95</c:f>
              <c:numCache>
                <c:formatCode>General</c:formatCode>
                <c:ptCount val="10"/>
                <c:pt idx="0">
                  <c:v>0.64670000000000005</c:v>
                </c:pt>
                <c:pt idx="1">
                  <c:v>0.65129999999999999</c:v>
                </c:pt>
                <c:pt idx="2">
                  <c:v>0.67569999999999997</c:v>
                </c:pt>
                <c:pt idx="3">
                  <c:v>0.55689999999999995</c:v>
                </c:pt>
                <c:pt idx="4">
                  <c:v>0.55059999999999998</c:v>
                </c:pt>
                <c:pt idx="5">
                  <c:v>0.5796</c:v>
                </c:pt>
                <c:pt idx="6">
                  <c:v>0.61219999999999997</c:v>
                </c:pt>
                <c:pt idx="7">
                  <c:v>0.60140000000000005</c:v>
                </c:pt>
                <c:pt idx="8">
                  <c:v>0.5877</c:v>
                </c:pt>
                <c:pt idx="9">
                  <c:v>0.59089999999999998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7-DDE5-694D-A043-C44FC9432CE0}"/>
            </c:ext>
          </c:extLst>
        </c:ser>
        <c:ser>
          <c:idx val="8"/>
          <c:order val="8"/>
          <c:tx>
            <c:strRef>
              <c:f>Sheet1!$B$97</c:f>
              <c:strCache>
                <c:ptCount val="1"/>
                <c:pt idx="0">
                  <c:v>Run 9</c:v>
                </c:pt>
              </c:strCache>
            </c:strRef>
          </c:tx>
          <c:spPr>
            <a:ln w="9525">
              <a:solidFill>
                <a:srgbClr val="6E717A"/>
              </a:solidFill>
            </a:ln>
          </c:spPr>
          <c:marker>
            <c:symbol val="none"/>
          </c:marker>
          <c:xVal>
            <c:numRef>
              <c:f>Sheet1!$A$98:$A$107</c:f>
              <c:numCache>
                <c:formatCode>General</c:formatCode>
                <c:ptCount val="10"/>
                <c:pt idx="0">
                  <c:v>0</c:v>
                </c:pt>
                <c:pt idx="1">
                  <c:v>0.74</c:v>
                </c:pt>
                <c:pt idx="2">
                  <c:v>1.5</c:v>
                </c:pt>
                <c:pt idx="3">
                  <c:v>2.2400000000000002</c:v>
                </c:pt>
                <c:pt idx="4">
                  <c:v>3.05</c:v>
                </c:pt>
                <c:pt idx="5">
                  <c:v>3.76</c:v>
                </c:pt>
                <c:pt idx="6">
                  <c:v>4.59</c:v>
                </c:pt>
                <c:pt idx="7">
                  <c:v>5.32</c:v>
                </c:pt>
                <c:pt idx="8">
                  <c:v>5.95</c:v>
                </c:pt>
                <c:pt idx="9">
                  <c:v>6.79</c:v>
                </c:pt>
              </c:numCache>
            </c:numRef>
          </c:xVal>
          <c:yVal>
            <c:numRef>
              <c:f>Sheet1!$B$98:$B$107</c:f>
              <c:numCache>
                <c:formatCode>General</c:formatCode>
                <c:ptCount val="10"/>
                <c:pt idx="0">
                  <c:v>0.66</c:v>
                </c:pt>
                <c:pt idx="1">
                  <c:v>0.89949999999999997</c:v>
                </c:pt>
                <c:pt idx="2">
                  <c:v>1.0672999999999999</c:v>
                </c:pt>
                <c:pt idx="3">
                  <c:v>0.76519999999999999</c:v>
                </c:pt>
                <c:pt idx="4">
                  <c:v>0.78490000000000004</c:v>
                </c:pt>
                <c:pt idx="5">
                  <c:v>0.76019999999999999</c:v>
                </c:pt>
                <c:pt idx="6">
                  <c:v>0.81110000000000004</c:v>
                </c:pt>
                <c:pt idx="7">
                  <c:v>0.89829999999999999</c:v>
                </c:pt>
                <c:pt idx="8">
                  <c:v>0.9778</c:v>
                </c:pt>
                <c:pt idx="9">
                  <c:v>0.9929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8-DDE5-694D-A043-C44FC9432CE0}"/>
            </c:ext>
          </c:extLst>
        </c:ser>
        <c:ser>
          <c:idx val="9"/>
          <c:order val="9"/>
          <c:tx>
            <c:strRef>
              <c:f>Sheet1!$B$109</c:f>
              <c:strCache>
                <c:ptCount val="1"/>
                <c:pt idx="0">
                  <c:v>Run 10</c:v>
                </c:pt>
              </c:strCache>
            </c:strRef>
          </c:tx>
          <c:spPr>
            <a:ln w="9525">
              <a:solidFill>
                <a:srgbClr val="6E717A"/>
              </a:solidFill>
            </a:ln>
          </c:spPr>
          <c:marker>
            <c:symbol val="none"/>
          </c:marker>
          <c:xVal>
            <c:numRef>
              <c:f>Sheet1!$A$110:$A$119</c:f>
              <c:numCache>
                <c:formatCode>General</c:formatCode>
                <c:ptCount val="10"/>
                <c:pt idx="0">
                  <c:v>0</c:v>
                </c:pt>
                <c:pt idx="1">
                  <c:v>0.71</c:v>
                </c:pt>
                <c:pt idx="2">
                  <c:v>1.43</c:v>
                </c:pt>
                <c:pt idx="3">
                  <c:v>2.17</c:v>
                </c:pt>
                <c:pt idx="4">
                  <c:v>2.96</c:v>
                </c:pt>
                <c:pt idx="5">
                  <c:v>3.65</c:v>
                </c:pt>
                <c:pt idx="6">
                  <c:v>4.33</c:v>
                </c:pt>
                <c:pt idx="7">
                  <c:v>5.51</c:v>
                </c:pt>
                <c:pt idx="8">
                  <c:v>6.04</c:v>
                </c:pt>
                <c:pt idx="9">
                  <c:v>6.55</c:v>
                </c:pt>
              </c:numCache>
            </c:numRef>
          </c:xVal>
          <c:yVal>
            <c:numRef>
              <c:f>Sheet1!$B$110:$B$119</c:f>
              <c:numCache>
                <c:formatCode>General</c:formatCode>
                <c:ptCount val="10"/>
                <c:pt idx="0">
                  <c:v>0.54769999999999996</c:v>
                </c:pt>
                <c:pt idx="1">
                  <c:v>0.57789999999999997</c:v>
                </c:pt>
                <c:pt idx="2">
                  <c:v>0.5716</c:v>
                </c:pt>
                <c:pt idx="3">
                  <c:v>0.55910000000000004</c:v>
                </c:pt>
                <c:pt idx="4">
                  <c:v>0.55049999999999999</c:v>
                </c:pt>
                <c:pt idx="5">
                  <c:v>0.56230000000000002</c:v>
                </c:pt>
                <c:pt idx="6">
                  <c:v>0.59509999999999996</c:v>
                </c:pt>
                <c:pt idx="7">
                  <c:v>0.59950000000000003</c:v>
                </c:pt>
                <c:pt idx="8">
                  <c:v>0.60899999999999999</c:v>
                </c:pt>
                <c:pt idx="9">
                  <c:v>0.65210000000000001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9-DDE5-694D-A043-C44FC9432CE0}"/>
            </c:ext>
          </c:extLst>
        </c:ser>
        <c:ser>
          <c:idx val="10"/>
          <c:order val="10"/>
          <c:tx>
            <c:strRef>
              <c:f>Sheet1!$B$121</c:f>
              <c:strCache>
                <c:ptCount val="1"/>
                <c:pt idx="0">
                  <c:v>Average</c:v>
                </c:pt>
              </c:strCache>
            </c:strRef>
          </c:tx>
          <c:spPr>
            <a:ln w="34925">
              <a:solidFill>
                <a:srgbClr val="E0435A"/>
              </a:solidFill>
            </a:ln>
          </c:spPr>
          <c:marker>
            <c:symbol val="none"/>
          </c:marker>
          <c:xVal>
            <c:numRef>
              <c:f>Sheet1!$A$122:$A$131</c:f>
              <c:numCache>
                <c:formatCode>General</c:formatCode>
                <c:ptCount val="10"/>
                <c:pt idx="0">
                  <c:v>0</c:v>
                </c:pt>
                <c:pt idx="1">
                  <c:v>0.68799999999999994</c:v>
                </c:pt>
                <c:pt idx="2">
                  <c:v>1.399</c:v>
                </c:pt>
                <c:pt idx="3">
                  <c:v>2.141</c:v>
                </c:pt>
                <c:pt idx="4">
                  <c:v>2.8420000000000001</c:v>
                </c:pt>
                <c:pt idx="5">
                  <c:v>3.581</c:v>
                </c:pt>
                <c:pt idx="6">
                  <c:v>4.274</c:v>
                </c:pt>
                <c:pt idx="7">
                  <c:v>4.9939999999999998</c:v>
                </c:pt>
                <c:pt idx="8">
                  <c:v>5.6959999999999997</c:v>
                </c:pt>
                <c:pt idx="9">
                  <c:v>6.5380000000000003</c:v>
                </c:pt>
              </c:numCache>
            </c:numRef>
          </c:xVal>
          <c:yVal>
            <c:numRef>
              <c:f>Sheet1!$B$122:$B$131</c:f>
              <c:numCache>
                <c:formatCode>General</c:formatCode>
                <c:ptCount val="10"/>
                <c:pt idx="0">
                  <c:v>0.61595</c:v>
                </c:pt>
                <c:pt idx="1">
                  <c:v>0.76893999999999996</c:v>
                </c:pt>
                <c:pt idx="2">
                  <c:v>0.76326000000000005</c:v>
                </c:pt>
                <c:pt idx="3">
                  <c:v>0.68398000000000003</c:v>
                </c:pt>
                <c:pt idx="4">
                  <c:v>0.67437000000000002</c:v>
                </c:pt>
                <c:pt idx="5">
                  <c:v>0.68191000000000002</c:v>
                </c:pt>
                <c:pt idx="6">
                  <c:v>0.72185999999999995</c:v>
                </c:pt>
                <c:pt idx="7">
                  <c:v>0.75624999999999998</c:v>
                </c:pt>
                <c:pt idx="8">
                  <c:v>0.76487000000000005</c:v>
                </c:pt>
                <c:pt idx="9">
                  <c:v>0.77681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A-DDE5-694D-A043-C44FC9432CE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128940872"/>
        <c:axId val="2129643912"/>
      </c:scatterChart>
      <c:valAx>
        <c:axId val="2128940872"/>
        <c:scaling>
          <c:orientation val="minMax"/>
          <c:max val="9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en-US" sz="800" b="0">
                    <a:solidFill>
                      <a:srgbClr val="7E8089"/>
                    </a:solidFill>
                    <a:latin typeface="Open Sans"/>
                  </a:rPr>
                  <a:t>Displacement (mm)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>
            <a:solidFill>
              <a:srgbClr val="3B3C43"/>
            </a:solidFill>
          </a:ln>
        </c:spPr>
        <c:txPr>
          <a:bodyPr/>
          <a:lstStyle/>
          <a:p>
            <a:pPr>
              <a:defRPr sz="850">
                <a:solidFill>
                  <a:srgbClr val="B3B5BC"/>
                </a:solidFill>
              </a:defRPr>
            </a:pPr>
            <a:endParaRPr lang="en-US"/>
          </a:p>
        </c:txPr>
        <c:crossAx val="2129643912"/>
        <c:crosses val="autoZero"/>
        <c:crossBetween val="midCat"/>
        <c:majorUnit val="1"/>
      </c:valAx>
      <c:valAx>
        <c:axId val="2129643912"/>
        <c:scaling>
          <c:orientation val="minMax"/>
          <c:max val="1.5"/>
          <c:min val="0.4"/>
        </c:scaling>
        <c:delete val="0"/>
        <c:axPos val="l"/>
        <c:majorGridlines>
          <c:spPr>
            <a:ln w="6350">
              <a:solidFill>
                <a:srgbClr val="3B3C43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800" b="0">
                    <a:solidFill>
                      <a:srgbClr val="7E8089"/>
                    </a:solidFill>
                    <a:latin typeface="Open Sans"/>
                  </a:rPr>
                  <a:t>Resistance (k</a:t>
                </a:r>
                <a:r>
                  <a:rPr lang="el-GR" sz="800" b="0">
                    <a:solidFill>
                      <a:srgbClr val="7E8089"/>
                    </a:solidFill>
                    <a:latin typeface="Open Sans"/>
                  </a:rPr>
                  <a:t>Ω)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7E8089"/>
                </a:solidFill>
              </a:defRPr>
            </a:pPr>
            <a:endParaRPr lang="en-US"/>
          </a:p>
        </c:txPr>
        <c:crossAx val="2128940872"/>
        <c:crosses val="autoZero"/>
        <c:crossBetween val="midCat"/>
        <c:majorUnit val="0.2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00">
          <a:solidFill>
            <a:srgbClr val="B3B5BC"/>
          </a:solidFill>
          <a:latin typeface="Open Sans"/>
        </a:defRPr>
      </a:pPr>
      <a:endParaRPr lang="en-US"/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1 bump</c:v>
                </c:pt>
              </c:strCache>
            </c:strRef>
          </c:tx>
          <c:spPr>
            <a:ln w="19050">
              <a:solidFill>
                <a:srgbClr val="9FA1A9"/>
              </a:solidFill>
            </a:ln>
          </c:spPr>
          <c:marker>
            <c:symbol val="none"/>
          </c:marker>
          <c:xVal>
            <c:numRef>
              <c:f>Sheet1!$A$2:$A$30</c:f>
              <c:numCache>
                <c:formatCode>General</c:formatCode>
                <c:ptCount val="29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</c:numCache>
            </c:numRef>
          </c:xVal>
          <c:yVal>
            <c:numRef>
              <c:f>Sheet1!$B$2:$B$30</c:f>
              <c:numCache>
                <c:formatCode>General</c:formatCode>
                <c:ptCount val="29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0.33333333329999998</c:v>
                </c:pt>
                <c:pt idx="4">
                  <c:v>1.6666666670000001</c:v>
                </c:pt>
                <c:pt idx="5">
                  <c:v>2.6666666669999999</c:v>
                </c:pt>
                <c:pt idx="6">
                  <c:v>5</c:v>
                </c:pt>
                <c:pt idx="7">
                  <c:v>7.3333333329999997</c:v>
                </c:pt>
                <c:pt idx="8">
                  <c:v>9.6666666669999994</c:v>
                </c:pt>
                <c:pt idx="9">
                  <c:v>12.33333333</c:v>
                </c:pt>
                <c:pt idx="10">
                  <c:v>15.33333333</c:v>
                </c:pt>
                <c:pt idx="11">
                  <c:v>19.666666670000001</c:v>
                </c:pt>
                <c:pt idx="12">
                  <c:v>26.666666670000001</c:v>
                </c:pt>
                <c:pt idx="13">
                  <c:v>37.666666669999998</c:v>
                </c:pt>
                <c:pt idx="14">
                  <c:v>52</c:v>
                </c:pt>
                <c:pt idx="15">
                  <c:v>76.666666669999998</c:v>
                </c:pt>
                <c:pt idx="16">
                  <c:v>105</c:v>
                </c:pt>
                <c:pt idx="17">
                  <c:v>116.66666669999999</c:v>
                </c:pt>
                <c:pt idx="18">
                  <c:v>109</c:v>
                </c:pt>
                <c:pt idx="19">
                  <c:v>105</c:v>
                </c:pt>
                <c:pt idx="20">
                  <c:v>80</c:v>
                </c:pt>
                <c:pt idx="21">
                  <c:v>43.333333330000002</c:v>
                </c:pt>
                <c:pt idx="22">
                  <c:v>24.333333329999999</c:v>
                </c:pt>
                <c:pt idx="23">
                  <c:v>14</c:v>
                </c:pt>
                <c:pt idx="24">
                  <c:v>7.6666666670000003</c:v>
                </c:pt>
                <c:pt idx="25">
                  <c:v>3.6666666669999999</c:v>
                </c:pt>
                <c:pt idx="26">
                  <c:v>1.6666666670000001</c:v>
                </c:pt>
                <c:pt idx="27">
                  <c:v>0.33333333329999998</c:v>
                </c:pt>
                <c:pt idx="28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E2A1-8E4C-883D-8E01D05FA052}"/>
            </c:ext>
          </c:extLst>
        </c:ser>
        <c:ser>
          <c:idx val="1"/>
          <c:order val="1"/>
          <c:tx>
            <c:strRef>
              <c:f>Sheet1!$B$32</c:f>
              <c:strCache>
                <c:ptCount val="1"/>
                <c:pt idx="0">
                  <c:v>2 bumps</c:v>
                </c:pt>
              </c:strCache>
            </c:strRef>
          </c:tx>
          <c:spPr>
            <a:ln w="34925">
              <a:solidFill>
                <a:srgbClr val="E0435A"/>
              </a:solidFill>
            </a:ln>
          </c:spPr>
          <c:marker>
            <c:symbol val="none"/>
          </c:marker>
          <c:xVal>
            <c:numRef>
              <c:f>Sheet1!$A$33:$A$61</c:f>
              <c:numCache>
                <c:formatCode>General</c:formatCode>
                <c:ptCount val="29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</c:numCache>
            </c:numRef>
          </c:xVal>
          <c:yVal>
            <c:numRef>
              <c:f>Sheet1!$B$33:$B$61</c:f>
              <c:numCache>
                <c:formatCode>General</c:formatCode>
                <c:ptCount val="29"/>
                <c:pt idx="0">
                  <c:v>0</c:v>
                </c:pt>
                <c:pt idx="1">
                  <c:v>0</c:v>
                </c:pt>
                <c:pt idx="2">
                  <c:v>2.9333333330000002</c:v>
                </c:pt>
                <c:pt idx="3">
                  <c:v>16.93333333</c:v>
                </c:pt>
                <c:pt idx="4">
                  <c:v>18</c:v>
                </c:pt>
                <c:pt idx="5">
                  <c:v>19.06666667</c:v>
                </c:pt>
                <c:pt idx="6">
                  <c:v>19.233333330000001</c:v>
                </c:pt>
                <c:pt idx="7">
                  <c:v>22.666666670000001</c:v>
                </c:pt>
                <c:pt idx="8">
                  <c:v>29.333333329999999</c:v>
                </c:pt>
                <c:pt idx="9">
                  <c:v>39</c:v>
                </c:pt>
                <c:pt idx="10">
                  <c:v>60.666666669999998</c:v>
                </c:pt>
                <c:pt idx="11">
                  <c:v>95</c:v>
                </c:pt>
                <c:pt idx="12">
                  <c:v>131.66666670000001</c:v>
                </c:pt>
                <c:pt idx="13">
                  <c:v>116.66666669999999</c:v>
                </c:pt>
                <c:pt idx="14">
                  <c:v>85</c:v>
                </c:pt>
                <c:pt idx="15">
                  <c:v>73.333333330000002</c:v>
                </c:pt>
                <c:pt idx="16">
                  <c:v>76</c:v>
                </c:pt>
                <c:pt idx="17">
                  <c:v>50.666666669999998</c:v>
                </c:pt>
                <c:pt idx="18">
                  <c:v>25.333333329999999</c:v>
                </c:pt>
                <c:pt idx="19">
                  <c:v>14.66666667</c:v>
                </c:pt>
                <c:pt idx="20">
                  <c:v>9.3333333330000006</c:v>
                </c:pt>
                <c:pt idx="21">
                  <c:v>5.3333333329999997</c:v>
                </c:pt>
                <c:pt idx="22">
                  <c:v>3.3333333330000001</c:v>
                </c:pt>
                <c:pt idx="23">
                  <c:v>2</c:v>
                </c:pt>
                <c:pt idx="24">
                  <c:v>1.3333333329999999</c:v>
                </c:pt>
                <c:pt idx="25">
                  <c:v>0.66666666669999997</c:v>
                </c:pt>
                <c:pt idx="26">
                  <c:v>0.33333333329999998</c:v>
                </c:pt>
                <c:pt idx="27">
                  <c:v>0</c:v>
                </c:pt>
                <c:pt idx="28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1-E2A1-8E4C-883D-8E01D05FA052}"/>
            </c:ext>
          </c:extLst>
        </c:ser>
        <c:ser>
          <c:idx val="2"/>
          <c:order val="2"/>
          <c:tx>
            <c:strRef>
              <c:f>Sheet1!$B$63</c:f>
              <c:strCache>
                <c:ptCount val="1"/>
                <c:pt idx="0">
                  <c:v>3 bumps</c:v>
                </c:pt>
              </c:strCache>
            </c:strRef>
          </c:tx>
          <c:spPr>
            <a:ln w="19050">
              <a:solidFill>
                <a:srgbClr val="7E8089"/>
              </a:solidFill>
            </a:ln>
          </c:spPr>
          <c:marker>
            <c:symbol val="none"/>
          </c:marker>
          <c:xVal>
            <c:numRef>
              <c:f>Sheet1!$A$64:$A$92</c:f>
              <c:numCache>
                <c:formatCode>General</c:formatCode>
                <c:ptCount val="29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</c:numCache>
            </c:numRef>
          </c:xVal>
          <c:yVal>
            <c:numRef>
              <c:f>Sheet1!$B$64:$B$92</c:f>
              <c:numCache>
                <c:formatCode>General</c:formatCode>
                <c:ptCount val="29"/>
                <c:pt idx="0">
                  <c:v>0</c:v>
                </c:pt>
                <c:pt idx="1">
                  <c:v>0</c:v>
                </c:pt>
                <c:pt idx="2">
                  <c:v>4.5</c:v>
                </c:pt>
                <c:pt idx="3">
                  <c:v>16.149999999999999</c:v>
                </c:pt>
                <c:pt idx="4">
                  <c:v>19.8</c:v>
                </c:pt>
                <c:pt idx="5">
                  <c:v>37.25</c:v>
                </c:pt>
                <c:pt idx="6">
                  <c:v>42.5</c:v>
                </c:pt>
                <c:pt idx="7">
                  <c:v>44</c:v>
                </c:pt>
                <c:pt idx="8">
                  <c:v>42.5</c:v>
                </c:pt>
                <c:pt idx="9">
                  <c:v>44</c:v>
                </c:pt>
                <c:pt idx="10">
                  <c:v>47.5</c:v>
                </c:pt>
                <c:pt idx="11">
                  <c:v>62.5</c:v>
                </c:pt>
                <c:pt idx="12">
                  <c:v>86.5</c:v>
                </c:pt>
                <c:pt idx="13">
                  <c:v>95</c:v>
                </c:pt>
                <c:pt idx="14">
                  <c:v>83.5</c:v>
                </c:pt>
                <c:pt idx="15">
                  <c:v>76.5</c:v>
                </c:pt>
                <c:pt idx="16">
                  <c:v>79</c:v>
                </c:pt>
                <c:pt idx="17">
                  <c:v>45</c:v>
                </c:pt>
                <c:pt idx="18">
                  <c:v>20</c:v>
                </c:pt>
                <c:pt idx="19">
                  <c:v>12.5</c:v>
                </c:pt>
                <c:pt idx="20">
                  <c:v>7.5</c:v>
                </c:pt>
                <c:pt idx="21">
                  <c:v>4</c:v>
                </c:pt>
                <c:pt idx="22">
                  <c:v>1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2-E2A1-8E4C-883D-8E01D05FA052}"/>
            </c:ext>
          </c:extLst>
        </c:ser>
        <c:ser>
          <c:idx val="3"/>
          <c:order val="3"/>
          <c:tx>
            <c:strRef>
              <c:f>Sheet1!$B$94</c:f>
              <c:strCache>
                <c:ptCount val="1"/>
                <c:pt idx="0">
                  <c:v>4 bumps</c:v>
                </c:pt>
              </c:strCache>
            </c:strRef>
          </c:tx>
          <c:spPr>
            <a:ln w="19050">
              <a:solidFill>
                <a:srgbClr val="5E6068"/>
              </a:solidFill>
            </a:ln>
          </c:spPr>
          <c:marker>
            <c:symbol val="none"/>
          </c:marker>
          <c:xVal>
            <c:numRef>
              <c:f>Sheet1!$A$95:$A$121</c:f>
              <c:numCache>
                <c:formatCode>General</c:formatCode>
                <c:ptCount val="27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</c:numCache>
            </c:numRef>
          </c:xVal>
          <c:yVal>
            <c:numRef>
              <c:f>Sheet1!$B$95:$B$121</c:f>
              <c:numCache>
                <c:formatCode>General</c:formatCode>
                <c:ptCount val="27"/>
                <c:pt idx="0">
                  <c:v>0</c:v>
                </c:pt>
                <c:pt idx="1">
                  <c:v>4.8333333329999997</c:v>
                </c:pt>
                <c:pt idx="2">
                  <c:v>8.5666666669999998</c:v>
                </c:pt>
                <c:pt idx="3">
                  <c:v>19.06666667</c:v>
                </c:pt>
                <c:pt idx="4">
                  <c:v>33.5</c:v>
                </c:pt>
                <c:pt idx="5">
                  <c:v>38.299999999999997</c:v>
                </c:pt>
                <c:pt idx="6">
                  <c:v>47.633333329999999</c:v>
                </c:pt>
                <c:pt idx="7">
                  <c:v>51.1</c:v>
                </c:pt>
                <c:pt idx="8">
                  <c:v>50.266666669999999</c:v>
                </c:pt>
                <c:pt idx="9">
                  <c:v>53.8</c:v>
                </c:pt>
                <c:pt idx="10">
                  <c:v>61.033333329999998</c:v>
                </c:pt>
                <c:pt idx="11">
                  <c:v>68.333333330000002</c:v>
                </c:pt>
                <c:pt idx="12">
                  <c:v>63.766666669999999</c:v>
                </c:pt>
                <c:pt idx="13">
                  <c:v>61.733333330000001</c:v>
                </c:pt>
                <c:pt idx="14">
                  <c:v>75.433333329999996</c:v>
                </c:pt>
                <c:pt idx="15">
                  <c:v>92.333333330000002</c:v>
                </c:pt>
                <c:pt idx="16">
                  <c:v>62.233333330000001</c:v>
                </c:pt>
                <c:pt idx="17">
                  <c:v>46.166666669999998</c:v>
                </c:pt>
                <c:pt idx="18">
                  <c:v>41.966666670000002</c:v>
                </c:pt>
                <c:pt idx="19">
                  <c:v>22.06666667</c:v>
                </c:pt>
                <c:pt idx="20">
                  <c:v>15.2</c:v>
                </c:pt>
                <c:pt idx="21">
                  <c:v>11.766666669999999</c:v>
                </c:pt>
                <c:pt idx="22">
                  <c:v>9.3000000000000007</c:v>
                </c:pt>
                <c:pt idx="23">
                  <c:v>6.2</c:v>
                </c:pt>
                <c:pt idx="24">
                  <c:v>2.9666666670000001</c:v>
                </c:pt>
                <c:pt idx="25">
                  <c:v>0.7</c:v>
                </c:pt>
                <c:pt idx="26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3-E2A1-8E4C-883D-8E01D05FA052}"/>
            </c:ext>
          </c:extLst>
        </c:ser>
        <c:ser>
          <c:idx val="4"/>
          <c:order val="4"/>
          <c:tx>
            <c:strRef>
              <c:f>Sheet1!$B$123</c:f>
              <c:strCache>
                <c:ptCount val="1"/>
                <c:pt idx="0">
                  <c:v>5 bumps</c:v>
                </c:pt>
              </c:strCache>
            </c:strRef>
          </c:tx>
          <c:spPr>
            <a:ln w="19050">
              <a:solidFill>
                <a:srgbClr val="A97880"/>
              </a:solidFill>
            </a:ln>
          </c:spPr>
          <c:marker>
            <c:symbol val="none"/>
          </c:marker>
          <c:xVal>
            <c:numRef>
              <c:f>Sheet1!$A$124:$A$152</c:f>
              <c:numCache>
                <c:formatCode>General</c:formatCode>
                <c:ptCount val="29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  <c:pt idx="11">
                  <c:v>11</c:v>
                </c:pt>
                <c:pt idx="12">
                  <c:v>12</c:v>
                </c:pt>
                <c:pt idx="13">
                  <c:v>13</c:v>
                </c:pt>
                <c:pt idx="14">
                  <c:v>14</c:v>
                </c:pt>
                <c:pt idx="15">
                  <c:v>15</c:v>
                </c:pt>
                <c:pt idx="16">
                  <c:v>16</c:v>
                </c:pt>
                <c:pt idx="17">
                  <c:v>17</c:v>
                </c:pt>
                <c:pt idx="18">
                  <c:v>18</c:v>
                </c:pt>
                <c:pt idx="19">
                  <c:v>19</c:v>
                </c:pt>
                <c:pt idx="20">
                  <c:v>20</c:v>
                </c:pt>
                <c:pt idx="21">
                  <c:v>21</c:v>
                </c:pt>
                <c:pt idx="22">
                  <c:v>22</c:v>
                </c:pt>
                <c:pt idx="23">
                  <c:v>23</c:v>
                </c:pt>
                <c:pt idx="24">
                  <c:v>24</c:v>
                </c:pt>
                <c:pt idx="25">
                  <c:v>25</c:v>
                </c:pt>
                <c:pt idx="26">
                  <c:v>26</c:v>
                </c:pt>
                <c:pt idx="27">
                  <c:v>27</c:v>
                </c:pt>
                <c:pt idx="28">
                  <c:v>28</c:v>
                </c:pt>
              </c:numCache>
            </c:numRef>
          </c:xVal>
          <c:yVal>
            <c:numRef>
              <c:f>Sheet1!$B$124:$B$152</c:f>
              <c:numCache>
                <c:formatCode>General</c:formatCode>
                <c:ptCount val="29"/>
                <c:pt idx="0">
                  <c:v>0</c:v>
                </c:pt>
                <c:pt idx="1">
                  <c:v>0</c:v>
                </c:pt>
                <c:pt idx="2">
                  <c:v>6.8</c:v>
                </c:pt>
                <c:pt idx="3">
                  <c:v>27.7</c:v>
                </c:pt>
                <c:pt idx="4">
                  <c:v>32.133333329999999</c:v>
                </c:pt>
                <c:pt idx="5">
                  <c:v>26.966666669999999</c:v>
                </c:pt>
                <c:pt idx="6">
                  <c:v>27.666666670000001</c:v>
                </c:pt>
                <c:pt idx="7">
                  <c:v>26</c:v>
                </c:pt>
                <c:pt idx="8">
                  <c:v>29</c:v>
                </c:pt>
                <c:pt idx="9">
                  <c:v>38.666666669999998</c:v>
                </c:pt>
                <c:pt idx="10">
                  <c:v>47.666666669999998</c:v>
                </c:pt>
                <c:pt idx="11">
                  <c:v>59.333333330000002</c:v>
                </c:pt>
                <c:pt idx="12">
                  <c:v>99.333333330000002</c:v>
                </c:pt>
                <c:pt idx="13">
                  <c:v>58.333333330000002</c:v>
                </c:pt>
                <c:pt idx="14">
                  <c:v>30</c:v>
                </c:pt>
                <c:pt idx="15">
                  <c:v>28.333333329999999</c:v>
                </c:pt>
                <c:pt idx="16">
                  <c:v>32.333333330000002</c:v>
                </c:pt>
                <c:pt idx="17">
                  <c:v>25</c:v>
                </c:pt>
                <c:pt idx="18">
                  <c:v>9</c:v>
                </c:pt>
                <c:pt idx="19">
                  <c:v>5</c:v>
                </c:pt>
                <c:pt idx="20">
                  <c:v>3.3333333330000001</c:v>
                </c:pt>
                <c:pt idx="21">
                  <c:v>1.6666666670000001</c:v>
                </c:pt>
                <c:pt idx="22">
                  <c:v>0.66666666669999997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4-E2A1-8E4C-883D-8E01D05FA05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128940872"/>
        <c:axId val="2129643912"/>
      </c:scatterChart>
      <c:valAx>
        <c:axId val="2128940872"/>
        <c:scaling>
          <c:orientation val="minMax"/>
          <c:max val="28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en-US" sz="800" b="0">
                    <a:solidFill>
                      <a:srgbClr val="7E8089"/>
                    </a:solidFill>
                    <a:latin typeface="Open Sans"/>
                  </a:rPr>
                  <a:t>Time (s)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>
            <a:solidFill>
              <a:srgbClr val="3B3C43"/>
            </a:solidFill>
          </a:ln>
        </c:spPr>
        <c:txPr>
          <a:bodyPr/>
          <a:lstStyle/>
          <a:p>
            <a:pPr>
              <a:defRPr sz="850">
                <a:solidFill>
                  <a:srgbClr val="B3B5BC"/>
                </a:solidFill>
              </a:defRPr>
            </a:pPr>
            <a:endParaRPr lang="en-US"/>
          </a:p>
        </c:txPr>
        <c:crossAx val="2129643912"/>
        <c:crosses val="autoZero"/>
        <c:crossBetween val="midCat"/>
        <c:majorUnit val="5"/>
      </c:valAx>
      <c:valAx>
        <c:axId val="2129643912"/>
        <c:scaling>
          <c:orientation val="minMax"/>
          <c:max val="150"/>
          <c:min val="0"/>
        </c:scaling>
        <c:delete val="0"/>
        <c:axPos val="l"/>
        <c:majorGridlines>
          <c:spPr>
            <a:ln w="6350">
              <a:solidFill>
                <a:srgbClr val="3B3C43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800" b="0">
                    <a:solidFill>
                      <a:srgbClr val="7E8089"/>
                    </a:solidFill>
                    <a:latin typeface="Open Sans"/>
                  </a:rPr>
                  <a:t>Force (N)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7E8089"/>
                </a:solidFill>
              </a:defRPr>
            </a:pPr>
            <a:endParaRPr lang="en-US"/>
          </a:p>
        </c:txPr>
        <c:crossAx val="2128940872"/>
        <c:crosses val="autoZero"/>
        <c:crossBetween val="midCat"/>
        <c:majorUnit val="25"/>
      </c:valAx>
      <c:spPr>
        <a:noFill/>
        <a:ln>
          <a:noFill/>
        </a:ln>
      </c:spPr>
    </c:plotArea>
    <c:legend>
      <c:legendPos val="t"/>
      <c:overlay val="0"/>
      <c:txPr>
        <a:bodyPr/>
        <a:lstStyle/>
        <a:p>
          <a:pPr>
            <a:defRPr sz="850">
              <a:solidFill>
                <a:srgbClr val="B3B5BC"/>
              </a:solidFill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00">
          <a:solidFill>
            <a:srgbClr val="B3B5BC"/>
          </a:solidFill>
          <a:latin typeface="Open Sans"/>
        </a:defRPr>
      </a:pPr>
      <a:endParaRPr lang="en-US"/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Force</c:v>
                </c:pt>
              </c:strCache>
            </c:strRef>
          </c:tx>
          <c:spPr>
            <a:ln w="31750">
              <a:solidFill>
                <a:srgbClr val="E0435A"/>
              </a:solidFill>
            </a:ln>
          </c:spPr>
          <c:marker>
            <c:symbol val="none"/>
          </c:marker>
          <c:xVal>
            <c:numRef>
              <c:f>Sheet1!$A$2:$A$15</c:f>
              <c:numCache>
                <c:formatCode>General</c:formatCode>
                <c:ptCount val="14"/>
                <c:pt idx="0">
                  <c:v>0</c:v>
                </c:pt>
                <c:pt idx="1">
                  <c:v>1.01</c:v>
                </c:pt>
                <c:pt idx="2">
                  <c:v>3.06</c:v>
                </c:pt>
                <c:pt idx="3">
                  <c:v>3.74</c:v>
                </c:pt>
                <c:pt idx="4">
                  <c:v>4.32</c:v>
                </c:pt>
                <c:pt idx="5">
                  <c:v>5.01</c:v>
                </c:pt>
                <c:pt idx="6">
                  <c:v>5.6499999999999995</c:v>
                </c:pt>
                <c:pt idx="7">
                  <c:v>6.1599999999999993</c:v>
                </c:pt>
                <c:pt idx="8">
                  <c:v>6.78</c:v>
                </c:pt>
                <c:pt idx="9">
                  <c:v>7.42</c:v>
                </c:pt>
                <c:pt idx="10">
                  <c:v>7.9000000000000012</c:v>
                </c:pt>
                <c:pt idx="11">
                  <c:v>8.4600000000000009</c:v>
                </c:pt>
                <c:pt idx="12">
                  <c:v>9.0399999999999991</c:v>
                </c:pt>
                <c:pt idx="13">
                  <c:v>9.59</c:v>
                </c:pt>
              </c:numCache>
            </c:numRef>
          </c:xVal>
          <c:yVal>
            <c:numRef>
              <c:f>Sheet1!$B$2:$B$15</c:f>
              <c:numCache>
                <c:formatCode>General</c:formatCode>
                <c:ptCount val="14"/>
                <c:pt idx="0">
                  <c:v>0</c:v>
                </c:pt>
                <c:pt idx="1">
                  <c:v>11.43333333</c:v>
                </c:pt>
                <c:pt idx="2">
                  <c:v>21.9</c:v>
                </c:pt>
                <c:pt idx="3">
                  <c:v>29.666666670000001</c:v>
                </c:pt>
                <c:pt idx="4">
                  <c:v>36.066666669999996</c:v>
                </c:pt>
                <c:pt idx="5">
                  <c:v>38.633333329999999</c:v>
                </c:pt>
                <c:pt idx="6">
                  <c:v>42.6</c:v>
                </c:pt>
                <c:pt idx="7">
                  <c:v>48.7</c:v>
                </c:pt>
                <c:pt idx="8">
                  <c:v>54.1</c:v>
                </c:pt>
                <c:pt idx="9">
                  <c:v>69.333333330000002</c:v>
                </c:pt>
                <c:pt idx="10">
                  <c:v>89.566666670000004</c:v>
                </c:pt>
                <c:pt idx="11">
                  <c:v>108.8</c:v>
                </c:pt>
                <c:pt idx="12">
                  <c:v>153.19999999999999</c:v>
                </c:pt>
                <c:pt idx="13">
                  <c:v>196.6333333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3241-E745-A8B3-14917F48F09B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128940872"/>
        <c:axId val="2129643912"/>
      </c:scatterChart>
      <c:valAx>
        <c:axId val="2128940872"/>
        <c:scaling>
          <c:orientation val="minMax"/>
          <c:max val="10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en-US" sz="800" b="0">
                    <a:solidFill>
                      <a:srgbClr val="7E8089"/>
                    </a:solidFill>
                    <a:latin typeface="Open Sans"/>
                  </a:rPr>
                  <a:t>Displacement (mm)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>
            <a:solidFill>
              <a:srgbClr val="3B3C43"/>
            </a:solidFill>
          </a:ln>
        </c:spPr>
        <c:txPr>
          <a:bodyPr/>
          <a:lstStyle/>
          <a:p>
            <a:pPr>
              <a:defRPr sz="850">
                <a:solidFill>
                  <a:srgbClr val="B3B5BC"/>
                </a:solidFill>
              </a:defRPr>
            </a:pPr>
            <a:endParaRPr lang="en-US"/>
          </a:p>
        </c:txPr>
        <c:crossAx val="2129643912"/>
        <c:crosses val="autoZero"/>
        <c:crossBetween val="midCat"/>
        <c:majorUnit val="1"/>
      </c:valAx>
      <c:valAx>
        <c:axId val="2129643912"/>
        <c:scaling>
          <c:orientation val="minMax"/>
          <c:max val="220"/>
          <c:min val="0"/>
        </c:scaling>
        <c:delete val="0"/>
        <c:axPos val="l"/>
        <c:majorGridlines>
          <c:spPr>
            <a:ln w="6350">
              <a:solidFill>
                <a:srgbClr val="3B3C43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800" b="0">
                    <a:solidFill>
                      <a:srgbClr val="7E8089"/>
                    </a:solidFill>
                    <a:latin typeface="Open Sans"/>
                  </a:rPr>
                  <a:t>Force (N)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7E8089"/>
                </a:solidFill>
              </a:defRPr>
            </a:pPr>
            <a:endParaRPr lang="en-US"/>
          </a:p>
        </c:txPr>
        <c:crossAx val="2128940872"/>
        <c:crosses val="autoZero"/>
        <c:crossBetween val="midCat"/>
        <c:majorUnit val="50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00">
          <a:solidFill>
            <a:srgbClr val="B3B5BC"/>
          </a:solidFill>
          <a:latin typeface="Open Sans"/>
        </a:defRPr>
      </a:pPr>
      <a:endParaRPr lang="en-US"/>
    </a:p>
  </c:tx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1"/>
  <c:lang val="en-US"/>
  <c:roundedCorners val="1"/>
  <c:style val="2"/>
  <c:chart>
    <c:autoTitleDeleted val="1"/>
    <c:plotArea>
      <c:layout/>
      <c:scatterChart>
        <c:scatterStyle val="line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Resistance</c:v>
                </c:pt>
              </c:strCache>
            </c:strRef>
          </c:tx>
          <c:spPr>
            <a:ln w="31750">
              <a:solidFill>
                <a:srgbClr val="C9CACF"/>
              </a:solidFill>
            </a:ln>
          </c:spPr>
          <c:marker>
            <c:symbol val="none"/>
          </c:marker>
          <c:xVal>
            <c:numRef>
              <c:f>Sheet1!$A$2:$A$15</c:f>
              <c:numCache>
                <c:formatCode>General</c:formatCode>
                <c:ptCount val="14"/>
                <c:pt idx="0">
                  <c:v>0</c:v>
                </c:pt>
                <c:pt idx="1">
                  <c:v>1.01</c:v>
                </c:pt>
                <c:pt idx="2">
                  <c:v>3.06</c:v>
                </c:pt>
                <c:pt idx="3">
                  <c:v>3.74</c:v>
                </c:pt>
                <c:pt idx="4">
                  <c:v>4.32</c:v>
                </c:pt>
                <c:pt idx="5">
                  <c:v>5.01</c:v>
                </c:pt>
                <c:pt idx="6">
                  <c:v>5.6499999999999995</c:v>
                </c:pt>
                <c:pt idx="7">
                  <c:v>6.1599999999999993</c:v>
                </c:pt>
                <c:pt idx="8">
                  <c:v>6.78</c:v>
                </c:pt>
                <c:pt idx="9">
                  <c:v>7.42</c:v>
                </c:pt>
                <c:pt idx="10">
                  <c:v>7.9000000000000012</c:v>
                </c:pt>
                <c:pt idx="11">
                  <c:v>8.4600000000000009</c:v>
                </c:pt>
                <c:pt idx="12">
                  <c:v>9.0399999999999991</c:v>
                </c:pt>
                <c:pt idx="13">
                  <c:v>9.59</c:v>
                </c:pt>
              </c:numCache>
            </c:numRef>
          </c:xVal>
          <c:yVal>
            <c:numRef>
              <c:f>Sheet1!$B$2:$B$15</c:f>
              <c:numCache>
                <c:formatCode>General</c:formatCode>
                <c:ptCount val="14"/>
                <c:pt idx="0">
                  <c:v>0.89933333329999998</c:v>
                </c:pt>
                <c:pt idx="1">
                  <c:v>0.8458</c:v>
                </c:pt>
                <c:pt idx="2">
                  <c:v>0.55626666670000002</c:v>
                </c:pt>
                <c:pt idx="3">
                  <c:v>0.60663333330000002</c:v>
                </c:pt>
                <c:pt idx="4">
                  <c:v>0.53196666670000003</c:v>
                </c:pt>
                <c:pt idx="5">
                  <c:v>0.53183333330000004</c:v>
                </c:pt>
                <c:pt idx="6">
                  <c:v>0.54146666669999999</c:v>
                </c:pt>
                <c:pt idx="7">
                  <c:v>0.54613333330000002</c:v>
                </c:pt>
                <c:pt idx="8">
                  <c:v>0.54956666669999998</c:v>
                </c:pt>
                <c:pt idx="9">
                  <c:v>0.54959999999999998</c:v>
                </c:pt>
                <c:pt idx="10">
                  <c:v>0.58306666669999996</c:v>
                </c:pt>
                <c:pt idx="11">
                  <c:v>0.56146666670000001</c:v>
                </c:pt>
                <c:pt idx="12">
                  <c:v>0.51266666670000005</c:v>
                </c:pt>
                <c:pt idx="13">
                  <c:v>0.46563333330000001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8A2F-8344-B2D2-5D8FDDAA16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2128940872"/>
        <c:axId val="2129643912"/>
      </c:scatterChart>
      <c:valAx>
        <c:axId val="2128940872"/>
        <c:scaling>
          <c:orientation val="minMax"/>
          <c:max val="10"/>
          <c:min val="0"/>
        </c:scaling>
        <c:delete val="0"/>
        <c:axPos val="b"/>
        <c:title>
          <c:tx>
            <c:rich>
              <a:bodyPr/>
              <a:lstStyle/>
              <a:p>
                <a:r>
                  <a:rPr lang="en-US" sz="800" b="0">
                    <a:solidFill>
                      <a:srgbClr val="7E8089"/>
                    </a:solidFill>
                    <a:latin typeface="Open Sans"/>
                  </a:rPr>
                  <a:t>Displacement (mm)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>
            <a:solidFill>
              <a:srgbClr val="3B3C43"/>
            </a:solidFill>
          </a:ln>
        </c:spPr>
        <c:txPr>
          <a:bodyPr/>
          <a:lstStyle/>
          <a:p>
            <a:pPr>
              <a:defRPr sz="850">
                <a:solidFill>
                  <a:srgbClr val="B3B5BC"/>
                </a:solidFill>
              </a:defRPr>
            </a:pPr>
            <a:endParaRPr lang="en-US"/>
          </a:p>
        </c:txPr>
        <c:crossAx val="2129643912"/>
        <c:crosses val="autoZero"/>
        <c:crossBetween val="midCat"/>
        <c:majorUnit val="1"/>
      </c:valAx>
      <c:valAx>
        <c:axId val="2129643912"/>
        <c:scaling>
          <c:orientation val="minMax"/>
          <c:max val="1"/>
          <c:min val="0"/>
        </c:scaling>
        <c:delete val="0"/>
        <c:axPos val="l"/>
        <c:majorGridlines>
          <c:spPr>
            <a:ln w="6350">
              <a:solidFill>
                <a:srgbClr val="3B3C43"/>
              </a:solidFill>
            </a:ln>
          </c:spPr>
        </c:majorGridlines>
        <c:title>
          <c:tx>
            <c:rich>
              <a:bodyPr/>
              <a:lstStyle/>
              <a:p>
                <a:r>
                  <a:rPr lang="en-US" sz="800" b="0">
                    <a:solidFill>
                      <a:srgbClr val="7E8089"/>
                    </a:solidFill>
                    <a:latin typeface="Open Sans"/>
                  </a:rPr>
                  <a:t>Resistance (M</a:t>
                </a:r>
                <a:r>
                  <a:rPr lang="el-GR" sz="800" b="0">
                    <a:solidFill>
                      <a:srgbClr val="7E8089"/>
                    </a:solidFill>
                    <a:latin typeface="Open Sans"/>
                  </a:rPr>
                  <a:t>Ω)</a:t>
                </a:r>
              </a:p>
            </c:rich>
          </c:tx>
          <c:overlay val="0"/>
        </c:title>
        <c:numFmt formatCode="General" sourceLinked="1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800">
                <a:solidFill>
                  <a:srgbClr val="7E8089"/>
                </a:solidFill>
              </a:defRPr>
            </a:pPr>
            <a:endParaRPr lang="en-US"/>
          </a:p>
        </c:txPr>
        <c:crossAx val="2128940872"/>
        <c:crosses val="autoZero"/>
        <c:crossBetween val="midCat"/>
        <c:majorUnit val="0.25"/>
      </c:valAx>
      <c:spPr>
        <a:noFill/>
        <a:ln>
          <a:noFill/>
        </a:ln>
      </c:spPr>
    </c:plotArea>
    <c:plotVisOnly val="1"/>
    <c:dispBlanksAs val="gap"/>
    <c:showDLblsOverMax val="0"/>
  </c:chart>
  <c:spPr>
    <a:noFill/>
    <a:ln>
      <a:noFill/>
    </a:ln>
  </c:spPr>
  <c:txPr>
    <a:bodyPr/>
    <a:lstStyle/>
    <a:p>
      <a:pPr>
        <a:defRPr sz="900">
          <a:solidFill>
            <a:srgbClr val="B3B5BC"/>
          </a:solidFill>
          <a:latin typeface="Open Sans"/>
        </a:defRPr>
      </a:pPr>
      <a:endParaRPr lang="en-US"/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33918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  <a:p>
            <a:r>
              <a:t>[Sources]</a:t>
            </a:r>
          </a:p>
          <a:p>
            <a:r>
              <a:t>Image: AI-generated conceptual research-lab illustration, created for this slide. Does not depict the actual camp, lab or named participants.</a:t>
            </a:r>
          </a:p>
          <a:p>
            <a:r>
              <a:t>[/Sources]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VBR Full Bleed">
    <p:spTree>
      <p:nvGrpSpPr>
        <p:cNvPr id="1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"/>
          <p:cNvSpPr>
            <a:spLocks noGrp="1"/>
          </p:cNvSpPr>
          <p:nvPr>
            <p:ph type="title"/>
          </p:nvPr>
        </p:nvSpPr>
        <p:spPr>
          <a:xfrm>
            <a:off x="685800" y="896112"/>
            <a:ext cx="7772400" cy="566928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algn="l">
              <a:lnSpc>
                <a:spcPct val="95000"/>
              </a:lnSpc>
              <a:defRPr sz="2600" b="0">
                <a:solidFill>
                  <a:srgbClr val="FFFFFF"/>
                </a:solidFill>
                <a:latin typeface="Kanit"/>
              </a:defRPr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VBR Content"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Circuit traces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11" name="Slide number tab"/>
          <p:cNvSpPr/>
          <p:nvPr userDrawn="1"/>
        </p:nvSpPr>
        <p:spPr>
          <a:xfrm>
            <a:off x="411480" y="0"/>
            <a:ext cx="475488" cy="530352"/>
          </a:xfrm>
          <a:prstGeom prst="rect">
            <a:avLst/>
          </a:prstGeom>
          <a:gradFill rotWithShape="1">
            <a:gsLst>
              <a:gs pos="0">
                <a:srgbClr val="B81E34"/>
              </a:gs>
              <a:gs pos="100000">
                <a:srgbClr val="8F1427"/>
              </a:gs>
            </a:gsLst>
            <a:lin ang="5400000" scaled="0"/>
          </a:gradFill>
          <a:ln>
            <a:noFill/>
          </a:ln>
        </p:spPr>
        <p:txBody>
          <a:bodyPr lIns="0" tIns="0" rIns="0" bIns="45720" anchor="b"/>
          <a:lstStyle/>
          <a:p>
            <a:pPr algn="ctr"/>
            <a:fld id="{B6F15528-21DE-4FAA-801E-634DDDAF4B2B}" type="slidenum">
              <a:rPr lang="en-US" sz="1400" b="0">
                <a:solidFill>
                  <a:srgbClr val="FFFFFF"/>
                </a:solidFill>
                <a:latin typeface="Kanit"/>
              </a:rPr>
              <a:t>‹#›</a:t>
            </a:fld>
            <a:endParaRPr lang="en-US" sz="1400" b="0">
              <a:solidFill>
                <a:srgbClr val="FFFFFF"/>
              </a:solidFill>
              <a:latin typeface="Kanit"/>
            </a:endParaRPr>
          </a:p>
        </p:txBody>
      </p:sp>
      <p:sp>
        <p:nvSpPr>
          <p:cNvPr id="12" name="Footer"/>
          <p:cNvSpPr txBox="1"/>
          <p:nvPr userDrawn="1"/>
        </p:nvSpPr>
        <p:spPr>
          <a:xfrm>
            <a:off x="685800" y="4791456"/>
            <a:ext cx="4572000" cy="182880"/>
          </a:xfrm>
          <a:prstGeom prst="rect">
            <a:avLst/>
          </a:prstGeom>
          <a:noFill/>
        </p:spPr>
        <p:txBody>
          <a:bodyPr lIns="0" tIns="0" rIns="0" bIns="0" anchor="t"/>
          <a:lstStyle/>
          <a:p>
            <a:r>
              <a:rPr lang="en-US" sz="700" b="0" spc="200">
                <a:solidFill>
                  <a:srgbClr val="E0435A"/>
                </a:solidFill>
                <a:latin typeface="Open Sans"/>
              </a:rPr>
              <a:t>VBR MECHANICAL TEAM   ·   SDSU YANG LAB</a:t>
            </a:r>
          </a:p>
        </p:txBody>
      </p:sp>
      <p:sp>
        <p:nvSpPr>
          <p:cNvPr id="13" name="Title"/>
          <p:cNvSpPr>
            <a:spLocks noGrp="1"/>
          </p:cNvSpPr>
          <p:nvPr>
            <p:ph type="title"/>
          </p:nvPr>
        </p:nvSpPr>
        <p:spPr>
          <a:xfrm>
            <a:off x="685800" y="896112"/>
            <a:ext cx="7772400" cy="566928"/>
          </a:xfrm>
          <a:prstGeom prst="rect">
            <a:avLst/>
          </a:prstGeom>
        </p:spPr>
        <p:txBody>
          <a:bodyPr wrap="square" lIns="0" tIns="0" rIns="0" bIns="0" anchor="t">
            <a:noAutofit/>
          </a:bodyPr>
          <a:lstStyle>
            <a:lvl1pPr algn="l">
              <a:lnSpc>
                <a:spcPct val="95000"/>
              </a:lnSpc>
              <a:defRPr sz="2600" b="0">
                <a:solidFill>
                  <a:srgbClr val="FFFFFF"/>
                </a:solidFill>
                <a:latin typeface="Kanit"/>
              </a:defRPr>
            </a:lvl1pPr>
          </a:lstStyle>
          <a:p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 rotWithShape="1">
          <a:gsLst>
            <a:gs pos="0">
              <a:srgbClr val="0C0C0E"/>
            </a:gs>
            <a:gs pos="100000">
              <a:srgbClr val="222226"/>
            </a:gs>
          </a:gsLst>
          <a:lin ang="2700000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Kanit"/>
              <a:buNone/>
              <a:defRPr sz="3500">
                <a:solidFill>
                  <a:schemeClr val="dk1"/>
                </a:solidFill>
                <a:latin typeface="Kanit"/>
                <a:ea typeface="Kanit"/>
                <a:cs typeface="Kanit"/>
                <a:sym typeface="Kanit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Kanit"/>
              <a:buNone/>
              <a:defRPr sz="3500">
                <a:solidFill>
                  <a:schemeClr val="dk1"/>
                </a:solidFill>
                <a:latin typeface="Kanit"/>
                <a:ea typeface="Kanit"/>
                <a:cs typeface="Kanit"/>
                <a:sym typeface="Kanit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Kanit"/>
              <a:buNone/>
              <a:defRPr sz="3500">
                <a:solidFill>
                  <a:schemeClr val="dk1"/>
                </a:solidFill>
                <a:latin typeface="Kanit"/>
                <a:ea typeface="Kanit"/>
                <a:cs typeface="Kanit"/>
                <a:sym typeface="Kanit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Kanit"/>
              <a:buNone/>
              <a:defRPr sz="3500">
                <a:solidFill>
                  <a:schemeClr val="dk1"/>
                </a:solidFill>
                <a:latin typeface="Kanit"/>
                <a:ea typeface="Kanit"/>
                <a:cs typeface="Kanit"/>
                <a:sym typeface="Kanit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Kanit"/>
              <a:buNone/>
              <a:defRPr sz="3500">
                <a:solidFill>
                  <a:schemeClr val="dk1"/>
                </a:solidFill>
                <a:latin typeface="Kanit"/>
                <a:ea typeface="Kanit"/>
                <a:cs typeface="Kanit"/>
                <a:sym typeface="Kanit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Kanit"/>
              <a:buNone/>
              <a:defRPr sz="3500">
                <a:solidFill>
                  <a:schemeClr val="dk1"/>
                </a:solidFill>
                <a:latin typeface="Kanit"/>
                <a:ea typeface="Kanit"/>
                <a:cs typeface="Kanit"/>
                <a:sym typeface="Kanit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Kanit"/>
              <a:buNone/>
              <a:defRPr sz="3500">
                <a:solidFill>
                  <a:schemeClr val="dk1"/>
                </a:solidFill>
                <a:latin typeface="Kanit"/>
                <a:ea typeface="Kanit"/>
                <a:cs typeface="Kanit"/>
                <a:sym typeface="Kanit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Kanit"/>
              <a:buNone/>
              <a:defRPr sz="3500">
                <a:solidFill>
                  <a:schemeClr val="dk1"/>
                </a:solidFill>
                <a:latin typeface="Kanit"/>
                <a:ea typeface="Kanit"/>
                <a:cs typeface="Kanit"/>
                <a:sym typeface="Kanit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500"/>
              <a:buFont typeface="Kanit"/>
              <a:buNone/>
              <a:defRPr sz="3500">
                <a:solidFill>
                  <a:schemeClr val="dk1"/>
                </a:solidFill>
                <a:latin typeface="Kanit"/>
                <a:ea typeface="Kanit"/>
                <a:cs typeface="Kanit"/>
                <a:sym typeface="Kanit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457200" lvl="0" indent="-30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1pPr>
            <a:lvl2pPr marL="914400" lvl="1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2pPr>
            <a:lvl3pPr marL="1371600" lvl="2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3pPr>
            <a:lvl4pPr marL="1828800" lvl="3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4pPr>
            <a:lvl5pPr marL="2286000" lvl="4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5pPr>
            <a:lvl6pPr marL="2743200" lvl="5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■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6pPr>
            <a:lvl7pPr marL="3200400" lvl="6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●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7pPr>
            <a:lvl8pPr marL="3657600" lvl="7" indent="-304800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Open Sans"/>
              <a:buChar char="○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8pPr>
            <a:lvl9pPr marL="4114800" lvl="8" indent="-304800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200"/>
              <a:buFont typeface="Open Sans"/>
              <a:buChar char="■"/>
              <a:defRPr sz="12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28909" y="338201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buNone/>
              <a:defRPr sz="1300" b="1">
                <a:solidFill>
                  <a:schemeClr val="dk1"/>
                </a:solidFill>
                <a:latin typeface="Kanit"/>
                <a:ea typeface="Kanit"/>
                <a:cs typeface="Kanit"/>
                <a:sym typeface="Kanit"/>
              </a:defRPr>
            </a:lvl1pPr>
            <a:lvl2pPr lvl="1">
              <a:buNone/>
              <a:defRPr sz="1300" b="1">
                <a:solidFill>
                  <a:schemeClr val="dk1"/>
                </a:solidFill>
                <a:latin typeface="Kanit"/>
                <a:ea typeface="Kanit"/>
                <a:cs typeface="Kanit"/>
                <a:sym typeface="Kanit"/>
              </a:defRPr>
            </a:lvl2pPr>
            <a:lvl3pPr lvl="2">
              <a:buNone/>
              <a:defRPr sz="1300" b="1">
                <a:solidFill>
                  <a:schemeClr val="dk1"/>
                </a:solidFill>
                <a:latin typeface="Kanit"/>
                <a:ea typeface="Kanit"/>
                <a:cs typeface="Kanit"/>
                <a:sym typeface="Kanit"/>
              </a:defRPr>
            </a:lvl3pPr>
            <a:lvl4pPr lvl="3">
              <a:buNone/>
              <a:defRPr sz="1300" b="1">
                <a:solidFill>
                  <a:schemeClr val="dk1"/>
                </a:solidFill>
                <a:latin typeface="Kanit"/>
                <a:ea typeface="Kanit"/>
                <a:cs typeface="Kanit"/>
                <a:sym typeface="Kanit"/>
              </a:defRPr>
            </a:lvl4pPr>
            <a:lvl5pPr lvl="4">
              <a:buNone/>
              <a:defRPr sz="1300" b="1">
                <a:solidFill>
                  <a:schemeClr val="dk1"/>
                </a:solidFill>
                <a:latin typeface="Kanit"/>
                <a:ea typeface="Kanit"/>
                <a:cs typeface="Kanit"/>
                <a:sym typeface="Kanit"/>
              </a:defRPr>
            </a:lvl5pPr>
            <a:lvl6pPr lvl="5">
              <a:buNone/>
              <a:defRPr sz="1300" b="1">
                <a:solidFill>
                  <a:schemeClr val="dk1"/>
                </a:solidFill>
                <a:latin typeface="Kanit"/>
                <a:ea typeface="Kanit"/>
                <a:cs typeface="Kanit"/>
                <a:sym typeface="Kanit"/>
              </a:defRPr>
            </a:lvl6pPr>
            <a:lvl7pPr lvl="6">
              <a:buNone/>
              <a:defRPr sz="1300" b="1">
                <a:solidFill>
                  <a:schemeClr val="dk1"/>
                </a:solidFill>
                <a:latin typeface="Kanit"/>
                <a:ea typeface="Kanit"/>
                <a:cs typeface="Kanit"/>
                <a:sym typeface="Kanit"/>
              </a:defRPr>
            </a:lvl7pPr>
            <a:lvl8pPr lvl="7">
              <a:buNone/>
              <a:defRPr sz="1300" b="1">
                <a:solidFill>
                  <a:schemeClr val="dk1"/>
                </a:solidFill>
                <a:latin typeface="Kanit"/>
                <a:ea typeface="Kanit"/>
                <a:cs typeface="Kanit"/>
                <a:sym typeface="Kanit"/>
              </a:defRPr>
            </a:lvl8pPr>
            <a:lvl9pPr lvl="8">
              <a:buNone/>
              <a:defRPr sz="1300" b="1">
                <a:solidFill>
                  <a:schemeClr val="dk1"/>
                </a:solidFill>
                <a:latin typeface="Kanit"/>
                <a:ea typeface="Kanit"/>
                <a:cs typeface="Kanit"/>
                <a:sym typeface="Kanit"/>
              </a:defRPr>
            </a:lvl9pPr>
          </a:lstStyle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56" r:id="rId1"/>
    <p:sldLayoutId id="2147483658" r:id="rId2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4" Type="http://schemas.openxmlformats.org/officeDocument/2006/relationships/image" Target="../media/image9.jp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jpg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chart" Target="../charts/chart4.xml"/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6.xml"/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chart" Target="../charts/chart8.xml"/><Relationship Id="rId2" Type="http://schemas.openxmlformats.org/officeDocument/2006/relationships/chart" Target="../charts/chart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jp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g"/><Relationship Id="rId2" Type="http://schemas.openxmlformats.org/officeDocument/2006/relationships/chart" Target="../charts/chart9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0.xml"/><Relationship Id="rId2" Type="http://schemas.openxmlformats.org/officeDocument/2006/relationships/image" Target="../media/image26.jpg"/><Relationship Id="rId1" Type="http://schemas.openxmlformats.org/officeDocument/2006/relationships/slideLayout" Target="../slideLayouts/slideLayout2.xml"/><Relationship Id="rId4" Type="http://schemas.openxmlformats.org/officeDocument/2006/relationships/chart" Target="../charts/chart1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9.sv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jp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jpe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5.jpeg"/><Relationship Id="rId5" Type="http://schemas.openxmlformats.org/officeDocument/2006/relationships/image" Target="../media/image34.jpg"/><Relationship Id="rId4" Type="http://schemas.openxmlformats.org/officeDocument/2006/relationships/image" Target="../media/image33.jpe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9.png"/><Relationship Id="rId4" Type="http://schemas.openxmlformats.org/officeDocument/2006/relationships/image" Target="../media/image3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1.jp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 circle"/>
          <p:cNvSpPr/>
          <p:nvPr/>
        </p:nvSpPr>
        <p:spPr>
          <a:xfrm>
            <a:off x="4919870" y="763325"/>
            <a:ext cx="3986784" cy="3986784"/>
          </a:xfrm>
          <a:prstGeom prst="ellipse">
            <a:avLst/>
          </a:prstGeom>
          <a:noFill/>
          <a:ln w="15875">
            <a:solidFill>
              <a:srgbClr val="3B3C43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Accent circle"/>
          <p:cNvSpPr/>
          <p:nvPr/>
        </p:nvSpPr>
        <p:spPr>
          <a:xfrm>
            <a:off x="5267342" y="1110798"/>
            <a:ext cx="3291840" cy="3291840"/>
          </a:xfrm>
          <a:prstGeom prst="ellipse">
            <a:avLst/>
          </a:prstGeom>
          <a:solidFill>
            <a:srgbClr val="A6192E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85800" y="1005840"/>
            <a:ext cx="4572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spc="200" dirty="0">
                <a:solidFill>
                  <a:srgbClr val="E0435A"/>
                </a:solidFill>
                <a:latin typeface="Open Sans"/>
              </a:rPr>
              <a:t>VBR RESEARCH CAMP 2026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3090672"/>
            <a:ext cx="4389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E0435A"/>
                </a:solidFill>
                <a:latin typeface="Kanit"/>
              </a:rPr>
              <a:t>Bio-inspired, self-sensing 3D-printed armor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85800" y="3474720"/>
            <a:ext cx="4114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0">
                <a:solidFill>
                  <a:srgbClr val="B3B5BC"/>
                </a:solidFill>
                <a:latin typeface="Open Sans"/>
              </a:rPr>
              <a:t>Lattices modeled on the deep-sea glass sponge and the mantis shrimp, printed in conductive carbon-black PLA and TPU.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4041648"/>
            <a:ext cx="43891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1">
                <a:solidFill>
                  <a:srgbClr val="B3B5BC"/>
                </a:solidFill>
                <a:latin typeface="Open Sans"/>
              </a:rPr>
              <a:t>VBR Mechanical Engineering Team</a:t>
            </a:r>
            <a:r>
              <a:rPr sz="850" b="0">
                <a:solidFill>
                  <a:srgbClr val="B3B5BC"/>
                </a:solidFill>
                <a:latin typeface="Open Sans"/>
              </a:rPr>
              <a:t>  ·  Emmet, Raina, Jayden, Jaycen &amp; Peggy</a:t>
            </a:r>
          </a:p>
        </p:txBody>
      </p:sp>
      <p:sp>
        <p:nvSpPr>
          <p:cNvPr id="12" name="Logo chip"/>
          <p:cNvSpPr/>
          <p:nvPr/>
        </p:nvSpPr>
        <p:spPr>
          <a:xfrm>
            <a:off x="685800" y="4370832"/>
            <a:ext cx="320717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3" name="Logo" descr="sdsu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8680" y="4462272"/>
            <a:ext cx="822959" cy="274320"/>
          </a:xfrm>
          <a:prstGeom prst="rect">
            <a:avLst/>
          </a:prstGeom>
        </p:spPr>
      </p:pic>
      <p:pic>
        <p:nvPicPr>
          <p:cNvPr id="14" name="Logo" descr="logo-yanglab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56231" y="4462272"/>
            <a:ext cx="892551" cy="274320"/>
          </a:xfrm>
          <a:prstGeom prst="rect">
            <a:avLst/>
          </a:prstGeom>
        </p:spPr>
      </p:pic>
      <p:pic>
        <p:nvPicPr>
          <p:cNvPr id="15" name="Logo" descr="vb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913375" y="4462272"/>
            <a:ext cx="796715" cy="27432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280160"/>
            <a:ext cx="4572000" cy="1691640"/>
          </a:xfrm>
        </p:spPr>
        <p:txBody>
          <a:bodyPr/>
          <a:lstStyle/>
          <a:p>
            <a:r>
              <a:rPr sz="3100" b="0">
                <a:solidFill>
                  <a:srgbClr val="FFFFFF"/>
                </a:solidFill>
                <a:latin typeface="Kanit"/>
              </a:rPr>
              <a:t>Teaching Armor to Feel Its Own Damage</a:t>
            </a:r>
          </a:p>
        </p:txBody>
      </p:sp>
      <p:pic>
        <p:nvPicPr>
          <p:cNvPr id="20" name="Picture 19">
            <a:extLst>
              <a:ext uri="{FF2B5EF4-FFF2-40B4-BE49-F238E27FC236}">
                <a16:creationId xmlns:a16="http://schemas.microsoft.com/office/drawing/2014/main" id="{BCBE3725-4122-D5B4-CE91-9363A45225EF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/>
          <a:stretch/>
        </p:blipFill>
        <p:spPr>
          <a:xfrm>
            <a:off x="5212080" y="923544"/>
            <a:ext cx="3419856" cy="3419856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676656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spc="200">
                <a:solidFill>
                  <a:srgbClr val="E0435A"/>
                </a:solidFill>
                <a:latin typeface="Open Sans"/>
              </a:rPr>
              <a:t>MEET OUR MENTOR</a:t>
            </a:r>
          </a:p>
        </p:txBody>
      </p:sp>
      <p:sp>
        <p:nvSpPr>
          <p:cNvPr id="4" name="Accent circle"/>
          <p:cNvSpPr/>
          <p:nvPr/>
        </p:nvSpPr>
        <p:spPr>
          <a:xfrm>
            <a:off x="1440180" y="1344167"/>
            <a:ext cx="1463040" cy="1463040"/>
          </a:xfrm>
          <a:prstGeom prst="ellipse">
            <a:avLst/>
          </a:prstGeom>
          <a:solidFill>
            <a:srgbClr val="A6192E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Dr. Yang" descr="yang-headsho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45920"/>
            <a:ext cx="1737360" cy="17373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3520440"/>
            <a:ext cx="210312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Kanit"/>
              </a:rPr>
              <a:t>Dr. Yang Yang</a:t>
            </a:r>
          </a:p>
          <a:p>
            <a:pPr algn="l">
              <a:spcAft>
                <a:spcPts val="400"/>
              </a:spcAft>
            </a:pPr>
            <a:r>
              <a:rPr sz="850" b="0">
                <a:solidFill>
                  <a:srgbClr val="B3B5BC"/>
                </a:solidFill>
                <a:latin typeface="Open Sans"/>
              </a:rPr>
              <a:t>Associate Professor of Mechanical Engineering, San Diego State University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1600200"/>
            <a:ext cx="2606040" cy="23774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spc="200">
                <a:solidFill>
                  <a:srgbClr val="E0435A"/>
                </a:solidFill>
                <a:latin typeface="Open Sans"/>
              </a:rPr>
              <a:t>BACKGROUND</a:t>
            </a:r>
          </a:p>
          <a:p>
            <a:pPr marL="155448" indent="-155448" algn="l">
              <a:spcAft>
                <a:spcPts val="400"/>
              </a:spcAft>
              <a:buClr>
                <a:srgbClr val="E0435A"/>
              </a:buClr>
              <a:buFont typeface="Arial"/>
              <a:buChar char="•"/>
            </a:pPr>
            <a:r>
              <a:rPr sz="950" b="0">
                <a:solidFill>
                  <a:srgbClr val="FFFFFF"/>
                </a:solidFill>
                <a:latin typeface="Open Sans"/>
              </a:rPr>
              <a:t>Ph.D. in Physics &amp; Bioengineering, Wuhan University and UCLA (2015)</a:t>
            </a:r>
          </a:p>
          <a:p>
            <a:pPr marL="155448" indent="-155448" algn="l">
              <a:spcAft>
                <a:spcPts val="400"/>
              </a:spcAft>
              <a:buClr>
                <a:srgbClr val="E0435A"/>
              </a:buClr>
              <a:buFont typeface="Arial"/>
              <a:buChar char="•"/>
            </a:pPr>
            <a:r>
              <a:rPr sz="950" b="0">
                <a:solidFill>
                  <a:srgbClr val="FFFFFF"/>
                </a:solidFill>
                <a:latin typeface="Open Sans"/>
              </a:rPr>
              <a:t>Postdoc at the USC Center for Advanced Manufacturing</a:t>
            </a:r>
          </a:p>
          <a:p>
            <a:pPr marL="155448" indent="-155448" algn="l">
              <a:spcAft>
                <a:spcPts val="400"/>
              </a:spcAft>
              <a:buClr>
                <a:srgbClr val="E0435A"/>
              </a:buClr>
              <a:buFont typeface="Arial"/>
              <a:buChar char="•"/>
            </a:pPr>
            <a:r>
              <a:rPr sz="950" b="0">
                <a:solidFill>
                  <a:srgbClr val="FFFFFF"/>
                </a:solidFill>
                <a:latin typeface="Open Sans"/>
              </a:rPr>
              <a:t>75+ peer-reviewed papers, including Science Advances and Nature Communications</a:t>
            </a:r>
          </a:p>
          <a:p>
            <a:pPr algn="l">
              <a:spcAft>
                <a:spcPts val="400"/>
              </a:spcAft>
            </a:pPr>
            <a:r>
              <a:rPr sz="850" b="0" spc="200">
                <a:solidFill>
                  <a:srgbClr val="E0435A"/>
                </a:solidFill>
                <a:latin typeface="Open Sans"/>
              </a:rPr>
              <a:t>RECENT AWARDS</a:t>
            </a:r>
          </a:p>
          <a:p>
            <a:pPr marL="155448" indent="-155448" algn="l">
              <a:spcAft>
                <a:spcPts val="400"/>
              </a:spcAft>
              <a:buClr>
                <a:srgbClr val="E0435A"/>
              </a:buClr>
              <a:buFont typeface="Arial"/>
              <a:buChar char="•"/>
            </a:pPr>
            <a:r>
              <a:rPr sz="950" b="0">
                <a:solidFill>
                  <a:srgbClr val="FFFFFF"/>
                </a:solidFill>
                <a:latin typeface="Open Sans"/>
              </a:rPr>
              <a:t>NSF CAREER Award (2025)</a:t>
            </a:r>
          </a:p>
          <a:p>
            <a:pPr marL="155448" indent="-155448" algn="l">
              <a:spcAft>
                <a:spcPts val="400"/>
              </a:spcAft>
              <a:buClr>
                <a:srgbClr val="E0435A"/>
              </a:buClr>
              <a:buFont typeface="Arial"/>
              <a:buChar char="•"/>
            </a:pPr>
            <a:r>
              <a:rPr sz="950" b="0">
                <a:solidFill>
                  <a:srgbClr val="FFFFFF"/>
                </a:solidFill>
                <a:latin typeface="Open Sans"/>
              </a:rPr>
              <a:t>ASME Rising Star in Mechanical Engineering (2025)</a:t>
            </a:r>
          </a:p>
          <a:p>
            <a:pPr marL="155448" indent="-155448" algn="l">
              <a:spcAft>
                <a:spcPts val="400"/>
              </a:spcAft>
              <a:buClr>
                <a:srgbClr val="E0435A"/>
              </a:buClr>
              <a:buFont typeface="Arial"/>
              <a:buChar char="•"/>
            </a:pPr>
            <a:r>
              <a:rPr sz="950" b="0">
                <a:solidFill>
                  <a:srgbClr val="FFFFFF"/>
                </a:solidFill>
                <a:latin typeface="Open Sans"/>
              </a:rPr>
              <a:t>SME Outstanding Young Manufacturing Engineer (2022)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52160" y="1600200"/>
            <a:ext cx="27432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spc="200">
                <a:solidFill>
                  <a:srgbClr val="E0435A"/>
                </a:solidFill>
                <a:latin typeface="Open Sans"/>
              </a:rPr>
              <a:t>THE LAB · BIOINSPIRED 3D PRINTING</a:t>
            </a:r>
          </a:p>
        </p:txBody>
      </p:sp>
      <p:sp>
        <p:nvSpPr>
          <p:cNvPr id="9" name="Bioinspired structures"/>
          <p:cNvSpPr/>
          <p:nvPr/>
        </p:nvSpPr>
        <p:spPr>
          <a:xfrm>
            <a:off x="5852160" y="1874519"/>
            <a:ext cx="1234440" cy="932688"/>
          </a:xfrm>
          <a:prstGeom prst="rect">
            <a:avLst/>
          </a:prstGeom>
          <a:solidFill>
            <a:srgbClr val="27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Accent"/>
          <p:cNvSpPr/>
          <p:nvPr/>
        </p:nvSpPr>
        <p:spPr>
          <a:xfrm>
            <a:off x="5852160" y="1874519"/>
            <a:ext cx="54864" cy="932688"/>
          </a:xfrm>
          <a:prstGeom prst="rect">
            <a:avLst/>
          </a:prstGeom>
          <a:solidFill>
            <a:srgbClr val="E04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5998464" y="1975103"/>
            <a:ext cx="1024128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Kanit"/>
              </a:rPr>
              <a:t>Bioinspired structures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B3B5BC"/>
                </a:solidFill>
                <a:latin typeface="Open Sans"/>
              </a:rPr>
              <a:t>Nacre, lobster-claw and cuttlebone-inspired armor</a:t>
            </a:r>
          </a:p>
        </p:txBody>
      </p:sp>
      <p:sp>
        <p:nvSpPr>
          <p:cNvPr id="12" name="Robotics &amp; wearables"/>
          <p:cNvSpPr/>
          <p:nvPr/>
        </p:nvSpPr>
        <p:spPr>
          <a:xfrm>
            <a:off x="7178040" y="1874519"/>
            <a:ext cx="1234440" cy="932688"/>
          </a:xfrm>
          <a:prstGeom prst="rect">
            <a:avLst/>
          </a:prstGeom>
          <a:solidFill>
            <a:srgbClr val="27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Accent"/>
          <p:cNvSpPr/>
          <p:nvPr/>
        </p:nvSpPr>
        <p:spPr>
          <a:xfrm>
            <a:off x="7178040" y="1874519"/>
            <a:ext cx="54864" cy="932688"/>
          </a:xfrm>
          <a:prstGeom prst="rect">
            <a:avLst/>
          </a:prstGeom>
          <a:solidFill>
            <a:srgbClr val="E04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7324344" y="1975103"/>
            <a:ext cx="1024128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Kanit"/>
              </a:rPr>
              <a:t>Robotics &amp; wearables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B3B5BC"/>
                </a:solidFill>
                <a:latin typeface="Open Sans"/>
              </a:rPr>
              <a:t>Star-nose-inspired stretchable skin sensors</a:t>
            </a:r>
          </a:p>
        </p:txBody>
      </p:sp>
      <p:sp>
        <p:nvSpPr>
          <p:cNvPr id="15" name="Biomedical"/>
          <p:cNvSpPr/>
          <p:nvPr/>
        </p:nvSpPr>
        <p:spPr>
          <a:xfrm>
            <a:off x="5852160" y="2898648"/>
            <a:ext cx="1234440" cy="932688"/>
          </a:xfrm>
          <a:prstGeom prst="rect">
            <a:avLst/>
          </a:prstGeom>
          <a:solidFill>
            <a:srgbClr val="27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Accent"/>
          <p:cNvSpPr/>
          <p:nvPr/>
        </p:nvSpPr>
        <p:spPr>
          <a:xfrm>
            <a:off x="5852160" y="2898648"/>
            <a:ext cx="54864" cy="932688"/>
          </a:xfrm>
          <a:prstGeom prst="rect">
            <a:avLst/>
          </a:prstGeom>
          <a:solidFill>
            <a:srgbClr val="E04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998464" y="2999232"/>
            <a:ext cx="1024128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Kanit"/>
              </a:rPr>
              <a:t>Biomedical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B3B5BC"/>
                </a:solidFill>
                <a:latin typeface="Open Sans"/>
              </a:rPr>
              <a:t>3D-printed bone implants, painless microneedles</a:t>
            </a:r>
          </a:p>
        </p:txBody>
      </p:sp>
      <p:sp>
        <p:nvSpPr>
          <p:cNvPr id="18" name="Environmental"/>
          <p:cNvSpPr/>
          <p:nvPr/>
        </p:nvSpPr>
        <p:spPr>
          <a:xfrm>
            <a:off x="7178040" y="2898648"/>
            <a:ext cx="1234440" cy="932688"/>
          </a:xfrm>
          <a:prstGeom prst="rect">
            <a:avLst/>
          </a:prstGeom>
          <a:solidFill>
            <a:srgbClr val="27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Accent"/>
          <p:cNvSpPr/>
          <p:nvPr/>
        </p:nvSpPr>
        <p:spPr>
          <a:xfrm>
            <a:off x="7178040" y="2898648"/>
            <a:ext cx="54864" cy="932688"/>
          </a:xfrm>
          <a:prstGeom prst="rect">
            <a:avLst/>
          </a:prstGeom>
          <a:solidFill>
            <a:srgbClr val="E04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7324344" y="2999232"/>
            <a:ext cx="1024128" cy="7772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FFFFFF"/>
                </a:solidFill>
                <a:latin typeface="Kanit"/>
              </a:rPr>
              <a:t>Environmental</a:t>
            </a:r>
          </a:p>
          <a:p>
            <a:pPr algn="l">
              <a:spcAft>
                <a:spcPts val="0"/>
              </a:spcAft>
            </a:pPr>
            <a:r>
              <a:rPr sz="800" b="0">
                <a:solidFill>
                  <a:srgbClr val="B3B5BC"/>
                </a:solidFill>
                <a:latin typeface="Open Sans"/>
              </a:rPr>
              <a:t>Water-repelling surfaces inspired by Salvinia leaves</a:t>
            </a:r>
          </a:p>
        </p:txBody>
      </p:sp>
      <p:sp>
        <p:nvSpPr>
          <p:cNvPr id="21" name="Callout"/>
          <p:cNvSpPr/>
          <p:nvPr/>
        </p:nvSpPr>
        <p:spPr>
          <a:xfrm>
            <a:off x="3017520" y="4069080"/>
            <a:ext cx="5440680" cy="566928"/>
          </a:xfrm>
          <a:prstGeom prst="rect">
            <a:avLst/>
          </a:prstGeom>
          <a:gradFill rotWithShape="1">
            <a:gsLst>
              <a:gs pos="0">
                <a:srgbClr val="B81E34"/>
              </a:gs>
              <a:gs pos="100000">
                <a:srgbClr val="8F1427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182112" y="4069080"/>
            <a:ext cx="5120640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Open Sans"/>
              </a:rPr>
              <a:t>Where our project comes from: </a:t>
            </a:r>
            <a:r>
              <a:rPr sz="950" b="0">
                <a:solidFill>
                  <a:srgbClr val="FFFFFF"/>
                </a:solidFill>
                <a:latin typeface="Open Sans"/>
              </a:rPr>
              <a:t>the lab's nacre-inspired 3D-printed armor that senses its own damage (Yang et al., Science Advances, 2019)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896112"/>
            <a:ext cx="7772400" cy="566928"/>
          </a:xfrm>
        </p:spPr>
        <p:txBody>
          <a:bodyPr/>
          <a:lstStyle/>
          <a:p>
            <a:r>
              <a:rPr sz="2600" b="0">
                <a:solidFill>
                  <a:srgbClr val="FFFFFF"/>
                </a:solidFill>
                <a:latin typeface="Kanit"/>
              </a:rPr>
              <a:t>Dr. Yang Yang &amp; the Yang Lab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676656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spc="200">
                <a:solidFill>
                  <a:srgbClr val="E0435A"/>
                </a:solidFill>
                <a:latin typeface="Open Sans"/>
              </a:rPr>
              <a:t>THE RESEARCHERS</a:t>
            </a:r>
          </a:p>
        </p:txBody>
      </p:sp>
      <p:sp>
        <p:nvSpPr>
          <p:cNvPr id="4" name="Accent circle"/>
          <p:cNvSpPr/>
          <p:nvPr/>
        </p:nvSpPr>
        <p:spPr>
          <a:xfrm>
            <a:off x="3154681" y="1271016"/>
            <a:ext cx="1737360" cy="1737360"/>
          </a:xfrm>
          <a:prstGeom prst="ellipse">
            <a:avLst/>
          </a:prstGeom>
          <a:solidFill>
            <a:srgbClr val="A6192E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Team photo" descr="meche-team-outdoor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45920"/>
            <a:ext cx="3931920" cy="294436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74920" y="1645920"/>
            <a:ext cx="3383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spc="200">
                <a:solidFill>
                  <a:srgbClr val="E0435A"/>
                </a:solidFill>
                <a:latin typeface="Open Sans"/>
              </a:rPr>
              <a:t>VBR MECHANICAL ENGINEERING TEAM</a:t>
            </a:r>
          </a:p>
        </p:txBody>
      </p:sp>
      <p:sp>
        <p:nvSpPr>
          <p:cNvPr id="7" name="Emmet chip"/>
          <p:cNvSpPr/>
          <p:nvPr/>
        </p:nvSpPr>
        <p:spPr>
          <a:xfrm>
            <a:off x="5074920" y="1920240"/>
            <a:ext cx="1024128" cy="365760"/>
          </a:xfrm>
          <a:prstGeom prst="rect">
            <a:avLst/>
          </a:prstGeom>
          <a:gradFill rotWithShape="1">
            <a:gsLst>
              <a:gs pos="0">
                <a:srgbClr val="B81E34"/>
              </a:gs>
              <a:gs pos="100000">
                <a:srgbClr val="8F1427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074920" y="1920240"/>
            <a:ext cx="102412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Kanit"/>
              </a:rPr>
              <a:t>Emmet</a:t>
            </a:r>
          </a:p>
        </p:txBody>
      </p:sp>
      <p:sp>
        <p:nvSpPr>
          <p:cNvPr id="9" name="Raina chip"/>
          <p:cNvSpPr/>
          <p:nvPr/>
        </p:nvSpPr>
        <p:spPr>
          <a:xfrm>
            <a:off x="6190488" y="1920240"/>
            <a:ext cx="1024128" cy="365760"/>
          </a:xfrm>
          <a:prstGeom prst="rect">
            <a:avLst/>
          </a:prstGeom>
          <a:gradFill rotWithShape="1">
            <a:gsLst>
              <a:gs pos="0">
                <a:srgbClr val="B81E34"/>
              </a:gs>
              <a:gs pos="100000">
                <a:srgbClr val="8F1427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190488" y="1920240"/>
            <a:ext cx="102412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Kanit"/>
              </a:rPr>
              <a:t>Raina</a:t>
            </a:r>
          </a:p>
        </p:txBody>
      </p:sp>
      <p:sp>
        <p:nvSpPr>
          <p:cNvPr id="11" name="Jayden chip"/>
          <p:cNvSpPr/>
          <p:nvPr/>
        </p:nvSpPr>
        <p:spPr>
          <a:xfrm>
            <a:off x="7306056" y="1920240"/>
            <a:ext cx="1024128" cy="365760"/>
          </a:xfrm>
          <a:prstGeom prst="rect">
            <a:avLst/>
          </a:prstGeom>
          <a:gradFill rotWithShape="1">
            <a:gsLst>
              <a:gs pos="0">
                <a:srgbClr val="B81E34"/>
              </a:gs>
              <a:gs pos="100000">
                <a:srgbClr val="8F1427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306056" y="1920240"/>
            <a:ext cx="102412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Kanit"/>
              </a:rPr>
              <a:t>Jayden</a:t>
            </a:r>
          </a:p>
        </p:txBody>
      </p:sp>
      <p:sp>
        <p:nvSpPr>
          <p:cNvPr id="13" name="Jaycen chip"/>
          <p:cNvSpPr/>
          <p:nvPr/>
        </p:nvSpPr>
        <p:spPr>
          <a:xfrm>
            <a:off x="5074920" y="2377440"/>
            <a:ext cx="1024128" cy="365760"/>
          </a:xfrm>
          <a:prstGeom prst="rect">
            <a:avLst/>
          </a:prstGeom>
          <a:gradFill rotWithShape="1">
            <a:gsLst>
              <a:gs pos="0">
                <a:srgbClr val="B81E34"/>
              </a:gs>
              <a:gs pos="100000">
                <a:srgbClr val="8F1427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074920" y="2377440"/>
            <a:ext cx="102412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Kanit"/>
              </a:rPr>
              <a:t>Jaycen</a:t>
            </a:r>
          </a:p>
        </p:txBody>
      </p:sp>
      <p:sp>
        <p:nvSpPr>
          <p:cNvPr id="15" name="Peggy chip"/>
          <p:cNvSpPr/>
          <p:nvPr/>
        </p:nvSpPr>
        <p:spPr>
          <a:xfrm>
            <a:off x="6190488" y="2377440"/>
            <a:ext cx="1024128" cy="365760"/>
          </a:xfrm>
          <a:prstGeom prst="rect">
            <a:avLst/>
          </a:prstGeom>
          <a:gradFill rotWithShape="1">
            <a:gsLst>
              <a:gs pos="0">
                <a:srgbClr val="B81E34"/>
              </a:gs>
              <a:gs pos="100000">
                <a:srgbClr val="8F1427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190488" y="2377440"/>
            <a:ext cx="1024128" cy="3657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FFFFFF"/>
                </a:solidFill>
                <a:latin typeface="Kanit"/>
              </a:rPr>
              <a:t>Peggy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2880360"/>
            <a:ext cx="33832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B3B5BC"/>
                </a:solidFill>
                <a:latin typeface="Open Sans"/>
              </a:rPr>
              <a:t>Teaching assistant: </a:t>
            </a:r>
            <a:r>
              <a:rPr sz="950" b="0">
                <a:solidFill>
                  <a:srgbClr val="B3B5BC"/>
                </a:solidFill>
                <a:latin typeface="Open Sans"/>
              </a:rPr>
              <a:t>Preston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3246120"/>
            <a:ext cx="338328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spc="200">
                <a:solidFill>
                  <a:srgbClr val="E0435A"/>
                </a:solidFill>
                <a:latin typeface="Open Sans"/>
              </a:rPr>
              <a:t>HOW WE WORKED</a:t>
            </a:r>
          </a:p>
          <a:p>
            <a:pPr marL="155448" indent="-155448" algn="l">
              <a:spcAft>
                <a:spcPts val="400"/>
              </a:spcAft>
              <a:buClr>
                <a:srgbClr val="E0435A"/>
              </a:buClr>
              <a:buFont typeface="Arial"/>
              <a:buChar char="•"/>
            </a:pPr>
            <a:r>
              <a:rPr sz="1050" b="0">
                <a:solidFill>
                  <a:srgbClr val="FFFFFF"/>
                </a:solidFill>
                <a:latin typeface="Open Sans"/>
              </a:rPr>
              <a:t>Everyone designed, printed, tested and wrote</a:t>
            </a:r>
          </a:p>
          <a:p>
            <a:pPr marL="155448" indent="-155448" algn="l">
              <a:spcAft>
                <a:spcPts val="400"/>
              </a:spcAft>
              <a:buClr>
                <a:srgbClr val="E0435A"/>
              </a:buClr>
              <a:buFont typeface="Arial"/>
              <a:buChar char="•"/>
            </a:pPr>
            <a:r>
              <a:rPr sz="1050" b="0">
                <a:solidFill>
                  <a:srgbClr val="FFFFFF"/>
                </a:solidFill>
                <a:latin typeface="Open Sans"/>
              </a:rPr>
              <a:t>Roles rotated: experiments, data, analysis, slides</a:t>
            </a:r>
          </a:p>
          <a:p>
            <a:pPr marL="155448" indent="-155448" algn="l">
              <a:spcAft>
                <a:spcPts val="400"/>
              </a:spcAft>
              <a:buClr>
                <a:srgbClr val="E0435A"/>
              </a:buClr>
              <a:buFont typeface="Arial"/>
              <a:buChar char="•"/>
            </a:pPr>
            <a:r>
              <a:rPr sz="1050" b="0">
                <a:solidFill>
                  <a:srgbClr val="FFFFFF"/>
                </a:solidFill>
                <a:latin typeface="Open Sans"/>
              </a:rPr>
              <a:t>Daily check-ins with Dr. Yang and our TA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896112"/>
            <a:ext cx="7772400" cy="566928"/>
          </a:xfrm>
        </p:spPr>
        <p:txBody>
          <a:bodyPr/>
          <a:lstStyle/>
          <a:p>
            <a:r>
              <a:rPr sz="2600" b="0">
                <a:solidFill>
                  <a:srgbClr val="FFFFFF"/>
                </a:solidFill>
                <a:latin typeface="Kanit"/>
              </a:rPr>
              <a:t>Meet the Team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676656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spc="200">
                <a:solidFill>
                  <a:srgbClr val="E0435A"/>
                </a:solidFill>
                <a:latin typeface="Open Sans"/>
              </a:rPr>
              <a:t>ROADMAP</a:t>
            </a:r>
          </a:p>
        </p:txBody>
      </p:sp>
      <p:sp>
        <p:nvSpPr>
          <p:cNvPr id="4" name="Roadmap 01"/>
          <p:cNvSpPr/>
          <p:nvPr/>
        </p:nvSpPr>
        <p:spPr>
          <a:xfrm>
            <a:off x="685800" y="1828800"/>
            <a:ext cx="1810512" cy="2606040"/>
          </a:xfrm>
          <a:prstGeom prst="rect">
            <a:avLst/>
          </a:prstGeom>
          <a:gradFill rotWithShape="1">
            <a:gsLst>
              <a:gs pos="0">
                <a:srgbClr val="B81E34"/>
              </a:gs>
              <a:gs pos="100000">
                <a:srgbClr val="8F1427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68680" y="2011680"/>
            <a:ext cx="1463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FFFFFF"/>
                </a:solidFill>
                <a:latin typeface="Kanit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68680" y="2697480"/>
            <a:ext cx="1463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Kanit"/>
              </a:rPr>
              <a:t>Research &amp; Ideas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429000"/>
            <a:ext cx="1463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FFFFFF"/>
                </a:solidFill>
                <a:latin typeface="Open Sans"/>
              </a:rPr>
              <a:t>The problem, piezoresistance and nature’s designs</a:t>
            </a:r>
          </a:p>
        </p:txBody>
      </p:sp>
      <p:sp>
        <p:nvSpPr>
          <p:cNvPr id="8" name="Roadmap 02"/>
          <p:cNvSpPr/>
          <p:nvPr/>
        </p:nvSpPr>
        <p:spPr>
          <a:xfrm>
            <a:off x="2651760" y="1600200"/>
            <a:ext cx="1810512" cy="2606040"/>
          </a:xfrm>
          <a:prstGeom prst="rect">
            <a:avLst/>
          </a:prstGeom>
          <a:gradFill rotWithShape="1">
            <a:gsLst>
              <a:gs pos="0">
                <a:srgbClr val="B81E34"/>
              </a:gs>
              <a:gs pos="100000">
                <a:srgbClr val="8F1427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834640" y="1783080"/>
            <a:ext cx="1463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FFFFFF"/>
                </a:solidFill>
                <a:latin typeface="Kanit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34640" y="2468880"/>
            <a:ext cx="1463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Kanit"/>
              </a:rPr>
              <a:t>Design Process &amp; Methods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3200400"/>
            <a:ext cx="1463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FFFFFF"/>
                </a:solidFill>
                <a:latin typeface="Open Sans"/>
              </a:rPr>
              <a:t>CAD, 3D printing and the test rig</a:t>
            </a:r>
          </a:p>
        </p:txBody>
      </p:sp>
      <p:sp>
        <p:nvSpPr>
          <p:cNvPr id="12" name="Roadmap 03"/>
          <p:cNvSpPr/>
          <p:nvPr/>
        </p:nvSpPr>
        <p:spPr>
          <a:xfrm>
            <a:off x="4617720" y="1828800"/>
            <a:ext cx="1810512" cy="2606040"/>
          </a:xfrm>
          <a:prstGeom prst="rect">
            <a:avLst/>
          </a:prstGeom>
          <a:gradFill rotWithShape="1">
            <a:gsLst>
              <a:gs pos="0">
                <a:srgbClr val="B81E34"/>
              </a:gs>
              <a:gs pos="100000">
                <a:srgbClr val="8F1427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800600" y="2011680"/>
            <a:ext cx="1463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FFFFFF"/>
                </a:solidFill>
                <a:latin typeface="Kanit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00600" y="2697480"/>
            <a:ext cx="1463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Kanit"/>
              </a:rPr>
              <a:t>Testing &amp; Results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800600" y="3429000"/>
            <a:ext cx="1463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FFFFFF"/>
                </a:solidFill>
                <a:latin typeface="Open Sans"/>
              </a:rPr>
              <a:t>Four rounds of crush tests, simulations and the shrimp arches</a:t>
            </a:r>
          </a:p>
        </p:txBody>
      </p:sp>
      <p:sp>
        <p:nvSpPr>
          <p:cNvPr id="16" name="Roadmap 04"/>
          <p:cNvSpPr/>
          <p:nvPr/>
        </p:nvSpPr>
        <p:spPr>
          <a:xfrm>
            <a:off x="6583679" y="1600200"/>
            <a:ext cx="1810512" cy="2606040"/>
          </a:xfrm>
          <a:prstGeom prst="rect">
            <a:avLst/>
          </a:prstGeom>
          <a:gradFill rotWithShape="1">
            <a:gsLst>
              <a:gs pos="0">
                <a:srgbClr val="B81E34"/>
              </a:gs>
              <a:gs pos="100000">
                <a:srgbClr val="8F1427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6766559" y="1783080"/>
            <a:ext cx="146304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3000" b="0">
                <a:solidFill>
                  <a:srgbClr val="FFFFFF"/>
                </a:solidFill>
                <a:latin typeface="Kanit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59" y="2468880"/>
            <a:ext cx="146304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Kanit"/>
              </a:rPr>
              <a:t>Conclusion &amp; Takeaways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59" y="3200400"/>
            <a:ext cx="146304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FFFFFF"/>
                </a:solidFill>
                <a:latin typeface="Open Sans"/>
              </a:rPr>
              <a:t>Lessons, real-world uses and what’s next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896112"/>
            <a:ext cx="7772400" cy="566928"/>
          </a:xfrm>
        </p:spPr>
        <p:txBody>
          <a:bodyPr/>
          <a:lstStyle/>
          <a:p>
            <a:r>
              <a:rPr sz="2600" b="0">
                <a:solidFill>
                  <a:srgbClr val="FFFFFF"/>
                </a:solidFill>
                <a:latin typeface="Kanit"/>
              </a:rPr>
              <a:t>What We'll Cover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 circle"/>
          <p:cNvSpPr/>
          <p:nvPr/>
        </p:nvSpPr>
        <p:spPr>
          <a:xfrm>
            <a:off x="1618488" y="429767"/>
            <a:ext cx="3803904" cy="3803904"/>
          </a:xfrm>
          <a:prstGeom prst="ellipse">
            <a:avLst/>
          </a:prstGeom>
          <a:noFill/>
          <a:ln w="15875">
            <a:solidFill>
              <a:srgbClr val="3B3C43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Accent circle"/>
          <p:cNvSpPr/>
          <p:nvPr/>
        </p:nvSpPr>
        <p:spPr>
          <a:xfrm>
            <a:off x="1965960" y="777239"/>
            <a:ext cx="3108960" cy="3108960"/>
          </a:xfrm>
          <a:prstGeom prst="ellipse">
            <a:avLst/>
          </a:prstGeom>
          <a:solidFill>
            <a:srgbClr val="A6192E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Section photo" descr="p-sec1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731520"/>
            <a:ext cx="3291840" cy="3657600"/>
          </a:xfrm>
          <a:prstGeom prst="rect">
            <a:avLst/>
          </a:prstGeom>
        </p:spPr>
      </p:pic>
      <p:sp>
        <p:nvSpPr>
          <p:cNvPr id="6" name="Teaser"/>
          <p:cNvSpPr/>
          <p:nvPr/>
        </p:nvSpPr>
        <p:spPr>
          <a:xfrm>
            <a:off x="2880360" y="3383280"/>
            <a:ext cx="2103120" cy="1005840"/>
          </a:xfrm>
          <a:prstGeom prst="rect">
            <a:avLst/>
          </a:prstGeom>
          <a:gradFill rotWithShape="1">
            <a:gsLst>
              <a:gs pos="0">
                <a:srgbClr val="B81E34"/>
              </a:gs>
              <a:gs pos="100000">
                <a:srgbClr val="8F1427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035808" y="3383280"/>
            <a:ext cx="1810512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Kanit"/>
              </a:rPr>
              <a:t>Why armor needs to feel, and what nature taught us</a:t>
            </a:r>
          </a:p>
        </p:txBody>
      </p:sp>
      <p:sp>
        <p:nvSpPr>
          <p:cNvPr id="8" name="Photo credit"/>
          <p:cNvSpPr txBox="1"/>
          <p:nvPr/>
        </p:nvSpPr>
        <p:spPr>
          <a:xfrm>
            <a:off x="685800" y="4462272"/>
            <a:ext cx="32004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50" b="0">
                <a:solidFill>
                  <a:srgbClr val="7E8089"/>
                </a:solidFill>
                <a:latin typeface="Open Sans"/>
              </a:rPr>
              <a:t>Photo: Yassine Ait Tahit / Unsplash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914400"/>
            <a:ext cx="22860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0">
                <a:solidFill>
                  <a:srgbClr val="E0435A"/>
                </a:solidFill>
                <a:latin typeface="Kanit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3246120"/>
            <a:ext cx="2926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■"/>
            </a:pPr>
            <a:r>
              <a:rPr sz="1050" b="0">
                <a:solidFill>
                  <a:srgbClr val="B3B5BC"/>
                </a:solidFill>
                <a:latin typeface="Open Sans"/>
              </a:rPr>
              <a:t>The problem: hidden damage</a:t>
            </a:r>
          </a:p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■"/>
            </a:pPr>
            <a:r>
              <a:rPr sz="1050" b="0">
                <a:solidFill>
                  <a:srgbClr val="B3B5BC"/>
                </a:solidFill>
                <a:latin typeface="Open Sans"/>
              </a:rPr>
              <a:t>How plastic can sense</a:t>
            </a:r>
          </a:p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■"/>
            </a:pPr>
            <a:r>
              <a:rPr sz="1050" b="0">
                <a:solidFill>
                  <a:srgbClr val="B3B5BC"/>
                </a:solidFill>
                <a:latin typeface="Open Sans"/>
              </a:rPr>
              <a:t>Nature’s blueprints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77840" y="1874519"/>
            <a:ext cx="3108960" cy="1234440"/>
          </a:xfrm>
        </p:spPr>
        <p:txBody>
          <a:bodyPr/>
          <a:lstStyle/>
          <a:p>
            <a:r>
              <a:rPr sz="3400" b="0">
                <a:solidFill>
                  <a:srgbClr val="FFFFFF"/>
                </a:solidFill>
                <a:latin typeface="Kanit"/>
              </a:rPr>
              <a:t>Research &amp; Ideas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676656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spc="200">
                <a:solidFill>
                  <a:srgbClr val="E0435A"/>
                </a:solidFill>
                <a:latin typeface="Open Sans"/>
              </a:rPr>
              <a:t>THE PROBLEM</a:t>
            </a:r>
          </a:p>
        </p:txBody>
      </p:sp>
      <p:sp>
        <p:nvSpPr>
          <p:cNvPr id="4" name="Today"/>
          <p:cNvSpPr/>
          <p:nvPr/>
        </p:nvSpPr>
        <p:spPr>
          <a:xfrm>
            <a:off x="685800" y="1645920"/>
            <a:ext cx="3749039" cy="2423160"/>
          </a:xfrm>
          <a:prstGeom prst="rect">
            <a:avLst/>
          </a:prstGeom>
          <a:solidFill>
            <a:srgbClr val="1E1F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ccent"/>
          <p:cNvSpPr/>
          <p:nvPr/>
        </p:nvSpPr>
        <p:spPr>
          <a:xfrm>
            <a:off x="685800" y="1645920"/>
            <a:ext cx="3749039" cy="54864"/>
          </a:xfrm>
          <a:prstGeom prst="rect">
            <a:avLst/>
          </a:prstGeom>
          <a:solidFill>
            <a:srgbClr val="E04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333756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E0435A"/>
                </a:solidFill>
                <a:latin typeface="Kanit"/>
              </a:rPr>
              <a:t>Today's armor (Kevlar, Dyneema)</a:t>
            </a:r>
          </a:p>
          <a:p>
            <a:pPr marL="155448" indent="-155448" algn="l">
              <a:spcAft>
                <a:spcPts val="400"/>
              </a:spcAft>
              <a:buClr>
                <a:srgbClr val="E0435A"/>
              </a:buClr>
              <a:buFont typeface="Arial"/>
              <a:buChar char="•"/>
            </a:pPr>
            <a:r>
              <a:rPr sz="1050" b="0">
                <a:solidFill>
                  <a:srgbClr val="FFFFFF"/>
                </a:solidFill>
                <a:latin typeface="Open Sans"/>
              </a:rPr>
              <a:t>Excellent against bullets, weaker against large impacts</a:t>
            </a:r>
          </a:p>
          <a:p>
            <a:pPr marL="155448" indent="-155448" algn="l">
              <a:spcAft>
                <a:spcPts val="400"/>
              </a:spcAft>
              <a:buClr>
                <a:srgbClr val="E0435A"/>
              </a:buClr>
              <a:buFont typeface="Arial"/>
              <a:buChar char="•"/>
            </a:pPr>
            <a:r>
              <a:rPr sz="1050" b="0">
                <a:solidFill>
                  <a:srgbClr val="FFFFFF"/>
                </a:solidFill>
                <a:latin typeface="Open Sans"/>
              </a:rPr>
              <a:t>Repeated hits cause internal micro-cracks</a:t>
            </a:r>
          </a:p>
          <a:p>
            <a:pPr marL="155448" indent="-155448" algn="l">
              <a:spcAft>
                <a:spcPts val="400"/>
              </a:spcAft>
              <a:buClr>
                <a:srgbClr val="E0435A"/>
              </a:buClr>
              <a:buFont typeface="Arial"/>
              <a:buChar char="•"/>
            </a:pPr>
            <a:r>
              <a:rPr sz="1050" b="0">
                <a:solidFill>
                  <a:srgbClr val="FFFFFF"/>
                </a:solidFill>
                <a:latin typeface="Open Sans"/>
              </a:rPr>
              <a:t>Damage is often invisible from the outside</a:t>
            </a:r>
          </a:p>
          <a:p>
            <a:pPr marL="155448" indent="-155448" algn="l">
              <a:spcAft>
                <a:spcPts val="400"/>
              </a:spcAft>
              <a:buClr>
                <a:srgbClr val="E0435A"/>
              </a:buClr>
              <a:buFont typeface="Arial"/>
              <a:buChar char="•"/>
            </a:pPr>
            <a:r>
              <a:rPr sz="1050" b="0">
                <a:solidFill>
                  <a:srgbClr val="FFFFFF"/>
                </a:solidFill>
                <a:latin typeface="Open Sans"/>
              </a:rPr>
              <a:t>Inspection needs infrared thermography or acoustic emission: large, costly equipment</a:t>
            </a:r>
          </a:p>
        </p:txBody>
      </p:sp>
      <p:sp>
        <p:nvSpPr>
          <p:cNvPr id="7" name="Self-sensing"/>
          <p:cNvSpPr/>
          <p:nvPr/>
        </p:nvSpPr>
        <p:spPr>
          <a:xfrm>
            <a:off x="4709160" y="1645920"/>
            <a:ext cx="3749039" cy="2423160"/>
          </a:xfrm>
          <a:prstGeom prst="rect">
            <a:avLst/>
          </a:prstGeom>
          <a:gradFill rotWithShape="1">
            <a:gsLst>
              <a:gs pos="0">
                <a:srgbClr val="B81E34"/>
              </a:gs>
              <a:gs pos="100000">
                <a:srgbClr val="8F1427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937760" y="1874519"/>
            <a:ext cx="3337560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>
                <a:solidFill>
                  <a:srgbClr val="FFFFFF"/>
                </a:solidFill>
                <a:latin typeface="Kanit"/>
              </a:rPr>
              <a:t>Self-sensing armor</a:t>
            </a:r>
          </a:p>
          <a:p>
            <a:pPr marL="155448" indent="-155448" algn="l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050" b="0">
                <a:solidFill>
                  <a:srgbClr val="FFFFFF"/>
                </a:solidFill>
                <a:latin typeface="Open Sans"/>
              </a:rPr>
              <a:t>The armor itself is the sensor</a:t>
            </a:r>
          </a:p>
          <a:p>
            <a:pPr marL="155448" indent="-155448" algn="l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050" b="0">
                <a:solidFill>
                  <a:srgbClr val="FFFFFF"/>
                </a:solidFill>
                <a:latin typeface="Open Sans"/>
              </a:rPr>
              <a:t>Cracks change its electrical resistance</a:t>
            </a:r>
          </a:p>
          <a:p>
            <a:pPr marL="155448" indent="-155448" algn="l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050" b="0">
                <a:solidFill>
                  <a:srgbClr val="FFFFFF"/>
                </a:solidFill>
                <a:latin typeface="Open Sans"/>
              </a:rPr>
              <a:t>Can be read with a simple multimeter</a:t>
            </a:r>
          </a:p>
          <a:p>
            <a:pPr marL="155448" indent="-155448" algn="l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050" b="0">
                <a:solidFill>
                  <a:srgbClr val="FFFFFF"/>
                </a:solidFill>
                <a:latin typeface="Open Sans"/>
              </a:rPr>
              <a:t>3D printed, so it can be customized to the wearer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206240"/>
            <a:ext cx="777240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Kanit"/>
              </a:rPr>
              <a:t>Can we build armor whose electrical signal reveals how much damage it has absorbed?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896112"/>
            <a:ext cx="7772400" cy="566928"/>
          </a:xfrm>
        </p:spPr>
        <p:txBody>
          <a:bodyPr/>
          <a:lstStyle/>
          <a:p>
            <a:r>
              <a:rPr sz="2600" b="0">
                <a:solidFill>
                  <a:srgbClr val="FFFFFF"/>
                </a:solidFill>
                <a:latin typeface="Kanit"/>
              </a:rPr>
              <a:t>Hidden Damage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ounded Rectangle 8">
            <a:extLst>
              <a:ext uri="{FF2B5EF4-FFF2-40B4-BE49-F238E27FC236}">
                <a16:creationId xmlns:a16="http://schemas.microsoft.com/office/drawing/2014/main" id="{098124D8-40DC-1227-E8C3-E0E0C0FBCE2D}"/>
              </a:ext>
            </a:extLst>
          </p:cNvPr>
          <p:cNvSpPr/>
          <p:nvPr/>
        </p:nvSpPr>
        <p:spPr>
          <a:xfrm>
            <a:off x="1621536" y="1816608"/>
            <a:ext cx="2682240" cy="2212848"/>
          </a:xfrm>
          <a:prstGeom prst="roundRect">
            <a:avLst>
              <a:gd name="adj" fmla="val 0"/>
            </a:avLst>
          </a:prstGeom>
          <a:solidFill>
            <a:srgbClr val="1E1F23"/>
          </a:solidFill>
          <a:ln w="16748" cap="flat">
            <a:solidFill>
              <a:srgbClr val="4A4C54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39" name="Rounded Rectangle 138">
            <a:extLst>
              <a:ext uri="{FF2B5EF4-FFF2-40B4-BE49-F238E27FC236}">
                <a16:creationId xmlns:a16="http://schemas.microsoft.com/office/drawing/2014/main" id="{55E88545-8BA5-4DB4-1ED4-2B6F454BB7CC}"/>
              </a:ext>
            </a:extLst>
          </p:cNvPr>
          <p:cNvSpPr/>
          <p:nvPr/>
        </p:nvSpPr>
        <p:spPr>
          <a:xfrm>
            <a:off x="4840224" y="1816608"/>
            <a:ext cx="2682240" cy="2212848"/>
          </a:xfrm>
          <a:prstGeom prst="roundRect">
            <a:avLst>
              <a:gd name="adj" fmla="val 0"/>
            </a:avLst>
          </a:prstGeom>
          <a:solidFill>
            <a:srgbClr val="1E1F23"/>
          </a:solidFill>
          <a:ln w="16748" cap="flat">
            <a:solidFill>
              <a:srgbClr val="A6192E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64" name="Freeform 263">
            <a:extLst>
              <a:ext uri="{FF2B5EF4-FFF2-40B4-BE49-F238E27FC236}">
                <a16:creationId xmlns:a16="http://schemas.microsoft.com/office/drawing/2014/main" id="{05C381F1-A028-FB4C-A9CB-8444DDAA87DC}"/>
              </a:ext>
            </a:extLst>
          </p:cNvPr>
          <p:cNvSpPr/>
          <p:nvPr/>
        </p:nvSpPr>
        <p:spPr>
          <a:xfrm>
            <a:off x="5001158" y="3258312"/>
            <a:ext cx="610209" cy="382219"/>
          </a:xfrm>
          <a:custGeom>
            <a:avLst/>
            <a:gdLst>
              <a:gd name="csX0" fmla="*/ 0 w 610209"/>
              <a:gd name="csY0" fmla="*/ 0 h 382219"/>
              <a:gd name="csX1" fmla="*/ 610210 w 610209"/>
              <a:gd name="csY1" fmla="*/ 382219 h 38221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10209" h="382219">
                <a:moveTo>
                  <a:pt x="0" y="0"/>
                </a:moveTo>
                <a:lnTo>
                  <a:pt x="610210" y="382219"/>
                </a:lnTo>
              </a:path>
            </a:pathLst>
          </a:custGeom>
          <a:ln w="10049" cap="flat">
            <a:solidFill>
              <a:srgbClr val="6E6660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65" name="Freeform 264">
            <a:extLst>
              <a:ext uri="{FF2B5EF4-FFF2-40B4-BE49-F238E27FC236}">
                <a16:creationId xmlns:a16="http://schemas.microsoft.com/office/drawing/2014/main" id="{AC2D859C-CAA5-E80A-0974-BBBB38E58283}"/>
              </a:ext>
            </a:extLst>
          </p:cNvPr>
          <p:cNvSpPr/>
          <p:nvPr/>
        </p:nvSpPr>
        <p:spPr>
          <a:xfrm>
            <a:off x="6751320" y="3258312"/>
            <a:ext cx="610209" cy="382219"/>
          </a:xfrm>
          <a:custGeom>
            <a:avLst/>
            <a:gdLst>
              <a:gd name="csX0" fmla="*/ 610210 w 610209"/>
              <a:gd name="csY0" fmla="*/ 0 h 382219"/>
              <a:gd name="csX1" fmla="*/ 0 w 610209"/>
              <a:gd name="csY1" fmla="*/ 382219 h 38221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10209" h="382219">
                <a:moveTo>
                  <a:pt x="610210" y="0"/>
                </a:moveTo>
                <a:lnTo>
                  <a:pt x="0" y="382219"/>
                </a:lnTo>
              </a:path>
            </a:pathLst>
          </a:custGeom>
          <a:ln w="10049" cap="flat">
            <a:solidFill>
              <a:srgbClr val="6E6660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37" name="Freeform 136">
            <a:extLst>
              <a:ext uri="{FF2B5EF4-FFF2-40B4-BE49-F238E27FC236}">
                <a16:creationId xmlns:a16="http://schemas.microsoft.com/office/drawing/2014/main" id="{FBE94CD0-8E51-BBC3-D469-12317320313F}"/>
              </a:ext>
            </a:extLst>
          </p:cNvPr>
          <p:cNvSpPr/>
          <p:nvPr/>
        </p:nvSpPr>
        <p:spPr>
          <a:xfrm>
            <a:off x="1782470" y="3258312"/>
            <a:ext cx="610209" cy="382219"/>
          </a:xfrm>
          <a:custGeom>
            <a:avLst/>
            <a:gdLst>
              <a:gd name="csX0" fmla="*/ 0 w 610209"/>
              <a:gd name="csY0" fmla="*/ 0 h 382219"/>
              <a:gd name="csX1" fmla="*/ 610210 w 610209"/>
              <a:gd name="csY1" fmla="*/ 382219 h 38221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10209" h="382219">
                <a:moveTo>
                  <a:pt x="0" y="0"/>
                </a:moveTo>
                <a:lnTo>
                  <a:pt x="610210" y="382219"/>
                </a:lnTo>
              </a:path>
            </a:pathLst>
          </a:custGeom>
          <a:ln w="10049" cap="flat">
            <a:solidFill>
              <a:srgbClr val="6E6660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38" name="Freeform 137">
            <a:extLst>
              <a:ext uri="{FF2B5EF4-FFF2-40B4-BE49-F238E27FC236}">
                <a16:creationId xmlns:a16="http://schemas.microsoft.com/office/drawing/2014/main" id="{F25F47C2-60E7-D297-0785-C265E6B414A2}"/>
              </a:ext>
            </a:extLst>
          </p:cNvPr>
          <p:cNvSpPr/>
          <p:nvPr/>
        </p:nvSpPr>
        <p:spPr>
          <a:xfrm>
            <a:off x="3532632" y="3258312"/>
            <a:ext cx="610209" cy="382219"/>
          </a:xfrm>
          <a:custGeom>
            <a:avLst/>
            <a:gdLst>
              <a:gd name="csX0" fmla="*/ 610210 w 610209"/>
              <a:gd name="csY0" fmla="*/ 0 h 382219"/>
              <a:gd name="csX1" fmla="*/ 0 w 610209"/>
              <a:gd name="csY1" fmla="*/ 382219 h 38221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10209" h="382219">
                <a:moveTo>
                  <a:pt x="610210" y="0"/>
                </a:moveTo>
                <a:lnTo>
                  <a:pt x="0" y="382219"/>
                </a:lnTo>
              </a:path>
            </a:pathLst>
          </a:custGeom>
          <a:ln w="10049" cap="flat">
            <a:solidFill>
              <a:srgbClr val="6E6660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Box 2"/>
          <p:cNvSpPr txBox="1"/>
          <p:nvPr/>
        </p:nvSpPr>
        <p:spPr>
          <a:xfrm>
            <a:off x="685800" y="676656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spc="200">
                <a:solidFill>
                  <a:srgbClr val="E0435A"/>
                </a:solidFill>
                <a:latin typeface="Open Sans"/>
              </a:rPr>
              <a:t>PIEZORESISTANCE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7772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B3B5BC"/>
                </a:solidFill>
                <a:latin typeface="Open Sans"/>
              </a:rPr>
              <a:t>Conductive filament is plastic loaded with carbon-black particles. Touching particles form a network of tiny electrical pathways.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74AD130-FD12-67AF-1CBB-A4032C0127AB}"/>
              </a:ext>
            </a:extLst>
          </p:cNvPr>
          <p:cNvSpPr txBox="1"/>
          <p:nvPr/>
        </p:nvSpPr>
        <p:spPr>
          <a:xfrm>
            <a:off x="1864438" y="1866778"/>
            <a:ext cx="2196435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75" spc="0" baseline="0" dirty="0">
                <a:ln/>
                <a:solidFill>
                  <a:srgbClr val="FFFFFF"/>
                </a:solidFill>
                <a:latin typeface="Kanit"/>
                <a:sym typeface="Kanit"/>
                <a:rtl val="0"/>
              </a:rPr>
              <a:t>Intact: pathways connected</a:t>
            </a:r>
          </a:p>
        </p:txBody>
      </p:sp>
      <p:sp>
        <p:nvSpPr>
          <p:cNvPr id="11" name="Rounded Rectangle 10">
            <a:extLst>
              <a:ext uri="{FF2B5EF4-FFF2-40B4-BE49-F238E27FC236}">
                <a16:creationId xmlns:a16="http://schemas.microsoft.com/office/drawing/2014/main" id="{D33AA348-2EB0-9539-D444-C24C6ABAA596}"/>
              </a:ext>
            </a:extLst>
          </p:cNvPr>
          <p:cNvSpPr/>
          <p:nvPr/>
        </p:nvSpPr>
        <p:spPr>
          <a:xfrm>
            <a:off x="1822704" y="2212717"/>
            <a:ext cx="2279904" cy="1005840"/>
          </a:xfrm>
          <a:prstGeom prst="roundRect">
            <a:avLst>
              <a:gd name="adj" fmla="val 4000"/>
            </a:avLst>
          </a:prstGeom>
          <a:solidFill>
            <a:srgbClr val="46484F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2" name="Rounded Rectangle 11">
            <a:extLst>
              <a:ext uri="{FF2B5EF4-FFF2-40B4-BE49-F238E27FC236}">
                <a16:creationId xmlns:a16="http://schemas.microsoft.com/office/drawing/2014/main" id="{FD53092E-9AF7-7E65-1AAE-4DDB413D8753}"/>
              </a:ext>
            </a:extLst>
          </p:cNvPr>
          <p:cNvSpPr/>
          <p:nvPr/>
        </p:nvSpPr>
        <p:spPr>
          <a:xfrm>
            <a:off x="1742236" y="2279773"/>
            <a:ext cx="80467" cy="871728"/>
          </a:xfrm>
          <a:prstGeom prst="roundRect">
            <a:avLst>
              <a:gd name="adj" fmla="val 16666"/>
            </a:avLst>
          </a:prstGeom>
          <a:solidFill>
            <a:srgbClr val="8D8D8D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3" name="Rounded Rectangle 12">
            <a:extLst>
              <a:ext uri="{FF2B5EF4-FFF2-40B4-BE49-F238E27FC236}">
                <a16:creationId xmlns:a16="http://schemas.microsoft.com/office/drawing/2014/main" id="{32C62874-4A3A-13E1-00B9-F95E7E0BEBB7}"/>
              </a:ext>
            </a:extLst>
          </p:cNvPr>
          <p:cNvSpPr/>
          <p:nvPr/>
        </p:nvSpPr>
        <p:spPr>
          <a:xfrm>
            <a:off x="4102608" y="2279773"/>
            <a:ext cx="80467" cy="871728"/>
          </a:xfrm>
          <a:prstGeom prst="roundRect">
            <a:avLst>
              <a:gd name="adj" fmla="val 16666"/>
            </a:avLst>
          </a:prstGeom>
          <a:solidFill>
            <a:srgbClr val="8D8D8D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B9485643-3593-861C-A06B-4A414CB01575}"/>
              </a:ext>
            </a:extLst>
          </p:cNvPr>
          <p:cNvSpPr/>
          <p:nvPr/>
        </p:nvSpPr>
        <p:spPr>
          <a:xfrm>
            <a:off x="1874337" y="2257644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12E31362-7682-1F7F-D154-3208EBD98227}"/>
              </a:ext>
            </a:extLst>
          </p:cNvPr>
          <p:cNvSpPr/>
          <p:nvPr/>
        </p:nvSpPr>
        <p:spPr>
          <a:xfrm>
            <a:off x="2018507" y="2254291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35882243-BB30-D056-3CBF-1877F865D324}"/>
              </a:ext>
            </a:extLst>
          </p:cNvPr>
          <p:cNvSpPr/>
          <p:nvPr/>
        </p:nvSpPr>
        <p:spPr>
          <a:xfrm>
            <a:off x="2144572" y="2266361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545F8699-9DEF-5669-4D0D-4D425300DF04}"/>
              </a:ext>
            </a:extLst>
          </p:cNvPr>
          <p:cNvSpPr/>
          <p:nvPr/>
        </p:nvSpPr>
        <p:spPr>
          <a:xfrm>
            <a:off x="2255885" y="2271726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02884A49-03AF-DB33-1D06-DB50E438297F}"/>
              </a:ext>
            </a:extLst>
          </p:cNvPr>
          <p:cNvSpPr/>
          <p:nvPr/>
        </p:nvSpPr>
        <p:spPr>
          <a:xfrm>
            <a:off x="2385974" y="2269044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6E6E6DEE-05CF-0A3B-8FFC-858FDC339995}"/>
              </a:ext>
            </a:extLst>
          </p:cNvPr>
          <p:cNvSpPr/>
          <p:nvPr/>
        </p:nvSpPr>
        <p:spPr>
          <a:xfrm>
            <a:off x="2518074" y="2254962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FF22029F-40E4-BFB8-9B0B-6D634E56A3F6}"/>
              </a:ext>
            </a:extLst>
          </p:cNvPr>
          <p:cNvSpPr/>
          <p:nvPr/>
        </p:nvSpPr>
        <p:spPr>
          <a:xfrm>
            <a:off x="2662915" y="2285137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1" name="Oval 20">
            <a:extLst>
              <a:ext uri="{FF2B5EF4-FFF2-40B4-BE49-F238E27FC236}">
                <a16:creationId xmlns:a16="http://schemas.microsoft.com/office/drawing/2014/main" id="{93701C32-3E59-191F-AF02-6D4365B0738B}"/>
              </a:ext>
            </a:extLst>
          </p:cNvPr>
          <p:cNvSpPr/>
          <p:nvPr/>
        </p:nvSpPr>
        <p:spPr>
          <a:xfrm>
            <a:off x="2781604" y="2260326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2" name="Oval 21">
            <a:extLst>
              <a:ext uri="{FF2B5EF4-FFF2-40B4-BE49-F238E27FC236}">
                <a16:creationId xmlns:a16="http://schemas.microsoft.com/office/drawing/2014/main" id="{524AE8B0-E9E0-9B6E-AB55-E5C1BB320A8C}"/>
              </a:ext>
            </a:extLst>
          </p:cNvPr>
          <p:cNvSpPr/>
          <p:nvPr/>
        </p:nvSpPr>
        <p:spPr>
          <a:xfrm>
            <a:off x="2933151" y="2289831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3" name="Oval 22">
            <a:extLst>
              <a:ext uri="{FF2B5EF4-FFF2-40B4-BE49-F238E27FC236}">
                <a16:creationId xmlns:a16="http://schemas.microsoft.com/office/drawing/2014/main" id="{BF7DA599-7A03-5EEA-770D-B960D033E832}"/>
              </a:ext>
            </a:extLst>
          </p:cNvPr>
          <p:cNvSpPr/>
          <p:nvPr/>
        </p:nvSpPr>
        <p:spPr>
          <a:xfrm>
            <a:off x="3061898" y="2267702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4" name="Oval 23">
            <a:extLst>
              <a:ext uri="{FF2B5EF4-FFF2-40B4-BE49-F238E27FC236}">
                <a16:creationId xmlns:a16="http://schemas.microsoft.com/office/drawing/2014/main" id="{52854CDE-A76A-C52E-B4E7-7CA0AF042678}"/>
              </a:ext>
            </a:extLst>
          </p:cNvPr>
          <p:cNvSpPr/>
          <p:nvPr/>
        </p:nvSpPr>
        <p:spPr>
          <a:xfrm>
            <a:off x="3208751" y="2253621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556C2C7C-193B-7F5F-5490-0E48565A78FA}"/>
              </a:ext>
            </a:extLst>
          </p:cNvPr>
          <p:cNvSpPr/>
          <p:nvPr/>
        </p:nvSpPr>
        <p:spPr>
          <a:xfrm>
            <a:off x="3334816" y="2263009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F8C7150D-BCE1-8734-8238-B9324A98C7D0}"/>
              </a:ext>
            </a:extLst>
          </p:cNvPr>
          <p:cNvSpPr/>
          <p:nvPr/>
        </p:nvSpPr>
        <p:spPr>
          <a:xfrm>
            <a:off x="3436741" y="2256303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8DB0B7DE-5708-EF25-480B-154D4D58E922}"/>
              </a:ext>
            </a:extLst>
          </p:cNvPr>
          <p:cNvSpPr/>
          <p:nvPr/>
        </p:nvSpPr>
        <p:spPr>
          <a:xfrm>
            <a:off x="3574206" y="2284466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1417E8FF-2EB8-A61E-4F84-F87C37122BF9}"/>
              </a:ext>
            </a:extLst>
          </p:cNvPr>
          <p:cNvSpPr/>
          <p:nvPr/>
        </p:nvSpPr>
        <p:spPr>
          <a:xfrm>
            <a:off x="3699601" y="2275079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9" name="Oval 28">
            <a:extLst>
              <a:ext uri="{FF2B5EF4-FFF2-40B4-BE49-F238E27FC236}">
                <a16:creationId xmlns:a16="http://schemas.microsoft.com/office/drawing/2014/main" id="{010207A1-80CA-7A02-36F5-5F80F397EDC7}"/>
              </a:ext>
            </a:extLst>
          </p:cNvPr>
          <p:cNvSpPr/>
          <p:nvPr/>
        </p:nvSpPr>
        <p:spPr>
          <a:xfrm>
            <a:off x="3848465" y="2266361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30" name="Oval 29">
            <a:extLst>
              <a:ext uri="{FF2B5EF4-FFF2-40B4-BE49-F238E27FC236}">
                <a16:creationId xmlns:a16="http://schemas.microsoft.com/office/drawing/2014/main" id="{9A2ED44D-E9AF-2A7E-88FE-7B4D9E3A6234}"/>
              </a:ext>
            </a:extLst>
          </p:cNvPr>
          <p:cNvSpPr/>
          <p:nvPr/>
        </p:nvSpPr>
        <p:spPr>
          <a:xfrm>
            <a:off x="3975872" y="2254291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31" name="Oval 30">
            <a:extLst>
              <a:ext uri="{FF2B5EF4-FFF2-40B4-BE49-F238E27FC236}">
                <a16:creationId xmlns:a16="http://schemas.microsoft.com/office/drawing/2014/main" id="{B92F35E0-5FCA-53BE-480F-957116A724D1}"/>
              </a:ext>
            </a:extLst>
          </p:cNvPr>
          <p:cNvSpPr/>
          <p:nvPr/>
        </p:nvSpPr>
        <p:spPr>
          <a:xfrm>
            <a:off x="1864278" y="2397121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32" name="Oval 31">
            <a:extLst>
              <a:ext uri="{FF2B5EF4-FFF2-40B4-BE49-F238E27FC236}">
                <a16:creationId xmlns:a16="http://schemas.microsoft.com/office/drawing/2014/main" id="{918E2031-1877-003B-4B73-F252376C1A8C}"/>
              </a:ext>
            </a:extLst>
          </p:cNvPr>
          <p:cNvSpPr/>
          <p:nvPr/>
        </p:nvSpPr>
        <p:spPr>
          <a:xfrm>
            <a:off x="2019848" y="2406508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33" name="Oval 32">
            <a:extLst>
              <a:ext uri="{FF2B5EF4-FFF2-40B4-BE49-F238E27FC236}">
                <a16:creationId xmlns:a16="http://schemas.microsoft.com/office/drawing/2014/main" id="{AAFFF6C6-C967-C03F-6705-3DF7C9730E28}"/>
              </a:ext>
            </a:extLst>
          </p:cNvPr>
          <p:cNvSpPr/>
          <p:nvPr/>
        </p:nvSpPr>
        <p:spPr>
          <a:xfrm>
            <a:off x="2135855" y="2412543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34" name="Oval 33">
            <a:extLst>
              <a:ext uri="{FF2B5EF4-FFF2-40B4-BE49-F238E27FC236}">
                <a16:creationId xmlns:a16="http://schemas.microsoft.com/office/drawing/2014/main" id="{4BB81198-B5DB-DFE9-6F17-88707B2B9F31}"/>
              </a:ext>
            </a:extLst>
          </p:cNvPr>
          <p:cNvSpPr/>
          <p:nvPr/>
        </p:nvSpPr>
        <p:spPr>
          <a:xfrm>
            <a:off x="2271979" y="2401144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35" name="Oval 34">
            <a:extLst>
              <a:ext uri="{FF2B5EF4-FFF2-40B4-BE49-F238E27FC236}">
                <a16:creationId xmlns:a16="http://schemas.microsoft.com/office/drawing/2014/main" id="{41DB423F-2E99-B09A-6C76-F28AB8AA1CA8}"/>
              </a:ext>
            </a:extLst>
          </p:cNvPr>
          <p:cNvSpPr/>
          <p:nvPr/>
        </p:nvSpPr>
        <p:spPr>
          <a:xfrm>
            <a:off x="2416820" y="2417237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36" name="Oval 35">
            <a:extLst>
              <a:ext uri="{FF2B5EF4-FFF2-40B4-BE49-F238E27FC236}">
                <a16:creationId xmlns:a16="http://schemas.microsoft.com/office/drawing/2014/main" id="{CC0DE436-E897-E0EA-71D4-450A0F8E19BF}"/>
              </a:ext>
            </a:extLst>
          </p:cNvPr>
          <p:cNvSpPr/>
          <p:nvPr/>
        </p:nvSpPr>
        <p:spPr>
          <a:xfrm>
            <a:off x="2525450" y="2411873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37" name="Oval 36">
            <a:extLst>
              <a:ext uri="{FF2B5EF4-FFF2-40B4-BE49-F238E27FC236}">
                <a16:creationId xmlns:a16="http://schemas.microsoft.com/office/drawing/2014/main" id="{BD94E830-97C8-63DA-886D-066CEC1D38F7}"/>
              </a:ext>
            </a:extLst>
          </p:cNvPr>
          <p:cNvSpPr/>
          <p:nvPr/>
        </p:nvSpPr>
        <p:spPr>
          <a:xfrm>
            <a:off x="2667609" y="2424613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38" name="Oval 37">
            <a:extLst>
              <a:ext uri="{FF2B5EF4-FFF2-40B4-BE49-F238E27FC236}">
                <a16:creationId xmlns:a16="http://schemas.microsoft.com/office/drawing/2014/main" id="{F1AB3336-DEED-E827-992C-E79E8DFE2FBC}"/>
              </a:ext>
            </a:extLst>
          </p:cNvPr>
          <p:cNvSpPr/>
          <p:nvPr/>
        </p:nvSpPr>
        <p:spPr>
          <a:xfrm>
            <a:off x="2806415" y="2400473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39" name="Oval 38">
            <a:extLst>
              <a:ext uri="{FF2B5EF4-FFF2-40B4-BE49-F238E27FC236}">
                <a16:creationId xmlns:a16="http://schemas.microsoft.com/office/drawing/2014/main" id="{E1FFF8F8-1A69-4838-95E7-AD6A0620E92F}"/>
              </a:ext>
            </a:extLst>
          </p:cNvPr>
          <p:cNvSpPr/>
          <p:nvPr/>
        </p:nvSpPr>
        <p:spPr>
          <a:xfrm>
            <a:off x="2947233" y="2393768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40" name="Oval 39">
            <a:extLst>
              <a:ext uri="{FF2B5EF4-FFF2-40B4-BE49-F238E27FC236}">
                <a16:creationId xmlns:a16="http://schemas.microsoft.com/office/drawing/2014/main" id="{487F0B0A-FAB5-68CD-5EE0-5C6E3F677A62}"/>
              </a:ext>
            </a:extLst>
          </p:cNvPr>
          <p:cNvSpPr/>
          <p:nvPr/>
        </p:nvSpPr>
        <p:spPr>
          <a:xfrm>
            <a:off x="3055193" y="2419249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41" name="Oval 40">
            <a:extLst>
              <a:ext uri="{FF2B5EF4-FFF2-40B4-BE49-F238E27FC236}">
                <a16:creationId xmlns:a16="http://schemas.microsoft.com/office/drawing/2014/main" id="{A53E5571-A9EA-0F54-FE71-F22DC9F4E3A3}"/>
              </a:ext>
            </a:extLst>
          </p:cNvPr>
          <p:cNvSpPr/>
          <p:nvPr/>
        </p:nvSpPr>
        <p:spPr>
          <a:xfrm>
            <a:off x="3175223" y="2408520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42" name="Oval 41">
            <a:extLst>
              <a:ext uri="{FF2B5EF4-FFF2-40B4-BE49-F238E27FC236}">
                <a16:creationId xmlns:a16="http://schemas.microsoft.com/office/drawing/2014/main" id="{F233C574-E640-3F2D-DA84-83148AB799E0}"/>
              </a:ext>
            </a:extLst>
          </p:cNvPr>
          <p:cNvSpPr/>
          <p:nvPr/>
        </p:nvSpPr>
        <p:spPr>
          <a:xfrm>
            <a:off x="3301288" y="2415896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43" name="Oval 42">
            <a:extLst>
              <a:ext uri="{FF2B5EF4-FFF2-40B4-BE49-F238E27FC236}">
                <a16:creationId xmlns:a16="http://schemas.microsoft.com/office/drawing/2014/main" id="{FE29D560-B0AB-4E9D-8CF3-5BFFD4369E6C}"/>
              </a:ext>
            </a:extLst>
          </p:cNvPr>
          <p:cNvSpPr/>
          <p:nvPr/>
        </p:nvSpPr>
        <p:spPr>
          <a:xfrm>
            <a:off x="3461552" y="2411873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44" name="Oval 43">
            <a:extLst>
              <a:ext uri="{FF2B5EF4-FFF2-40B4-BE49-F238E27FC236}">
                <a16:creationId xmlns:a16="http://schemas.microsoft.com/office/drawing/2014/main" id="{0F3705EE-FCAF-14E5-387D-5C2A32903744}"/>
              </a:ext>
            </a:extLst>
          </p:cNvPr>
          <p:cNvSpPr/>
          <p:nvPr/>
        </p:nvSpPr>
        <p:spPr>
          <a:xfrm>
            <a:off x="3597005" y="2401814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45" name="Oval 44">
            <a:extLst>
              <a:ext uri="{FF2B5EF4-FFF2-40B4-BE49-F238E27FC236}">
                <a16:creationId xmlns:a16="http://schemas.microsoft.com/office/drawing/2014/main" id="{9E3CC7D3-A418-930F-43EC-BCC9D49DCB28}"/>
              </a:ext>
            </a:extLst>
          </p:cNvPr>
          <p:cNvSpPr/>
          <p:nvPr/>
        </p:nvSpPr>
        <p:spPr>
          <a:xfrm>
            <a:off x="3720388" y="2413214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46" name="Oval 45">
            <a:extLst>
              <a:ext uri="{FF2B5EF4-FFF2-40B4-BE49-F238E27FC236}">
                <a16:creationId xmlns:a16="http://schemas.microsoft.com/office/drawing/2014/main" id="{E941BB25-9D25-FDB9-1D71-31AF75ABABBE}"/>
              </a:ext>
            </a:extLst>
          </p:cNvPr>
          <p:cNvSpPr/>
          <p:nvPr/>
        </p:nvSpPr>
        <p:spPr>
          <a:xfrm>
            <a:off x="3846454" y="2407179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47" name="Oval 46">
            <a:extLst>
              <a:ext uri="{FF2B5EF4-FFF2-40B4-BE49-F238E27FC236}">
                <a16:creationId xmlns:a16="http://schemas.microsoft.com/office/drawing/2014/main" id="{95D2C4B9-4C4B-4AC8-8784-6779A25E1732}"/>
              </a:ext>
            </a:extLst>
          </p:cNvPr>
          <p:cNvSpPr/>
          <p:nvPr/>
        </p:nvSpPr>
        <p:spPr>
          <a:xfrm>
            <a:off x="3987271" y="2427296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48" name="Oval 47">
            <a:extLst>
              <a:ext uri="{FF2B5EF4-FFF2-40B4-BE49-F238E27FC236}">
                <a16:creationId xmlns:a16="http://schemas.microsoft.com/office/drawing/2014/main" id="{8CDBACFB-8211-8B76-6DEF-F4268202F69C}"/>
              </a:ext>
            </a:extLst>
          </p:cNvPr>
          <p:cNvSpPr/>
          <p:nvPr/>
        </p:nvSpPr>
        <p:spPr>
          <a:xfrm>
            <a:off x="1880372" y="2553361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49" name="Oval 48">
            <a:extLst>
              <a:ext uri="{FF2B5EF4-FFF2-40B4-BE49-F238E27FC236}">
                <a16:creationId xmlns:a16="http://schemas.microsoft.com/office/drawing/2014/main" id="{44BCEE32-069D-0821-BC5B-734B72BE23ED}"/>
              </a:ext>
            </a:extLst>
          </p:cNvPr>
          <p:cNvSpPr/>
          <p:nvPr/>
        </p:nvSpPr>
        <p:spPr>
          <a:xfrm>
            <a:off x="1995037" y="2554702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50" name="Oval 49">
            <a:extLst>
              <a:ext uri="{FF2B5EF4-FFF2-40B4-BE49-F238E27FC236}">
                <a16:creationId xmlns:a16="http://schemas.microsoft.com/office/drawing/2014/main" id="{A723266F-306B-9BD5-E3E4-E7422B24F247}"/>
              </a:ext>
            </a:extLst>
          </p:cNvPr>
          <p:cNvSpPr/>
          <p:nvPr/>
        </p:nvSpPr>
        <p:spPr>
          <a:xfrm>
            <a:off x="2149266" y="2566772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51" name="Oval 50">
            <a:extLst>
              <a:ext uri="{FF2B5EF4-FFF2-40B4-BE49-F238E27FC236}">
                <a16:creationId xmlns:a16="http://schemas.microsoft.com/office/drawing/2014/main" id="{C5E15349-536F-3645-6691-6A2A5B991FA4}"/>
              </a:ext>
            </a:extLst>
          </p:cNvPr>
          <p:cNvSpPr/>
          <p:nvPr/>
        </p:nvSpPr>
        <p:spPr>
          <a:xfrm>
            <a:off x="2286731" y="2537938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52" name="Oval 51">
            <a:extLst>
              <a:ext uri="{FF2B5EF4-FFF2-40B4-BE49-F238E27FC236}">
                <a16:creationId xmlns:a16="http://schemas.microsoft.com/office/drawing/2014/main" id="{FF43D3A8-E836-60C0-3902-92C24DF29B85}"/>
              </a:ext>
            </a:extLst>
          </p:cNvPr>
          <p:cNvSpPr/>
          <p:nvPr/>
        </p:nvSpPr>
        <p:spPr>
          <a:xfrm>
            <a:off x="2400056" y="2553361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53" name="Oval 52">
            <a:extLst>
              <a:ext uri="{FF2B5EF4-FFF2-40B4-BE49-F238E27FC236}">
                <a16:creationId xmlns:a16="http://schemas.microsoft.com/office/drawing/2014/main" id="{7644EF84-B0D7-E62F-0167-C1909B3ED777}"/>
              </a:ext>
            </a:extLst>
          </p:cNvPr>
          <p:cNvSpPr/>
          <p:nvPr/>
        </p:nvSpPr>
        <p:spPr>
          <a:xfrm>
            <a:off x="2516063" y="2545314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54" name="Oval 53">
            <a:extLst>
              <a:ext uri="{FF2B5EF4-FFF2-40B4-BE49-F238E27FC236}">
                <a16:creationId xmlns:a16="http://schemas.microsoft.com/office/drawing/2014/main" id="{393D309B-EAEE-19E0-DBD7-EE947443A9A5}"/>
              </a:ext>
            </a:extLst>
          </p:cNvPr>
          <p:cNvSpPr/>
          <p:nvPr/>
        </p:nvSpPr>
        <p:spPr>
          <a:xfrm>
            <a:off x="2652857" y="2531233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B93FF8AF-8CA8-2F38-FDD1-ECA010A08349}"/>
              </a:ext>
            </a:extLst>
          </p:cNvPr>
          <p:cNvSpPr/>
          <p:nvPr/>
        </p:nvSpPr>
        <p:spPr>
          <a:xfrm>
            <a:off x="2779593" y="2557384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6E7A5F59-76AF-6AC1-5E00-1238CDE877C6}"/>
              </a:ext>
            </a:extLst>
          </p:cNvPr>
          <p:cNvSpPr/>
          <p:nvPr/>
        </p:nvSpPr>
        <p:spPr>
          <a:xfrm>
            <a:off x="2913034" y="2536597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52436CD6-036F-E668-BFE7-9D2D5671E0BD}"/>
              </a:ext>
            </a:extLst>
          </p:cNvPr>
          <p:cNvSpPr/>
          <p:nvPr/>
        </p:nvSpPr>
        <p:spPr>
          <a:xfrm>
            <a:off x="3053852" y="2561408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58" name="Oval 57">
            <a:extLst>
              <a:ext uri="{FF2B5EF4-FFF2-40B4-BE49-F238E27FC236}">
                <a16:creationId xmlns:a16="http://schemas.microsoft.com/office/drawing/2014/main" id="{D1CDB260-0F0A-FEC5-4F02-E2011F3BA6A3}"/>
              </a:ext>
            </a:extLst>
          </p:cNvPr>
          <p:cNvSpPr/>
          <p:nvPr/>
        </p:nvSpPr>
        <p:spPr>
          <a:xfrm>
            <a:off x="3172541" y="2544644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59" name="Oval 58">
            <a:extLst>
              <a:ext uri="{FF2B5EF4-FFF2-40B4-BE49-F238E27FC236}">
                <a16:creationId xmlns:a16="http://schemas.microsoft.com/office/drawing/2014/main" id="{9D1EB7E0-057D-1248-A93B-BDEAC4BE9DAC}"/>
              </a:ext>
            </a:extLst>
          </p:cNvPr>
          <p:cNvSpPr/>
          <p:nvPr/>
        </p:nvSpPr>
        <p:spPr>
          <a:xfrm>
            <a:off x="3322076" y="2562078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60" name="Oval 59">
            <a:extLst>
              <a:ext uri="{FF2B5EF4-FFF2-40B4-BE49-F238E27FC236}">
                <a16:creationId xmlns:a16="http://schemas.microsoft.com/office/drawing/2014/main" id="{800AD4F8-934D-0966-6CCC-104539C5DC50}"/>
              </a:ext>
            </a:extLst>
          </p:cNvPr>
          <p:cNvSpPr/>
          <p:nvPr/>
        </p:nvSpPr>
        <p:spPr>
          <a:xfrm>
            <a:off x="3463564" y="2561408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61" name="Oval 60">
            <a:extLst>
              <a:ext uri="{FF2B5EF4-FFF2-40B4-BE49-F238E27FC236}">
                <a16:creationId xmlns:a16="http://schemas.microsoft.com/office/drawing/2014/main" id="{3F9B8A42-A521-84EC-66F9-4E19070C6CFE}"/>
              </a:ext>
            </a:extLst>
          </p:cNvPr>
          <p:cNvSpPr/>
          <p:nvPr/>
        </p:nvSpPr>
        <p:spPr>
          <a:xfrm>
            <a:off x="3572865" y="2543303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62" name="Oval 61">
            <a:extLst>
              <a:ext uri="{FF2B5EF4-FFF2-40B4-BE49-F238E27FC236}">
                <a16:creationId xmlns:a16="http://schemas.microsoft.com/office/drawing/2014/main" id="{00940FDB-CE81-A012-A3C2-D09DC5B71114}"/>
              </a:ext>
            </a:extLst>
          </p:cNvPr>
          <p:cNvSpPr/>
          <p:nvPr/>
        </p:nvSpPr>
        <p:spPr>
          <a:xfrm>
            <a:off x="3706977" y="2562078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63" name="Oval 62">
            <a:extLst>
              <a:ext uri="{FF2B5EF4-FFF2-40B4-BE49-F238E27FC236}">
                <a16:creationId xmlns:a16="http://schemas.microsoft.com/office/drawing/2014/main" id="{CD2E712D-29B5-E09B-8CA5-C87AF109DB82}"/>
              </a:ext>
            </a:extLst>
          </p:cNvPr>
          <p:cNvSpPr/>
          <p:nvPr/>
        </p:nvSpPr>
        <p:spPr>
          <a:xfrm>
            <a:off x="3861206" y="2532574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64" name="Oval 63">
            <a:extLst>
              <a:ext uri="{FF2B5EF4-FFF2-40B4-BE49-F238E27FC236}">
                <a16:creationId xmlns:a16="http://schemas.microsoft.com/office/drawing/2014/main" id="{05DF681E-8059-5619-8E57-B1ED72D9AC71}"/>
              </a:ext>
            </a:extLst>
          </p:cNvPr>
          <p:cNvSpPr/>
          <p:nvPr/>
        </p:nvSpPr>
        <p:spPr>
          <a:xfrm>
            <a:off x="3961119" y="2535926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65" name="Oval 64">
            <a:extLst>
              <a:ext uri="{FF2B5EF4-FFF2-40B4-BE49-F238E27FC236}">
                <a16:creationId xmlns:a16="http://schemas.microsoft.com/office/drawing/2014/main" id="{79D974A8-E3F6-CF88-4211-90D79D8634E5}"/>
              </a:ext>
            </a:extLst>
          </p:cNvPr>
          <p:cNvSpPr/>
          <p:nvPr/>
        </p:nvSpPr>
        <p:spPr>
          <a:xfrm>
            <a:off x="1870984" y="2683450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66" name="Oval 65">
            <a:extLst>
              <a:ext uri="{FF2B5EF4-FFF2-40B4-BE49-F238E27FC236}">
                <a16:creationId xmlns:a16="http://schemas.microsoft.com/office/drawing/2014/main" id="{A00E5702-0C43-3ECD-0283-18FFD756DF91}"/>
              </a:ext>
            </a:extLst>
          </p:cNvPr>
          <p:cNvSpPr/>
          <p:nvPr/>
        </p:nvSpPr>
        <p:spPr>
          <a:xfrm>
            <a:off x="2015825" y="2674732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67" name="Oval 66">
            <a:extLst>
              <a:ext uri="{FF2B5EF4-FFF2-40B4-BE49-F238E27FC236}">
                <a16:creationId xmlns:a16="http://schemas.microsoft.com/office/drawing/2014/main" id="{7845D6EE-B424-94DA-76E3-D4B61171F248}"/>
              </a:ext>
            </a:extLst>
          </p:cNvPr>
          <p:cNvSpPr/>
          <p:nvPr/>
        </p:nvSpPr>
        <p:spPr>
          <a:xfrm>
            <a:off x="2123114" y="2680767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68" name="Oval 67">
            <a:extLst>
              <a:ext uri="{FF2B5EF4-FFF2-40B4-BE49-F238E27FC236}">
                <a16:creationId xmlns:a16="http://schemas.microsoft.com/office/drawing/2014/main" id="{1484EBCF-D7D3-657F-1C7A-6F0D30F980AC}"/>
              </a:ext>
            </a:extLst>
          </p:cNvPr>
          <p:cNvSpPr/>
          <p:nvPr/>
        </p:nvSpPr>
        <p:spPr>
          <a:xfrm>
            <a:off x="2268626" y="2686802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69" name="Oval 68">
            <a:extLst>
              <a:ext uri="{FF2B5EF4-FFF2-40B4-BE49-F238E27FC236}">
                <a16:creationId xmlns:a16="http://schemas.microsoft.com/office/drawing/2014/main" id="{8C956E97-116D-2234-9DA0-62AC060AAB39}"/>
              </a:ext>
            </a:extLst>
          </p:cNvPr>
          <p:cNvSpPr/>
          <p:nvPr/>
        </p:nvSpPr>
        <p:spPr>
          <a:xfrm>
            <a:off x="2422855" y="2691496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70" name="Oval 69">
            <a:extLst>
              <a:ext uri="{FF2B5EF4-FFF2-40B4-BE49-F238E27FC236}">
                <a16:creationId xmlns:a16="http://schemas.microsoft.com/office/drawing/2014/main" id="{82424BBB-7A49-7E42-BEBD-95611BF58AFA}"/>
              </a:ext>
            </a:extLst>
          </p:cNvPr>
          <p:cNvSpPr/>
          <p:nvPr/>
        </p:nvSpPr>
        <p:spPr>
          <a:xfrm>
            <a:off x="2536179" y="2688814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71" name="Oval 70">
            <a:extLst>
              <a:ext uri="{FF2B5EF4-FFF2-40B4-BE49-F238E27FC236}">
                <a16:creationId xmlns:a16="http://schemas.microsoft.com/office/drawing/2014/main" id="{81715FDB-FDE6-B5B9-705D-7D7EC06B8B29}"/>
              </a:ext>
            </a:extLst>
          </p:cNvPr>
          <p:cNvSpPr/>
          <p:nvPr/>
        </p:nvSpPr>
        <p:spPr>
          <a:xfrm>
            <a:off x="2673644" y="2666015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72" name="Oval 71">
            <a:extLst>
              <a:ext uri="{FF2B5EF4-FFF2-40B4-BE49-F238E27FC236}">
                <a16:creationId xmlns:a16="http://schemas.microsoft.com/office/drawing/2014/main" id="{08836B56-F9BF-CF5F-E521-738788077088}"/>
              </a:ext>
            </a:extLst>
          </p:cNvPr>
          <p:cNvSpPr/>
          <p:nvPr/>
        </p:nvSpPr>
        <p:spPr>
          <a:xfrm>
            <a:off x="2813121" y="2695520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73" name="Oval 72">
            <a:extLst>
              <a:ext uri="{FF2B5EF4-FFF2-40B4-BE49-F238E27FC236}">
                <a16:creationId xmlns:a16="http://schemas.microsoft.com/office/drawing/2014/main" id="{2A041F93-1382-77B1-5C07-A8C3639A47D1}"/>
              </a:ext>
            </a:extLst>
          </p:cNvPr>
          <p:cNvSpPr/>
          <p:nvPr/>
        </p:nvSpPr>
        <p:spPr>
          <a:xfrm>
            <a:off x="2942539" y="2696190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74" name="Oval 73">
            <a:extLst>
              <a:ext uri="{FF2B5EF4-FFF2-40B4-BE49-F238E27FC236}">
                <a16:creationId xmlns:a16="http://schemas.microsoft.com/office/drawing/2014/main" id="{760FB3C2-15B5-B001-39A5-45F65EC74572}"/>
              </a:ext>
            </a:extLst>
          </p:cNvPr>
          <p:cNvSpPr/>
          <p:nvPr/>
        </p:nvSpPr>
        <p:spPr>
          <a:xfrm>
            <a:off x="3054522" y="2680097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75" name="Oval 74">
            <a:extLst>
              <a:ext uri="{FF2B5EF4-FFF2-40B4-BE49-F238E27FC236}">
                <a16:creationId xmlns:a16="http://schemas.microsoft.com/office/drawing/2014/main" id="{2821E9DB-E458-0E34-F0DA-E1DF607F5437}"/>
              </a:ext>
            </a:extLst>
          </p:cNvPr>
          <p:cNvSpPr/>
          <p:nvPr/>
        </p:nvSpPr>
        <p:spPr>
          <a:xfrm>
            <a:off x="3173211" y="2689485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76" name="Oval 75">
            <a:extLst>
              <a:ext uri="{FF2B5EF4-FFF2-40B4-BE49-F238E27FC236}">
                <a16:creationId xmlns:a16="http://schemas.microsoft.com/office/drawing/2014/main" id="{6428593B-4470-EABC-2C80-2374D9915715}"/>
              </a:ext>
            </a:extLst>
          </p:cNvPr>
          <p:cNvSpPr/>
          <p:nvPr/>
        </p:nvSpPr>
        <p:spPr>
          <a:xfrm>
            <a:off x="3302629" y="2666686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77" name="Oval 76">
            <a:extLst>
              <a:ext uri="{FF2B5EF4-FFF2-40B4-BE49-F238E27FC236}">
                <a16:creationId xmlns:a16="http://schemas.microsoft.com/office/drawing/2014/main" id="{43644681-1281-D40A-0009-BDE7C0254172}"/>
              </a:ext>
            </a:extLst>
          </p:cNvPr>
          <p:cNvSpPr/>
          <p:nvPr/>
        </p:nvSpPr>
        <p:spPr>
          <a:xfrm>
            <a:off x="3439424" y="2670709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78" name="Oval 77">
            <a:extLst>
              <a:ext uri="{FF2B5EF4-FFF2-40B4-BE49-F238E27FC236}">
                <a16:creationId xmlns:a16="http://schemas.microsoft.com/office/drawing/2014/main" id="{9E277A55-562E-A4BD-D301-8A26578B3F8C}"/>
              </a:ext>
            </a:extLst>
          </p:cNvPr>
          <p:cNvSpPr/>
          <p:nvPr/>
        </p:nvSpPr>
        <p:spPr>
          <a:xfrm>
            <a:off x="3574877" y="2666015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79" name="Oval 78">
            <a:extLst>
              <a:ext uri="{FF2B5EF4-FFF2-40B4-BE49-F238E27FC236}">
                <a16:creationId xmlns:a16="http://schemas.microsoft.com/office/drawing/2014/main" id="{B2AE1A4C-B7A3-812D-C84A-2BE254536AC3}"/>
              </a:ext>
            </a:extLst>
          </p:cNvPr>
          <p:cNvSpPr/>
          <p:nvPr/>
        </p:nvSpPr>
        <p:spPr>
          <a:xfrm>
            <a:off x="3692225" y="2670038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80" name="Oval 79">
            <a:extLst>
              <a:ext uri="{FF2B5EF4-FFF2-40B4-BE49-F238E27FC236}">
                <a16:creationId xmlns:a16="http://schemas.microsoft.com/office/drawing/2014/main" id="{24985A17-7EEB-AF2F-DB94-B716186F653F}"/>
              </a:ext>
            </a:extLst>
          </p:cNvPr>
          <p:cNvSpPr/>
          <p:nvPr/>
        </p:nvSpPr>
        <p:spPr>
          <a:xfrm>
            <a:off x="3827007" y="2678756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81" name="Oval 80">
            <a:extLst>
              <a:ext uri="{FF2B5EF4-FFF2-40B4-BE49-F238E27FC236}">
                <a16:creationId xmlns:a16="http://schemas.microsoft.com/office/drawing/2014/main" id="{02678458-20B7-AF44-B2D6-EB382A37D28D}"/>
              </a:ext>
            </a:extLst>
          </p:cNvPr>
          <p:cNvSpPr/>
          <p:nvPr/>
        </p:nvSpPr>
        <p:spPr>
          <a:xfrm>
            <a:off x="3955084" y="2698873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82" name="Oval 81">
            <a:extLst>
              <a:ext uri="{FF2B5EF4-FFF2-40B4-BE49-F238E27FC236}">
                <a16:creationId xmlns:a16="http://schemas.microsoft.com/office/drawing/2014/main" id="{2741BDE8-ABC9-389F-1336-C36ACCA16318}"/>
              </a:ext>
            </a:extLst>
          </p:cNvPr>
          <p:cNvSpPr/>
          <p:nvPr/>
        </p:nvSpPr>
        <p:spPr>
          <a:xfrm>
            <a:off x="1886407" y="2807503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83" name="Oval 82">
            <a:extLst>
              <a:ext uri="{FF2B5EF4-FFF2-40B4-BE49-F238E27FC236}">
                <a16:creationId xmlns:a16="http://schemas.microsoft.com/office/drawing/2014/main" id="{6A7C1A3C-E01A-99ED-F36C-CB8A34688A8C}"/>
              </a:ext>
            </a:extLst>
          </p:cNvPr>
          <p:cNvSpPr/>
          <p:nvPr/>
        </p:nvSpPr>
        <p:spPr>
          <a:xfrm>
            <a:off x="2002414" y="2815550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84" name="Oval 83">
            <a:extLst>
              <a:ext uri="{FF2B5EF4-FFF2-40B4-BE49-F238E27FC236}">
                <a16:creationId xmlns:a16="http://schemas.microsoft.com/office/drawing/2014/main" id="{E647BD22-28AE-C913-C46D-96FC4EEFD208}"/>
              </a:ext>
            </a:extLst>
          </p:cNvPr>
          <p:cNvSpPr/>
          <p:nvPr/>
        </p:nvSpPr>
        <p:spPr>
          <a:xfrm>
            <a:off x="2137867" y="2806162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85" name="Oval 84">
            <a:extLst>
              <a:ext uri="{FF2B5EF4-FFF2-40B4-BE49-F238E27FC236}">
                <a16:creationId xmlns:a16="http://schemas.microsoft.com/office/drawing/2014/main" id="{21C95649-E72E-8DCF-D213-47F57DA7C708}"/>
              </a:ext>
            </a:extLst>
          </p:cNvPr>
          <p:cNvSpPr/>
          <p:nvPr/>
        </p:nvSpPr>
        <p:spPr>
          <a:xfrm>
            <a:off x="2288072" y="2841702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86" name="Oval 85">
            <a:extLst>
              <a:ext uri="{FF2B5EF4-FFF2-40B4-BE49-F238E27FC236}">
                <a16:creationId xmlns:a16="http://schemas.microsoft.com/office/drawing/2014/main" id="{37DE2DBF-3D08-BF13-06B7-E98C06B7AF7A}"/>
              </a:ext>
            </a:extLst>
          </p:cNvPr>
          <p:cNvSpPr/>
          <p:nvPr/>
        </p:nvSpPr>
        <p:spPr>
          <a:xfrm>
            <a:off x="2403408" y="2820914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87" name="Oval 86">
            <a:extLst>
              <a:ext uri="{FF2B5EF4-FFF2-40B4-BE49-F238E27FC236}">
                <a16:creationId xmlns:a16="http://schemas.microsoft.com/office/drawing/2014/main" id="{F8D6AA1A-3D67-EC38-AC3D-7DA9CBED6157}"/>
              </a:ext>
            </a:extLst>
          </p:cNvPr>
          <p:cNvSpPr/>
          <p:nvPr/>
        </p:nvSpPr>
        <p:spPr>
          <a:xfrm>
            <a:off x="2518745" y="2805492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88" name="Oval 87">
            <a:extLst>
              <a:ext uri="{FF2B5EF4-FFF2-40B4-BE49-F238E27FC236}">
                <a16:creationId xmlns:a16="http://schemas.microsoft.com/office/drawing/2014/main" id="{2CCA787B-02D3-2D21-9BF2-8262DC1AFCF9}"/>
              </a:ext>
            </a:extLst>
          </p:cNvPr>
          <p:cNvSpPr/>
          <p:nvPr/>
        </p:nvSpPr>
        <p:spPr>
          <a:xfrm>
            <a:off x="2660233" y="2812197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89" name="Oval 88">
            <a:extLst>
              <a:ext uri="{FF2B5EF4-FFF2-40B4-BE49-F238E27FC236}">
                <a16:creationId xmlns:a16="http://schemas.microsoft.com/office/drawing/2014/main" id="{2BA20D92-3F40-BEB4-D76D-E37D09928C5F}"/>
              </a:ext>
            </a:extLst>
          </p:cNvPr>
          <p:cNvSpPr/>
          <p:nvPr/>
        </p:nvSpPr>
        <p:spPr>
          <a:xfrm>
            <a:off x="2810438" y="2808174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90" name="Oval 89">
            <a:extLst>
              <a:ext uri="{FF2B5EF4-FFF2-40B4-BE49-F238E27FC236}">
                <a16:creationId xmlns:a16="http://schemas.microsoft.com/office/drawing/2014/main" id="{8ED50015-D427-4D88-32FE-CFB95C7CED9D}"/>
              </a:ext>
            </a:extLst>
          </p:cNvPr>
          <p:cNvSpPr/>
          <p:nvPr/>
        </p:nvSpPr>
        <p:spPr>
          <a:xfrm>
            <a:off x="2908340" y="2839690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91" name="Oval 90">
            <a:extLst>
              <a:ext uri="{FF2B5EF4-FFF2-40B4-BE49-F238E27FC236}">
                <a16:creationId xmlns:a16="http://schemas.microsoft.com/office/drawing/2014/main" id="{EA7F6B9B-21EA-2212-890A-0942337B7B4D}"/>
              </a:ext>
            </a:extLst>
          </p:cNvPr>
          <p:cNvSpPr/>
          <p:nvPr/>
        </p:nvSpPr>
        <p:spPr>
          <a:xfrm>
            <a:off x="3059887" y="2807503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92" name="Oval 91">
            <a:extLst>
              <a:ext uri="{FF2B5EF4-FFF2-40B4-BE49-F238E27FC236}">
                <a16:creationId xmlns:a16="http://schemas.microsoft.com/office/drawing/2014/main" id="{B7D85198-AA0A-74E9-ACD2-55814DB5CC3F}"/>
              </a:ext>
            </a:extLst>
          </p:cNvPr>
          <p:cNvSpPr/>
          <p:nvPr/>
        </p:nvSpPr>
        <p:spPr>
          <a:xfrm>
            <a:off x="3191316" y="2802809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93" name="Oval 92">
            <a:extLst>
              <a:ext uri="{FF2B5EF4-FFF2-40B4-BE49-F238E27FC236}">
                <a16:creationId xmlns:a16="http://schemas.microsoft.com/office/drawing/2014/main" id="{36EE9C27-50DA-2080-6A7B-2C07AA223128}"/>
              </a:ext>
            </a:extLst>
          </p:cNvPr>
          <p:cNvSpPr/>
          <p:nvPr/>
        </p:nvSpPr>
        <p:spPr>
          <a:xfrm>
            <a:off x="3321405" y="2841031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94" name="Oval 93">
            <a:extLst>
              <a:ext uri="{FF2B5EF4-FFF2-40B4-BE49-F238E27FC236}">
                <a16:creationId xmlns:a16="http://schemas.microsoft.com/office/drawing/2014/main" id="{C3C89858-2CA2-F1A5-1777-EEF7107F8E85}"/>
              </a:ext>
            </a:extLst>
          </p:cNvPr>
          <p:cNvSpPr/>
          <p:nvPr/>
        </p:nvSpPr>
        <p:spPr>
          <a:xfrm>
            <a:off x="3465576" y="2829632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95" name="Oval 94">
            <a:extLst>
              <a:ext uri="{FF2B5EF4-FFF2-40B4-BE49-F238E27FC236}">
                <a16:creationId xmlns:a16="http://schemas.microsoft.com/office/drawing/2014/main" id="{9E0DF542-0193-5CB7-1E4F-3FAD78E6161B}"/>
              </a:ext>
            </a:extLst>
          </p:cNvPr>
          <p:cNvSpPr/>
          <p:nvPr/>
        </p:nvSpPr>
        <p:spPr>
          <a:xfrm>
            <a:off x="3572195" y="2816221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96" name="Oval 95">
            <a:extLst>
              <a:ext uri="{FF2B5EF4-FFF2-40B4-BE49-F238E27FC236}">
                <a16:creationId xmlns:a16="http://schemas.microsoft.com/office/drawing/2014/main" id="{680CC76D-2AB2-B7D8-C09B-661839A53722}"/>
              </a:ext>
            </a:extLst>
          </p:cNvPr>
          <p:cNvSpPr/>
          <p:nvPr/>
        </p:nvSpPr>
        <p:spPr>
          <a:xfrm>
            <a:off x="3698930" y="2832314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97" name="Oval 96">
            <a:extLst>
              <a:ext uri="{FF2B5EF4-FFF2-40B4-BE49-F238E27FC236}">
                <a16:creationId xmlns:a16="http://schemas.microsoft.com/office/drawing/2014/main" id="{AEC00593-2181-D2AE-BB8B-7FAA8676F13B}"/>
              </a:ext>
            </a:extLst>
          </p:cNvPr>
          <p:cNvSpPr/>
          <p:nvPr/>
        </p:nvSpPr>
        <p:spPr>
          <a:xfrm>
            <a:off x="3844442" y="2832985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98" name="Oval 97">
            <a:extLst>
              <a:ext uri="{FF2B5EF4-FFF2-40B4-BE49-F238E27FC236}">
                <a16:creationId xmlns:a16="http://schemas.microsoft.com/office/drawing/2014/main" id="{5C9A7B4C-0D84-8A77-34F5-914AC660789A}"/>
              </a:ext>
            </a:extLst>
          </p:cNvPr>
          <p:cNvSpPr/>
          <p:nvPr/>
        </p:nvSpPr>
        <p:spPr>
          <a:xfrm>
            <a:off x="3967154" y="2810185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99" name="Oval 98">
            <a:extLst>
              <a:ext uri="{FF2B5EF4-FFF2-40B4-BE49-F238E27FC236}">
                <a16:creationId xmlns:a16="http://schemas.microsoft.com/office/drawing/2014/main" id="{845CEC42-D676-F0D5-946D-0DEE6FCF6A1F}"/>
              </a:ext>
            </a:extLst>
          </p:cNvPr>
          <p:cNvSpPr/>
          <p:nvPr/>
        </p:nvSpPr>
        <p:spPr>
          <a:xfrm>
            <a:off x="1894453" y="2978496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00" name="Oval 99">
            <a:extLst>
              <a:ext uri="{FF2B5EF4-FFF2-40B4-BE49-F238E27FC236}">
                <a16:creationId xmlns:a16="http://schemas.microsoft.com/office/drawing/2014/main" id="{9472ED4B-23D9-2CB7-7B37-5734F349DC61}"/>
              </a:ext>
            </a:extLst>
          </p:cNvPr>
          <p:cNvSpPr/>
          <p:nvPr/>
        </p:nvSpPr>
        <p:spPr>
          <a:xfrm>
            <a:off x="2026554" y="2971120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01" name="Oval 100">
            <a:extLst>
              <a:ext uri="{FF2B5EF4-FFF2-40B4-BE49-F238E27FC236}">
                <a16:creationId xmlns:a16="http://schemas.microsoft.com/office/drawing/2014/main" id="{DADA1A92-3E0F-C327-E803-F56CAA1F45C4}"/>
              </a:ext>
            </a:extLst>
          </p:cNvPr>
          <p:cNvSpPr/>
          <p:nvPr/>
        </p:nvSpPr>
        <p:spPr>
          <a:xfrm>
            <a:off x="2155972" y="2968438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02" name="Oval 101">
            <a:extLst>
              <a:ext uri="{FF2B5EF4-FFF2-40B4-BE49-F238E27FC236}">
                <a16:creationId xmlns:a16="http://schemas.microsoft.com/office/drawing/2014/main" id="{F7513419-D49F-DBA6-F682-81C144AA0855}"/>
              </a:ext>
            </a:extLst>
          </p:cNvPr>
          <p:cNvSpPr/>
          <p:nvPr/>
        </p:nvSpPr>
        <p:spPr>
          <a:xfrm>
            <a:off x="2263261" y="2959720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03" name="Oval 102">
            <a:extLst>
              <a:ext uri="{FF2B5EF4-FFF2-40B4-BE49-F238E27FC236}">
                <a16:creationId xmlns:a16="http://schemas.microsoft.com/office/drawing/2014/main" id="{D9FF0772-B22A-53FE-6883-89C94FF3E0F9}"/>
              </a:ext>
            </a:extLst>
          </p:cNvPr>
          <p:cNvSpPr/>
          <p:nvPr/>
        </p:nvSpPr>
        <p:spPr>
          <a:xfrm>
            <a:off x="2398715" y="2940274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04" name="Oval 103">
            <a:extLst>
              <a:ext uri="{FF2B5EF4-FFF2-40B4-BE49-F238E27FC236}">
                <a16:creationId xmlns:a16="http://schemas.microsoft.com/office/drawing/2014/main" id="{97999CC4-5F42-06CD-802D-0D8112934D39}"/>
              </a:ext>
            </a:extLst>
          </p:cNvPr>
          <p:cNvSpPr/>
          <p:nvPr/>
        </p:nvSpPr>
        <p:spPr>
          <a:xfrm>
            <a:off x="2516733" y="2950333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05" name="Oval 104">
            <a:extLst>
              <a:ext uri="{FF2B5EF4-FFF2-40B4-BE49-F238E27FC236}">
                <a16:creationId xmlns:a16="http://schemas.microsoft.com/office/drawing/2014/main" id="{6C155F50-E7C3-BA4B-8584-EBACE8957049}"/>
              </a:ext>
            </a:extLst>
          </p:cNvPr>
          <p:cNvSpPr/>
          <p:nvPr/>
        </p:nvSpPr>
        <p:spPr>
          <a:xfrm>
            <a:off x="2656880" y="2967097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06" name="Oval 105">
            <a:extLst>
              <a:ext uri="{FF2B5EF4-FFF2-40B4-BE49-F238E27FC236}">
                <a16:creationId xmlns:a16="http://schemas.microsoft.com/office/drawing/2014/main" id="{F18E543D-5C5F-3155-BB9E-E40161DF98F9}"/>
              </a:ext>
            </a:extLst>
          </p:cNvPr>
          <p:cNvSpPr/>
          <p:nvPr/>
        </p:nvSpPr>
        <p:spPr>
          <a:xfrm>
            <a:off x="2815132" y="2957038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07" name="Oval 106">
            <a:extLst>
              <a:ext uri="{FF2B5EF4-FFF2-40B4-BE49-F238E27FC236}">
                <a16:creationId xmlns:a16="http://schemas.microsoft.com/office/drawing/2014/main" id="{ECAD6D1F-C36A-25C8-067C-F14B92A5F102}"/>
              </a:ext>
            </a:extLst>
          </p:cNvPr>
          <p:cNvSpPr/>
          <p:nvPr/>
        </p:nvSpPr>
        <p:spPr>
          <a:xfrm>
            <a:off x="2945221" y="2978496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08" name="Oval 107">
            <a:extLst>
              <a:ext uri="{FF2B5EF4-FFF2-40B4-BE49-F238E27FC236}">
                <a16:creationId xmlns:a16="http://schemas.microsoft.com/office/drawing/2014/main" id="{37BA26BA-545E-C124-3ACE-9B5EF12AA2D1}"/>
              </a:ext>
            </a:extLst>
          </p:cNvPr>
          <p:cNvSpPr/>
          <p:nvPr/>
        </p:nvSpPr>
        <p:spPr>
          <a:xfrm>
            <a:off x="3076651" y="2953685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09" name="Oval 108">
            <a:extLst>
              <a:ext uri="{FF2B5EF4-FFF2-40B4-BE49-F238E27FC236}">
                <a16:creationId xmlns:a16="http://schemas.microsoft.com/office/drawing/2014/main" id="{EA0253E7-0806-C63E-43FC-658B9AFC1050}"/>
              </a:ext>
            </a:extLst>
          </p:cNvPr>
          <p:cNvSpPr/>
          <p:nvPr/>
        </p:nvSpPr>
        <p:spPr>
          <a:xfrm>
            <a:off x="3177905" y="2948321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10" name="Oval 109">
            <a:extLst>
              <a:ext uri="{FF2B5EF4-FFF2-40B4-BE49-F238E27FC236}">
                <a16:creationId xmlns:a16="http://schemas.microsoft.com/office/drawing/2014/main" id="{05038D09-FF8C-3265-85C3-840F5FB29A4A}"/>
              </a:ext>
            </a:extLst>
          </p:cNvPr>
          <p:cNvSpPr/>
          <p:nvPr/>
        </p:nvSpPr>
        <p:spPr>
          <a:xfrm>
            <a:off x="3307994" y="2946980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11" name="Oval 110">
            <a:extLst>
              <a:ext uri="{FF2B5EF4-FFF2-40B4-BE49-F238E27FC236}">
                <a16:creationId xmlns:a16="http://schemas.microsoft.com/office/drawing/2014/main" id="{F88EFC9D-6902-EDA5-D57A-C6C34CCE793D}"/>
              </a:ext>
            </a:extLst>
          </p:cNvPr>
          <p:cNvSpPr/>
          <p:nvPr/>
        </p:nvSpPr>
        <p:spPr>
          <a:xfrm>
            <a:off x="3455517" y="2975143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12" name="Oval 111">
            <a:extLst>
              <a:ext uri="{FF2B5EF4-FFF2-40B4-BE49-F238E27FC236}">
                <a16:creationId xmlns:a16="http://schemas.microsoft.com/office/drawing/2014/main" id="{8CD84EE3-40DB-B110-570B-CB67B2BEC4E3}"/>
              </a:ext>
            </a:extLst>
          </p:cNvPr>
          <p:cNvSpPr/>
          <p:nvPr/>
        </p:nvSpPr>
        <p:spPr>
          <a:xfrm>
            <a:off x="3594994" y="2958379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13" name="Oval 112">
            <a:extLst>
              <a:ext uri="{FF2B5EF4-FFF2-40B4-BE49-F238E27FC236}">
                <a16:creationId xmlns:a16="http://schemas.microsoft.com/office/drawing/2014/main" id="{0AD13020-FD59-CDCD-26A7-7B59A5BD8FD2}"/>
              </a:ext>
            </a:extLst>
          </p:cNvPr>
          <p:cNvSpPr/>
          <p:nvPr/>
        </p:nvSpPr>
        <p:spPr>
          <a:xfrm>
            <a:off x="3718377" y="2971120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14" name="Oval 113">
            <a:extLst>
              <a:ext uri="{FF2B5EF4-FFF2-40B4-BE49-F238E27FC236}">
                <a16:creationId xmlns:a16="http://schemas.microsoft.com/office/drawing/2014/main" id="{8A0142E5-D1E1-1657-0073-00EF2BF139D4}"/>
              </a:ext>
            </a:extLst>
          </p:cNvPr>
          <p:cNvSpPr/>
          <p:nvPr/>
        </p:nvSpPr>
        <p:spPr>
          <a:xfrm>
            <a:off x="3826337" y="2965755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15" name="Oval 114">
            <a:extLst>
              <a:ext uri="{FF2B5EF4-FFF2-40B4-BE49-F238E27FC236}">
                <a16:creationId xmlns:a16="http://schemas.microsoft.com/office/drawing/2014/main" id="{C1765DC1-35BA-63F4-37EB-EAB53C59BD29}"/>
              </a:ext>
            </a:extLst>
          </p:cNvPr>
          <p:cNvSpPr/>
          <p:nvPr/>
        </p:nvSpPr>
        <p:spPr>
          <a:xfrm>
            <a:off x="3990624" y="2970449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16" name="Oval 115">
            <a:extLst>
              <a:ext uri="{FF2B5EF4-FFF2-40B4-BE49-F238E27FC236}">
                <a16:creationId xmlns:a16="http://schemas.microsoft.com/office/drawing/2014/main" id="{17B83975-B855-89AA-DCBF-0A99F7472530}"/>
              </a:ext>
            </a:extLst>
          </p:cNvPr>
          <p:cNvSpPr/>
          <p:nvPr/>
        </p:nvSpPr>
        <p:spPr>
          <a:xfrm>
            <a:off x="1891771" y="3095844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17" name="Oval 116">
            <a:extLst>
              <a:ext uri="{FF2B5EF4-FFF2-40B4-BE49-F238E27FC236}">
                <a16:creationId xmlns:a16="http://schemas.microsoft.com/office/drawing/2014/main" id="{2D9EA63F-D96D-4BAC-F560-799380C02F08}"/>
              </a:ext>
            </a:extLst>
          </p:cNvPr>
          <p:cNvSpPr/>
          <p:nvPr/>
        </p:nvSpPr>
        <p:spPr>
          <a:xfrm>
            <a:off x="1999731" y="3107914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18" name="Oval 117">
            <a:extLst>
              <a:ext uri="{FF2B5EF4-FFF2-40B4-BE49-F238E27FC236}">
                <a16:creationId xmlns:a16="http://schemas.microsoft.com/office/drawing/2014/main" id="{401DF5C9-9B7C-08DF-2B34-E7BF364F77B3}"/>
              </a:ext>
            </a:extLst>
          </p:cNvPr>
          <p:cNvSpPr/>
          <p:nvPr/>
        </p:nvSpPr>
        <p:spPr>
          <a:xfrm>
            <a:off x="2136526" y="3108585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19" name="Oval 118">
            <a:extLst>
              <a:ext uri="{FF2B5EF4-FFF2-40B4-BE49-F238E27FC236}">
                <a16:creationId xmlns:a16="http://schemas.microsoft.com/office/drawing/2014/main" id="{CA20136D-0689-ADF2-CD45-F6F79717B6BA}"/>
              </a:ext>
            </a:extLst>
          </p:cNvPr>
          <p:cNvSpPr/>
          <p:nvPr/>
        </p:nvSpPr>
        <p:spPr>
          <a:xfrm>
            <a:off x="2292766" y="3092491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20" name="Oval 119">
            <a:extLst>
              <a:ext uri="{FF2B5EF4-FFF2-40B4-BE49-F238E27FC236}">
                <a16:creationId xmlns:a16="http://schemas.microsoft.com/office/drawing/2014/main" id="{8E8F9C72-46A6-E20F-A87F-7ACA3BA95553}"/>
              </a:ext>
            </a:extLst>
          </p:cNvPr>
          <p:cNvSpPr/>
          <p:nvPr/>
        </p:nvSpPr>
        <p:spPr>
          <a:xfrm>
            <a:off x="2400726" y="3114620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21" name="Oval 120">
            <a:extLst>
              <a:ext uri="{FF2B5EF4-FFF2-40B4-BE49-F238E27FC236}">
                <a16:creationId xmlns:a16="http://schemas.microsoft.com/office/drawing/2014/main" id="{52F7A658-E9DC-ACD7-1A61-2119D9B28CD5}"/>
              </a:ext>
            </a:extLst>
          </p:cNvPr>
          <p:cNvSpPr/>
          <p:nvPr/>
        </p:nvSpPr>
        <p:spPr>
          <a:xfrm>
            <a:off x="2544226" y="3083103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22" name="Oval 121">
            <a:extLst>
              <a:ext uri="{FF2B5EF4-FFF2-40B4-BE49-F238E27FC236}">
                <a16:creationId xmlns:a16="http://schemas.microsoft.com/office/drawing/2014/main" id="{4503F10F-5FA5-4759-C7FC-55E1C7D5E984}"/>
              </a:ext>
            </a:extLst>
          </p:cNvPr>
          <p:cNvSpPr/>
          <p:nvPr/>
        </p:nvSpPr>
        <p:spPr>
          <a:xfrm>
            <a:off x="2651516" y="3082433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23" name="Oval 122">
            <a:extLst>
              <a:ext uri="{FF2B5EF4-FFF2-40B4-BE49-F238E27FC236}">
                <a16:creationId xmlns:a16="http://schemas.microsoft.com/office/drawing/2014/main" id="{6E7CE46E-7B1A-55EB-1A60-EFF93B2A8BEB}"/>
              </a:ext>
            </a:extLst>
          </p:cNvPr>
          <p:cNvSpPr/>
          <p:nvPr/>
        </p:nvSpPr>
        <p:spPr>
          <a:xfrm>
            <a:off x="2813121" y="3108585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24" name="Oval 123">
            <a:extLst>
              <a:ext uri="{FF2B5EF4-FFF2-40B4-BE49-F238E27FC236}">
                <a16:creationId xmlns:a16="http://schemas.microsoft.com/office/drawing/2014/main" id="{DB0E210C-A447-1467-959A-29406508D64B}"/>
              </a:ext>
            </a:extLst>
          </p:cNvPr>
          <p:cNvSpPr/>
          <p:nvPr/>
        </p:nvSpPr>
        <p:spPr>
          <a:xfrm>
            <a:off x="2913705" y="3109926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25" name="Oval 124">
            <a:extLst>
              <a:ext uri="{FF2B5EF4-FFF2-40B4-BE49-F238E27FC236}">
                <a16:creationId xmlns:a16="http://schemas.microsoft.com/office/drawing/2014/main" id="{B1E9FA50-1EB6-C57E-905E-863D65AE3475}"/>
              </a:ext>
            </a:extLst>
          </p:cNvPr>
          <p:cNvSpPr/>
          <p:nvPr/>
        </p:nvSpPr>
        <p:spPr>
          <a:xfrm>
            <a:off x="3077992" y="3102550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26" name="Oval 125">
            <a:extLst>
              <a:ext uri="{FF2B5EF4-FFF2-40B4-BE49-F238E27FC236}">
                <a16:creationId xmlns:a16="http://schemas.microsoft.com/office/drawing/2014/main" id="{C99255C1-8BB3-FA15-32A5-6C6EE0B98CF0}"/>
              </a:ext>
            </a:extLst>
          </p:cNvPr>
          <p:cNvSpPr/>
          <p:nvPr/>
        </p:nvSpPr>
        <p:spPr>
          <a:xfrm>
            <a:off x="3183270" y="3098526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27" name="Oval 126">
            <a:extLst>
              <a:ext uri="{FF2B5EF4-FFF2-40B4-BE49-F238E27FC236}">
                <a16:creationId xmlns:a16="http://schemas.microsoft.com/office/drawing/2014/main" id="{447B05D7-B9F3-9656-D6B9-6AB44CE26A1B}"/>
              </a:ext>
            </a:extLst>
          </p:cNvPr>
          <p:cNvSpPr/>
          <p:nvPr/>
        </p:nvSpPr>
        <p:spPr>
          <a:xfrm>
            <a:off x="3305312" y="3077068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28" name="Oval 127">
            <a:extLst>
              <a:ext uri="{FF2B5EF4-FFF2-40B4-BE49-F238E27FC236}">
                <a16:creationId xmlns:a16="http://schemas.microsoft.com/office/drawing/2014/main" id="{0A84AC4E-50FC-A128-0840-7B0817D2C51A}"/>
              </a:ext>
            </a:extLst>
          </p:cNvPr>
          <p:cNvSpPr/>
          <p:nvPr/>
        </p:nvSpPr>
        <p:spPr>
          <a:xfrm>
            <a:off x="3469599" y="3102550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29" name="Oval 128">
            <a:extLst>
              <a:ext uri="{FF2B5EF4-FFF2-40B4-BE49-F238E27FC236}">
                <a16:creationId xmlns:a16="http://schemas.microsoft.com/office/drawing/2014/main" id="{990C8CA5-30B7-5129-E192-3FCBE36BECC8}"/>
              </a:ext>
            </a:extLst>
          </p:cNvPr>
          <p:cNvSpPr/>
          <p:nvPr/>
        </p:nvSpPr>
        <p:spPr>
          <a:xfrm>
            <a:off x="3582924" y="3113949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30" name="Oval 129">
            <a:extLst>
              <a:ext uri="{FF2B5EF4-FFF2-40B4-BE49-F238E27FC236}">
                <a16:creationId xmlns:a16="http://schemas.microsoft.com/office/drawing/2014/main" id="{E9F8BD6E-0B58-CD31-9389-C1505C9FA603}"/>
              </a:ext>
            </a:extLst>
          </p:cNvPr>
          <p:cNvSpPr/>
          <p:nvPr/>
        </p:nvSpPr>
        <p:spPr>
          <a:xfrm>
            <a:off x="3709659" y="3111267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31" name="Oval 130">
            <a:extLst>
              <a:ext uri="{FF2B5EF4-FFF2-40B4-BE49-F238E27FC236}">
                <a16:creationId xmlns:a16="http://schemas.microsoft.com/office/drawing/2014/main" id="{A119BE13-9470-2FE7-E351-03B4565B2EAE}"/>
              </a:ext>
            </a:extLst>
          </p:cNvPr>
          <p:cNvSpPr/>
          <p:nvPr/>
        </p:nvSpPr>
        <p:spPr>
          <a:xfrm>
            <a:off x="3856512" y="3085115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32" name="Oval 131">
            <a:extLst>
              <a:ext uri="{FF2B5EF4-FFF2-40B4-BE49-F238E27FC236}">
                <a16:creationId xmlns:a16="http://schemas.microsoft.com/office/drawing/2014/main" id="{D29965B9-FD38-0F0C-CDE5-3960ECA43292}"/>
              </a:ext>
            </a:extLst>
          </p:cNvPr>
          <p:cNvSpPr/>
          <p:nvPr/>
        </p:nvSpPr>
        <p:spPr>
          <a:xfrm>
            <a:off x="3963802" y="3088468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33" name="Freeform 132">
            <a:extLst>
              <a:ext uri="{FF2B5EF4-FFF2-40B4-BE49-F238E27FC236}">
                <a16:creationId xmlns:a16="http://schemas.microsoft.com/office/drawing/2014/main" id="{AF816C31-2BF7-3556-178E-2F226B35BE6A}"/>
              </a:ext>
            </a:extLst>
          </p:cNvPr>
          <p:cNvSpPr/>
          <p:nvPr/>
        </p:nvSpPr>
        <p:spPr>
          <a:xfrm>
            <a:off x="1822704" y="2690472"/>
            <a:ext cx="2279904" cy="50329"/>
          </a:xfrm>
          <a:custGeom>
            <a:avLst/>
            <a:gdLst>
              <a:gd name="csX0" fmla="*/ 0 w 2279904"/>
              <a:gd name="csY0" fmla="*/ 25165 h 50329"/>
              <a:gd name="csX1" fmla="*/ 2279904 w 2279904"/>
              <a:gd name="csY1" fmla="*/ 25165 h 50329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279904" h="50329">
                <a:moveTo>
                  <a:pt x="0" y="25165"/>
                </a:moveTo>
                <a:cubicBezTo>
                  <a:pt x="670560" y="-62008"/>
                  <a:pt x="1609344" y="112337"/>
                  <a:pt x="2279904" y="25165"/>
                </a:cubicBezTo>
              </a:path>
            </a:pathLst>
          </a:custGeom>
          <a:noFill/>
          <a:ln w="26797" cap="rnd">
            <a:solidFill>
              <a:srgbClr val="E0435A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34" name="Rounded Rectangle 133">
            <a:extLst>
              <a:ext uri="{FF2B5EF4-FFF2-40B4-BE49-F238E27FC236}">
                <a16:creationId xmlns:a16="http://schemas.microsoft.com/office/drawing/2014/main" id="{25980718-49F9-FD02-F77D-28950E090BAA}"/>
              </a:ext>
            </a:extLst>
          </p:cNvPr>
          <p:cNvSpPr/>
          <p:nvPr/>
        </p:nvSpPr>
        <p:spPr>
          <a:xfrm>
            <a:off x="2286731" y="3459480"/>
            <a:ext cx="1310274" cy="362102"/>
          </a:xfrm>
          <a:prstGeom prst="roundRect">
            <a:avLst>
              <a:gd name="adj" fmla="val 14814"/>
            </a:avLst>
          </a:prstGeom>
          <a:solidFill>
            <a:srgbClr val="3A3B42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35" name="TextBox 134">
            <a:extLst>
              <a:ext uri="{FF2B5EF4-FFF2-40B4-BE49-F238E27FC236}">
                <a16:creationId xmlns:a16="http://schemas.microsoft.com/office/drawing/2014/main" id="{057D284A-4728-E746-862F-C0BB643958FF}"/>
              </a:ext>
            </a:extLst>
          </p:cNvPr>
          <p:cNvSpPr txBox="1"/>
          <p:nvPr/>
        </p:nvSpPr>
        <p:spPr>
          <a:xfrm>
            <a:off x="2540262" y="3440965"/>
            <a:ext cx="76655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spc="0" baseline="0" dirty="0">
                <a:ln/>
                <a:solidFill>
                  <a:srgbClr val="E6E6EA"/>
                </a:solidFill>
                <a:latin typeface="Kanit"/>
                <a:sym typeface="Kanit"/>
                <a:rtl val="0"/>
              </a:rPr>
              <a:t>multimeter</a:t>
            </a:r>
          </a:p>
        </p:txBody>
      </p:sp>
      <p:sp>
        <p:nvSpPr>
          <p:cNvPr id="136" name="TextBox 135">
            <a:extLst>
              <a:ext uri="{FF2B5EF4-FFF2-40B4-BE49-F238E27FC236}">
                <a16:creationId xmlns:a16="http://schemas.microsoft.com/office/drawing/2014/main" id="{84BA2DD1-3B2D-A173-366E-0FBA4E673B8C}"/>
              </a:ext>
            </a:extLst>
          </p:cNvPr>
          <p:cNvSpPr txBox="1"/>
          <p:nvPr/>
        </p:nvSpPr>
        <p:spPr>
          <a:xfrm>
            <a:off x="2328065" y="3558983"/>
            <a:ext cx="126188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spc="0" baseline="0">
                <a:ln/>
                <a:solidFill>
                  <a:srgbClr val="FFFFFF"/>
                </a:solidFill>
                <a:latin typeface="Kanit"/>
                <a:sym typeface="Kanit"/>
                <a:rtl val="0"/>
              </a:rPr>
              <a:t>Low resistance</a:t>
            </a:r>
          </a:p>
        </p:txBody>
      </p:sp>
      <p:sp>
        <p:nvSpPr>
          <p:cNvPr id="140" name="TextBox 139">
            <a:extLst>
              <a:ext uri="{FF2B5EF4-FFF2-40B4-BE49-F238E27FC236}">
                <a16:creationId xmlns:a16="http://schemas.microsoft.com/office/drawing/2014/main" id="{E1FF2A1D-3A6B-35B5-173A-1FF0109C7095}"/>
              </a:ext>
            </a:extLst>
          </p:cNvPr>
          <p:cNvSpPr txBox="1"/>
          <p:nvPr/>
        </p:nvSpPr>
        <p:spPr>
          <a:xfrm>
            <a:off x="5119193" y="1866778"/>
            <a:ext cx="2124300" cy="28854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75" spc="0" baseline="0">
                <a:ln/>
                <a:solidFill>
                  <a:srgbClr val="E0435A"/>
                </a:solidFill>
                <a:latin typeface="Kanit"/>
                <a:sym typeface="Kanit"/>
                <a:rtl val="0"/>
              </a:rPr>
              <a:t>Cracked: pathways broken</a:t>
            </a:r>
          </a:p>
        </p:txBody>
      </p:sp>
      <p:sp>
        <p:nvSpPr>
          <p:cNvPr id="141" name="Rounded Rectangle 140">
            <a:extLst>
              <a:ext uri="{FF2B5EF4-FFF2-40B4-BE49-F238E27FC236}">
                <a16:creationId xmlns:a16="http://schemas.microsoft.com/office/drawing/2014/main" id="{86E52E90-320A-1943-328E-D835920E84F0}"/>
              </a:ext>
            </a:extLst>
          </p:cNvPr>
          <p:cNvSpPr/>
          <p:nvPr/>
        </p:nvSpPr>
        <p:spPr>
          <a:xfrm>
            <a:off x="5041392" y="2212717"/>
            <a:ext cx="2279904" cy="1005840"/>
          </a:xfrm>
          <a:prstGeom prst="roundRect">
            <a:avLst>
              <a:gd name="adj" fmla="val 4000"/>
            </a:avLst>
          </a:prstGeom>
          <a:solidFill>
            <a:srgbClr val="46484F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42" name="Rounded Rectangle 141">
            <a:extLst>
              <a:ext uri="{FF2B5EF4-FFF2-40B4-BE49-F238E27FC236}">
                <a16:creationId xmlns:a16="http://schemas.microsoft.com/office/drawing/2014/main" id="{0FC9FE54-7211-30FA-098B-B5EA33D0BE74}"/>
              </a:ext>
            </a:extLst>
          </p:cNvPr>
          <p:cNvSpPr/>
          <p:nvPr/>
        </p:nvSpPr>
        <p:spPr>
          <a:xfrm>
            <a:off x="4960924" y="2279773"/>
            <a:ext cx="80467" cy="871728"/>
          </a:xfrm>
          <a:prstGeom prst="roundRect">
            <a:avLst>
              <a:gd name="adj" fmla="val 16666"/>
            </a:avLst>
          </a:prstGeom>
          <a:solidFill>
            <a:srgbClr val="8D8D8D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43" name="Rounded Rectangle 142">
            <a:extLst>
              <a:ext uri="{FF2B5EF4-FFF2-40B4-BE49-F238E27FC236}">
                <a16:creationId xmlns:a16="http://schemas.microsoft.com/office/drawing/2014/main" id="{73054B3F-2580-BFB9-B949-C2C9D62898F3}"/>
              </a:ext>
            </a:extLst>
          </p:cNvPr>
          <p:cNvSpPr/>
          <p:nvPr/>
        </p:nvSpPr>
        <p:spPr>
          <a:xfrm>
            <a:off x="7321296" y="2279773"/>
            <a:ext cx="80467" cy="871728"/>
          </a:xfrm>
          <a:prstGeom prst="roundRect">
            <a:avLst>
              <a:gd name="adj" fmla="val 16666"/>
            </a:avLst>
          </a:prstGeom>
          <a:solidFill>
            <a:srgbClr val="8D8D8D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44" name="Oval 143">
            <a:extLst>
              <a:ext uri="{FF2B5EF4-FFF2-40B4-BE49-F238E27FC236}">
                <a16:creationId xmlns:a16="http://schemas.microsoft.com/office/drawing/2014/main" id="{297E3B44-8AAF-2F27-37FA-FF5180D78797}"/>
              </a:ext>
            </a:extLst>
          </p:cNvPr>
          <p:cNvSpPr/>
          <p:nvPr/>
        </p:nvSpPr>
        <p:spPr>
          <a:xfrm>
            <a:off x="5089672" y="2275079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45" name="Oval 144">
            <a:extLst>
              <a:ext uri="{FF2B5EF4-FFF2-40B4-BE49-F238E27FC236}">
                <a16:creationId xmlns:a16="http://schemas.microsoft.com/office/drawing/2014/main" id="{3447BB5A-B3EC-E144-5063-4FBF5A64207A}"/>
              </a:ext>
            </a:extLst>
          </p:cNvPr>
          <p:cNvSpPr/>
          <p:nvPr/>
        </p:nvSpPr>
        <p:spPr>
          <a:xfrm>
            <a:off x="5221772" y="2268373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46" name="Oval 145">
            <a:extLst>
              <a:ext uri="{FF2B5EF4-FFF2-40B4-BE49-F238E27FC236}">
                <a16:creationId xmlns:a16="http://schemas.microsoft.com/office/drawing/2014/main" id="{0593DC3B-DAC6-4355-FE66-1A07032BC9F2}"/>
              </a:ext>
            </a:extLst>
          </p:cNvPr>
          <p:cNvSpPr/>
          <p:nvPr/>
        </p:nvSpPr>
        <p:spPr>
          <a:xfrm>
            <a:off x="5347167" y="2288490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47" name="Oval 146">
            <a:extLst>
              <a:ext uri="{FF2B5EF4-FFF2-40B4-BE49-F238E27FC236}">
                <a16:creationId xmlns:a16="http://schemas.microsoft.com/office/drawing/2014/main" id="{B48D4FCE-18A7-BDB8-456C-816E9AC5DE6D}"/>
              </a:ext>
            </a:extLst>
          </p:cNvPr>
          <p:cNvSpPr/>
          <p:nvPr/>
        </p:nvSpPr>
        <p:spPr>
          <a:xfrm>
            <a:off x="5486643" y="2269714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48" name="Oval 147">
            <a:extLst>
              <a:ext uri="{FF2B5EF4-FFF2-40B4-BE49-F238E27FC236}">
                <a16:creationId xmlns:a16="http://schemas.microsoft.com/office/drawing/2014/main" id="{A7DCF6D1-1A6A-A1B9-4C25-06EB48B0C8D6}"/>
              </a:ext>
            </a:extLst>
          </p:cNvPr>
          <p:cNvSpPr/>
          <p:nvPr/>
        </p:nvSpPr>
        <p:spPr>
          <a:xfrm>
            <a:off x="5626790" y="2287819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49" name="Oval 148">
            <a:extLst>
              <a:ext uri="{FF2B5EF4-FFF2-40B4-BE49-F238E27FC236}">
                <a16:creationId xmlns:a16="http://schemas.microsoft.com/office/drawing/2014/main" id="{987A2B59-4EE1-5DBC-13DB-8422434FF2A4}"/>
              </a:ext>
            </a:extLst>
          </p:cNvPr>
          <p:cNvSpPr/>
          <p:nvPr/>
        </p:nvSpPr>
        <p:spPr>
          <a:xfrm>
            <a:off x="5750844" y="2288490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50" name="Oval 149">
            <a:extLst>
              <a:ext uri="{FF2B5EF4-FFF2-40B4-BE49-F238E27FC236}">
                <a16:creationId xmlns:a16="http://schemas.microsoft.com/office/drawing/2014/main" id="{03F47917-2DF7-5414-E32D-9A20A8E8A44F}"/>
              </a:ext>
            </a:extLst>
          </p:cNvPr>
          <p:cNvSpPr/>
          <p:nvPr/>
        </p:nvSpPr>
        <p:spPr>
          <a:xfrm>
            <a:off x="5884956" y="2273067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51" name="Oval 150">
            <a:extLst>
              <a:ext uri="{FF2B5EF4-FFF2-40B4-BE49-F238E27FC236}">
                <a16:creationId xmlns:a16="http://schemas.microsoft.com/office/drawing/2014/main" id="{181EA784-6E23-A928-97F1-856D6E650781}"/>
              </a:ext>
            </a:extLst>
          </p:cNvPr>
          <p:cNvSpPr/>
          <p:nvPr/>
        </p:nvSpPr>
        <p:spPr>
          <a:xfrm>
            <a:off x="6016386" y="2252280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52" name="Oval 151">
            <a:extLst>
              <a:ext uri="{FF2B5EF4-FFF2-40B4-BE49-F238E27FC236}">
                <a16:creationId xmlns:a16="http://schemas.microsoft.com/office/drawing/2014/main" id="{C9B3EA65-81AE-B3D6-E457-2CEB95A41C56}"/>
              </a:ext>
            </a:extLst>
          </p:cNvPr>
          <p:cNvSpPr/>
          <p:nvPr/>
        </p:nvSpPr>
        <p:spPr>
          <a:xfrm>
            <a:off x="6257117" y="2283796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53" name="Oval 152">
            <a:extLst>
              <a:ext uri="{FF2B5EF4-FFF2-40B4-BE49-F238E27FC236}">
                <a16:creationId xmlns:a16="http://schemas.microsoft.com/office/drawing/2014/main" id="{6DDE3E15-F43B-82C8-3230-5A437B92BA5D}"/>
              </a:ext>
            </a:extLst>
          </p:cNvPr>
          <p:cNvSpPr/>
          <p:nvPr/>
        </p:nvSpPr>
        <p:spPr>
          <a:xfrm>
            <a:off x="6394582" y="2270385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54" name="Oval 153">
            <a:extLst>
              <a:ext uri="{FF2B5EF4-FFF2-40B4-BE49-F238E27FC236}">
                <a16:creationId xmlns:a16="http://schemas.microsoft.com/office/drawing/2014/main" id="{896D87A5-4D55-41C7-2172-B1FDE87A3FE7}"/>
              </a:ext>
            </a:extLst>
          </p:cNvPr>
          <p:cNvSpPr/>
          <p:nvPr/>
        </p:nvSpPr>
        <p:spPr>
          <a:xfrm>
            <a:off x="6548140" y="2273737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55" name="Oval 154">
            <a:extLst>
              <a:ext uri="{FF2B5EF4-FFF2-40B4-BE49-F238E27FC236}">
                <a16:creationId xmlns:a16="http://schemas.microsoft.com/office/drawing/2014/main" id="{3AF9DFF5-A786-326A-D95E-33B41787C6E0}"/>
              </a:ext>
            </a:extLst>
          </p:cNvPr>
          <p:cNvSpPr/>
          <p:nvPr/>
        </p:nvSpPr>
        <p:spPr>
          <a:xfrm>
            <a:off x="6662806" y="2272396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56" name="Oval 155">
            <a:extLst>
              <a:ext uri="{FF2B5EF4-FFF2-40B4-BE49-F238E27FC236}">
                <a16:creationId xmlns:a16="http://schemas.microsoft.com/office/drawing/2014/main" id="{A9BA12CC-FC03-96E9-9560-F7C2AC518A15}"/>
              </a:ext>
            </a:extLst>
          </p:cNvPr>
          <p:cNvSpPr/>
          <p:nvPr/>
        </p:nvSpPr>
        <p:spPr>
          <a:xfrm>
            <a:off x="6802282" y="2283125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57" name="Oval 156">
            <a:extLst>
              <a:ext uri="{FF2B5EF4-FFF2-40B4-BE49-F238E27FC236}">
                <a16:creationId xmlns:a16="http://schemas.microsoft.com/office/drawing/2014/main" id="{454543EA-A4B0-9026-94CE-AB247DC49250}"/>
              </a:ext>
            </a:extLst>
          </p:cNvPr>
          <p:cNvSpPr/>
          <p:nvPr/>
        </p:nvSpPr>
        <p:spPr>
          <a:xfrm>
            <a:off x="6914936" y="2274408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58" name="Oval 157">
            <a:extLst>
              <a:ext uri="{FF2B5EF4-FFF2-40B4-BE49-F238E27FC236}">
                <a16:creationId xmlns:a16="http://schemas.microsoft.com/office/drawing/2014/main" id="{75A61112-9590-135E-5450-9E58EAF57F59}"/>
              </a:ext>
            </a:extLst>
          </p:cNvPr>
          <p:cNvSpPr/>
          <p:nvPr/>
        </p:nvSpPr>
        <p:spPr>
          <a:xfrm>
            <a:off x="7051730" y="2263009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59" name="Oval 158">
            <a:extLst>
              <a:ext uri="{FF2B5EF4-FFF2-40B4-BE49-F238E27FC236}">
                <a16:creationId xmlns:a16="http://schemas.microsoft.com/office/drawing/2014/main" id="{5300D941-6BB7-42D1-BA3D-53CAF62A17FE}"/>
              </a:ext>
            </a:extLst>
          </p:cNvPr>
          <p:cNvSpPr/>
          <p:nvPr/>
        </p:nvSpPr>
        <p:spPr>
          <a:xfrm>
            <a:off x="7203277" y="2271726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60" name="Oval 159">
            <a:extLst>
              <a:ext uri="{FF2B5EF4-FFF2-40B4-BE49-F238E27FC236}">
                <a16:creationId xmlns:a16="http://schemas.microsoft.com/office/drawing/2014/main" id="{BCA4B7E3-A19C-E5A1-EEB9-2E2B7209A8E4}"/>
              </a:ext>
            </a:extLst>
          </p:cNvPr>
          <p:cNvSpPr/>
          <p:nvPr/>
        </p:nvSpPr>
        <p:spPr>
          <a:xfrm>
            <a:off x="5103083" y="2419920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61" name="Oval 160">
            <a:extLst>
              <a:ext uri="{FF2B5EF4-FFF2-40B4-BE49-F238E27FC236}">
                <a16:creationId xmlns:a16="http://schemas.microsoft.com/office/drawing/2014/main" id="{184D0620-9ECE-6B9D-36E0-80E6C9F50341}"/>
              </a:ext>
            </a:extLst>
          </p:cNvPr>
          <p:cNvSpPr/>
          <p:nvPr/>
        </p:nvSpPr>
        <p:spPr>
          <a:xfrm>
            <a:off x="5247924" y="2407179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62" name="Oval 161">
            <a:extLst>
              <a:ext uri="{FF2B5EF4-FFF2-40B4-BE49-F238E27FC236}">
                <a16:creationId xmlns:a16="http://schemas.microsoft.com/office/drawing/2014/main" id="{24751F32-411C-4C66-725E-E309648B0765}"/>
              </a:ext>
            </a:extLst>
          </p:cNvPr>
          <p:cNvSpPr/>
          <p:nvPr/>
        </p:nvSpPr>
        <p:spPr>
          <a:xfrm>
            <a:off x="5366613" y="2409191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63" name="Oval 162">
            <a:extLst>
              <a:ext uri="{FF2B5EF4-FFF2-40B4-BE49-F238E27FC236}">
                <a16:creationId xmlns:a16="http://schemas.microsoft.com/office/drawing/2014/main" id="{2ADFB495-A0DB-2A9C-1A40-F06A9FB3A500}"/>
              </a:ext>
            </a:extLst>
          </p:cNvPr>
          <p:cNvSpPr/>
          <p:nvPr/>
        </p:nvSpPr>
        <p:spPr>
          <a:xfrm>
            <a:off x="5493349" y="2417237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64" name="Oval 163">
            <a:extLst>
              <a:ext uri="{FF2B5EF4-FFF2-40B4-BE49-F238E27FC236}">
                <a16:creationId xmlns:a16="http://schemas.microsoft.com/office/drawing/2014/main" id="{B20F9BDF-636B-85B3-3B71-AF2299D15DB4}"/>
              </a:ext>
            </a:extLst>
          </p:cNvPr>
          <p:cNvSpPr/>
          <p:nvPr/>
        </p:nvSpPr>
        <p:spPr>
          <a:xfrm>
            <a:off x="5621426" y="2410532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65" name="Oval 164">
            <a:extLst>
              <a:ext uri="{FF2B5EF4-FFF2-40B4-BE49-F238E27FC236}">
                <a16:creationId xmlns:a16="http://schemas.microsoft.com/office/drawing/2014/main" id="{B0DC70AE-F2C8-A04C-DE7A-28FD234B5B95}"/>
              </a:ext>
            </a:extLst>
          </p:cNvPr>
          <p:cNvSpPr/>
          <p:nvPr/>
        </p:nvSpPr>
        <p:spPr>
          <a:xfrm>
            <a:off x="5753526" y="2426625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66" name="Oval 165">
            <a:extLst>
              <a:ext uri="{FF2B5EF4-FFF2-40B4-BE49-F238E27FC236}">
                <a16:creationId xmlns:a16="http://schemas.microsoft.com/office/drawing/2014/main" id="{1437A63E-8B0C-F502-DEB8-DCE1D4A940AB}"/>
              </a:ext>
            </a:extLst>
          </p:cNvPr>
          <p:cNvSpPr/>
          <p:nvPr/>
        </p:nvSpPr>
        <p:spPr>
          <a:xfrm>
            <a:off x="5893003" y="2424613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67" name="Oval 166">
            <a:extLst>
              <a:ext uri="{FF2B5EF4-FFF2-40B4-BE49-F238E27FC236}">
                <a16:creationId xmlns:a16="http://schemas.microsoft.com/office/drawing/2014/main" id="{10ED8B57-DEC8-2870-A2BB-6942F69171FF}"/>
              </a:ext>
            </a:extLst>
          </p:cNvPr>
          <p:cNvSpPr/>
          <p:nvPr/>
        </p:nvSpPr>
        <p:spPr>
          <a:xfrm>
            <a:off x="6033820" y="2399803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68" name="Oval 167">
            <a:extLst>
              <a:ext uri="{FF2B5EF4-FFF2-40B4-BE49-F238E27FC236}">
                <a16:creationId xmlns:a16="http://schemas.microsoft.com/office/drawing/2014/main" id="{525D2EB7-4F24-867D-CE12-84465DE6CF88}"/>
              </a:ext>
            </a:extLst>
          </p:cNvPr>
          <p:cNvSpPr/>
          <p:nvPr/>
        </p:nvSpPr>
        <p:spPr>
          <a:xfrm>
            <a:off x="6290645" y="2394438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69" name="Oval 168">
            <a:extLst>
              <a:ext uri="{FF2B5EF4-FFF2-40B4-BE49-F238E27FC236}">
                <a16:creationId xmlns:a16="http://schemas.microsoft.com/office/drawing/2014/main" id="{FF889699-C099-372B-99C4-82A9992B9F90}"/>
              </a:ext>
            </a:extLst>
          </p:cNvPr>
          <p:cNvSpPr/>
          <p:nvPr/>
        </p:nvSpPr>
        <p:spPr>
          <a:xfrm>
            <a:off x="6392570" y="2407179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70" name="Oval 169">
            <a:extLst>
              <a:ext uri="{FF2B5EF4-FFF2-40B4-BE49-F238E27FC236}">
                <a16:creationId xmlns:a16="http://schemas.microsoft.com/office/drawing/2014/main" id="{AA976FB1-B11D-9653-E1EF-B5631A75CF3D}"/>
              </a:ext>
            </a:extLst>
          </p:cNvPr>
          <p:cNvSpPr/>
          <p:nvPr/>
        </p:nvSpPr>
        <p:spPr>
          <a:xfrm>
            <a:off x="6521317" y="2398462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71" name="Oval 170">
            <a:extLst>
              <a:ext uri="{FF2B5EF4-FFF2-40B4-BE49-F238E27FC236}">
                <a16:creationId xmlns:a16="http://schemas.microsoft.com/office/drawing/2014/main" id="{726BFC83-E887-BB9D-C884-A8B07B2C6A67}"/>
              </a:ext>
            </a:extLst>
          </p:cNvPr>
          <p:cNvSpPr/>
          <p:nvPr/>
        </p:nvSpPr>
        <p:spPr>
          <a:xfrm>
            <a:off x="6652077" y="2415896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72" name="Oval 171">
            <a:extLst>
              <a:ext uri="{FF2B5EF4-FFF2-40B4-BE49-F238E27FC236}">
                <a16:creationId xmlns:a16="http://schemas.microsoft.com/office/drawing/2014/main" id="{8F491F61-91FB-BDB5-86DA-32A8DD4907A8}"/>
              </a:ext>
            </a:extLst>
          </p:cNvPr>
          <p:cNvSpPr/>
          <p:nvPr/>
        </p:nvSpPr>
        <p:spPr>
          <a:xfrm>
            <a:off x="6811670" y="2425284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73" name="Oval 172">
            <a:extLst>
              <a:ext uri="{FF2B5EF4-FFF2-40B4-BE49-F238E27FC236}">
                <a16:creationId xmlns:a16="http://schemas.microsoft.com/office/drawing/2014/main" id="{ECC2BCB1-16EA-4C5F-5590-22636A42888A}"/>
              </a:ext>
            </a:extLst>
          </p:cNvPr>
          <p:cNvSpPr/>
          <p:nvPr/>
        </p:nvSpPr>
        <p:spPr>
          <a:xfrm>
            <a:off x="6916948" y="2417908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74" name="Oval 173">
            <a:extLst>
              <a:ext uri="{FF2B5EF4-FFF2-40B4-BE49-F238E27FC236}">
                <a16:creationId xmlns:a16="http://schemas.microsoft.com/office/drawing/2014/main" id="{197544F2-6329-362C-61C4-923EC2CE7770}"/>
              </a:ext>
            </a:extLst>
          </p:cNvPr>
          <p:cNvSpPr/>
          <p:nvPr/>
        </p:nvSpPr>
        <p:spPr>
          <a:xfrm>
            <a:off x="7068494" y="2395109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75" name="Oval 174">
            <a:extLst>
              <a:ext uri="{FF2B5EF4-FFF2-40B4-BE49-F238E27FC236}">
                <a16:creationId xmlns:a16="http://schemas.microsoft.com/office/drawing/2014/main" id="{0F3DAED7-64DD-779D-6EFC-F7BAF4F2BAD7}"/>
              </a:ext>
            </a:extLst>
          </p:cNvPr>
          <p:cNvSpPr/>
          <p:nvPr/>
        </p:nvSpPr>
        <p:spPr>
          <a:xfrm>
            <a:off x="7207971" y="2427966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76" name="Oval 175">
            <a:extLst>
              <a:ext uri="{FF2B5EF4-FFF2-40B4-BE49-F238E27FC236}">
                <a16:creationId xmlns:a16="http://schemas.microsoft.com/office/drawing/2014/main" id="{702ACC6B-3EDF-46CD-C929-E56A04931BCA}"/>
              </a:ext>
            </a:extLst>
          </p:cNvPr>
          <p:cNvSpPr/>
          <p:nvPr/>
        </p:nvSpPr>
        <p:spPr>
          <a:xfrm>
            <a:off x="5089001" y="2564761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77" name="Oval 176">
            <a:extLst>
              <a:ext uri="{FF2B5EF4-FFF2-40B4-BE49-F238E27FC236}">
                <a16:creationId xmlns:a16="http://schemas.microsoft.com/office/drawing/2014/main" id="{82C8249F-1DE1-142A-A6BB-CFBDA43FB64C}"/>
              </a:ext>
            </a:extLst>
          </p:cNvPr>
          <p:cNvSpPr/>
          <p:nvPr/>
        </p:nvSpPr>
        <p:spPr>
          <a:xfrm>
            <a:off x="5227137" y="2545985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78" name="Oval 177">
            <a:extLst>
              <a:ext uri="{FF2B5EF4-FFF2-40B4-BE49-F238E27FC236}">
                <a16:creationId xmlns:a16="http://schemas.microsoft.com/office/drawing/2014/main" id="{A27B23E0-B3DD-F443-E01C-B2B548FAF697}"/>
              </a:ext>
            </a:extLst>
          </p:cNvPr>
          <p:cNvSpPr/>
          <p:nvPr/>
        </p:nvSpPr>
        <p:spPr>
          <a:xfrm>
            <a:off x="5381365" y="2560067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79" name="Oval 178">
            <a:extLst>
              <a:ext uri="{FF2B5EF4-FFF2-40B4-BE49-F238E27FC236}">
                <a16:creationId xmlns:a16="http://schemas.microsoft.com/office/drawing/2014/main" id="{59FD7647-6D49-1250-0DE7-EDE393C7BEE8}"/>
              </a:ext>
            </a:extLst>
          </p:cNvPr>
          <p:cNvSpPr/>
          <p:nvPr/>
        </p:nvSpPr>
        <p:spPr>
          <a:xfrm>
            <a:off x="5479267" y="2543973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80" name="Oval 179">
            <a:extLst>
              <a:ext uri="{FF2B5EF4-FFF2-40B4-BE49-F238E27FC236}">
                <a16:creationId xmlns:a16="http://schemas.microsoft.com/office/drawing/2014/main" id="{EACBBDA1-AA08-9B05-3923-D1FA2304075A}"/>
              </a:ext>
            </a:extLst>
          </p:cNvPr>
          <p:cNvSpPr/>
          <p:nvPr/>
        </p:nvSpPr>
        <p:spPr>
          <a:xfrm>
            <a:off x="5624108" y="2539950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81" name="Oval 180">
            <a:extLst>
              <a:ext uri="{FF2B5EF4-FFF2-40B4-BE49-F238E27FC236}">
                <a16:creationId xmlns:a16="http://schemas.microsoft.com/office/drawing/2014/main" id="{6BB4DCB3-FF39-D831-BBED-21723569670E}"/>
              </a:ext>
            </a:extLst>
          </p:cNvPr>
          <p:cNvSpPr/>
          <p:nvPr/>
        </p:nvSpPr>
        <p:spPr>
          <a:xfrm>
            <a:off x="5742127" y="2539279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82" name="Oval 181">
            <a:extLst>
              <a:ext uri="{FF2B5EF4-FFF2-40B4-BE49-F238E27FC236}">
                <a16:creationId xmlns:a16="http://schemas.microsoft.com/office/drawing/2014/main" id="{9355BBB1-3D8A-481D-36B6-B6A48B7941EB}"/>
              </a:ext>
            </a:extLst>
          </p:cNvPr>
          <p:cNvSpPr/>
          <p:nvPr/>
        </p:nvSpPr>
        <p:spPr>
          <a:xfrm>
            <a:off x="5893673" y="2527209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83" name="Oval 182">
            <a:extLst>
              <a:ext uri="{FF2B5EF4-FFF2-40B4-BE49-F238E27FC236}">
                <a16:creationId xmlns:a16="http://schemas.microsoft.com/office/drawing/2014/main" id="{0CA7A88A-A10F-7561-CBD2-597EE01A498F}"/>
              </a:ext>
            </a:extLst>
          </p:cNvPr>
          <p:cNvSpPr/>
          <p:nvPr/>
        </p:nvSpPr>
        <p:spPr>
          <a:xfrm>
            <a:off x="6017727" y="2543973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84" name="Oval 183">
            <a:extLst>
              <a:ext uri="{FF2B5EF4-FFF2-40B4-BE49-F238E27FC236}">
                <a16:creationId xmlns:a16="http://schemas.microsoft.com/office/drawing/2014/main" id="{D0FCA1AD-5A85-16A5-66D2-2FFB71CFCF17}"/>
              </a:ext>
            </a:extLst>
          </p:cNvPr>
          <p:cNvSpPr/>
          <p:nvPr/>
        </p:nvSpPr>
        <p:spPr>
          <a:xfrm>
            <a:off x="6281928" y="2547326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85" name="Oval 184">
            <a:extLst>
              <a:ext uri="{FF2B5EF4-FFF2-40B4-BE49-F238E27FC236}">
                <a16:creationId xmlns:a16="http://schemas.microsoft.com/office/drawing/2014/main" id="{54D69A29-9D63-A81D-4E5D-3A74FD48CB35}"/>
              </a:ext>
            </a:extLst>
          </p:cNvPr>
          <p:cNvSpPr/>
          <p:nvPr/>
        </p:nvSpPr>
        <p:spPr>
          <a:xfrm>
            <a:off x="6390558" y="2566102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86" name="Oval 185">
            <a:extLst>
              <a:ext uri="{FF2B5EF4-FFF2-40B4-BE49-F238E27FC236}">
                <a16:creationId xmlns:a16="http://schemas.microsoft.com/office/drawing/2014/main" id="{328DEF88-3118-2BEF-BF10-6D7B4B5AAA37}"/>
              </a:ext>
            </a:extLst>
          </p:cNvPr>
          <p:cNvSpPr/>
          <p:nvPr/>
        </p:nvSpPr>
        <p:spPr>
          <a:xfrm>
            <a:off x="6550152" y="2565431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87" name="Oval 186">
            <a:extLst>
              <a:ext uri="{FF2B5EF4-FFF2-40B4-BE49-F238E27FC236}">
                <a16:creationId xmlns:a16="http://schemas.microsoft.com/office/drawing/2014/main" id="{E80CFC26-54E0-AB9B-E137-AE4616B90E2F}"/>
              </a:ext>
            </a:extLst>
          </p:cNvPr>
          <p:cNvSpPr/>
          <p:nvPr/>
        </p:nvSpPr>
        <p:spPr>
          <a:xfrm>
            <a:off x="6653418" y="2537268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88" name="Oval 187">
            <a:extLst>
              <a:ext uri="{FF2B5EF4-FFF2-40B4-BE49-F238E27FC236}">
                <a16:creationId xmlns:a16="http://schemas.microsoft.com/office/drawing/2014/main" id="{47AE1633-228D-3BFC-1862-CCA922B26280}"/>
              </a:ext>
            </a:extLst>
          </p:cNvPr>
          <p:cNvSpPr/>
          <p:nvPr/>
        </p:nvSpPr>
        <p:spPr>
          <a:xfrm>
            <a:off x="6781495" y="2558055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89" name="Oval 188">
            <a:extLst>
              <a:ext uri="{FF2B5EF4-FFF2-40B4-BE49-F238E27FC236}">
                <a16:creationId xmlns:a16="http://schemas.microsoft.com/office/drawing/2014/main" id="{EF6EC03B-62CD-0747-8F6F-CA21014421D7}"/>
              </a:ext>
            </a:extLst>
          </p:cNvPr>
          <p:cNvSpPr/>
          <p:nvPr/>
        </p:nvSpPr>
        <p:spPr>
          <a:xfrm>
            <a:off x="6921642" y="2531903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90" name="Oval 189">
            <a:extLst>
              <a:ext uri="{FF2B5EF4-FFF2-40B4-BE49-F238E27FC236}">
                <a16:creationId xmlns:a16="http://schemas.microsoft.com/office/drawing/2014/main" id="{380AF1A1-9BD1-C832-12BF-883A9FEFFBE7}"/>
              </a:ext>
            </a:extLst>
          </p:cNvPr>
          <p:cNvSpPr/>
          <p:nvPr/>
        </p:nvSpPr>
        <p:spPr>
          <a:xfrm>
            <a:off x="7058436" y="2563419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91" name="Oval 190">
            <a:extLst>
              <a:ext uri="{FF2B5EF4-FFF2-40B4-BE49-F238E27FC236}">
                <a16:creationId xmlns:a16="http://schemas.microsoft.com/office/drawing/2014/main" id="{FE1CD088-F80B-1BD9-05E6-77F4EB7DBDC2}"/>
              </a:ext>
            </a:extLst>
          </p:cNvPr>
          <p:cNvSpPr/>
          <p:nvPr/>
        </p:nvSpPr>
        <p:spPr>
          <a:xfrm>
            <a:off x="7205289" y="2537268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92" name="Oval 191">
            <a:extLst>
              <a:ext uri="{FF2B5EF4-FFF2-40B4-BE49-F238E27FC236}">
                <a16:creationId xmlns:a16="http://schemas.microsoft.com/office/drawing/2014/main" id="{A2F63033-484A-7BDB-63FC-818F74ADAF40}"/>
              </a:ext>
            </a:extLst>
          </p:cNvPr>
          <p:cNvSpPr/>
          <p:nvPr/>
        </p:nvSpPr>
        <p:spPr>
          <a:xfrm>
            <a:off x="5086319" y="2700884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93" name="Oval 192">
            <a:extLst>
              <a:ext uri="{FF2B5EF4-FFF2-40B4-BE49-F238E27FC236}">
                <a16:creationId xmlns:a16="http://schemas.microsoft.com/office/drawing/2014/main" id="{BB392A61-0D2E-F613-A9ED-B8827265ECB3}"/>
              </a:ext>
            </a:extLst>
          </p:cNvPr>
          <p:cNvSpPr/>
          <p:nvPr/>
        </p:nvSpPr>
        <p:spPr>
          <a:xfrm>
            <a:off x="5233842" y="2692167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94" name="Oval 193">
            <a:extLst>
              <a:ext uri="{FF2B5EF4-FFF2-40B4-BE49-F238E27FC236}">
                <a16:creationId xmlns:a16="http://schemas.microsoft.com/office/drawing/2014/main" id="{C332B7A3-670F-CF46-1EFB-94535A77D205}"/>
              </a:ext>
            </a:extLst>
          </p:cNvPr>
          <p:cNvSpPr/>
          <p:nvPr/>
        </p:nvSpPr>
        <p:spPr>
          <a:xfrm>
            <a:off x="5345155" y="2666015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95" name="Oval 194">
            <a:extLst>
              <a:ext uri="{FF2B5EF4-FFF2-40B4-BE49-F238E27FC236}">
                <a16:creationId xmlns:a16="http://schemas.microsoft.com/office/drawing/2014/main" id="{375376A5-2B58-9C1B-FD62-294FFA7B18CE}"/>
              </a:ext>
            </a:extLst>
          </p:cNvPr>
          <p:cNvSpPr/>
          <p:nvPr/>
        </p:nvSpPr>
        <p:spPr>
          <a:xfrm>
            <a:off x="5500055" y="2681438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96" name="Oval 195">
            <a:extLst>
              <a:ext uri="{FF2B5EF4-FFF2-40B4-BE49-F238E27FC236}">
                <a16:creationId xmlns:a16="http://schemas.microsoft.com/office/drawing/2014/main" id="{07F58ED7-5F7C-D508-503D-0B180075575B}"/>
              </a:ext>
            </a:extLst>
          </p:cNvPr>
          <p:cNvSpPr/>
          <p:nvPr/>
        </p:nvSpPr>
        <p:spPr>
          <a:xfrm>
            <a:off x="5606003" y="2701555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97" name="Oval 196">
            <a:extLst>
              <a:ext uri="{FF2B5EF4-FFF2-40B4-BE49-F238E27FC236}">
                <a16:creationId xmlns:a16="http://schemas.microsoft.com/office/drawing/2014/main" id="{1B4DA999-253D-5CAC-C4E4-231FEBAB42BB}"/>
              </a:ext>
            </a:extLst>
          </p:cNvPr>
          <p:cNvSpPr/>
          <p:nvPr/>
        </p:nvSpPr>
        <p:spPr>
          <a:xfrm>
            <a:off x="5759561" y="2696190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98" name="Oval 197">
            <a:extLst>
              <a:ext uri="{FF2B5EF4-FFF2-40B4-BE49-F238E27FC236}">
                <a16:creationId xmlns:a16="http://schemas.microsoft.com/office/drawing/2014/main" id="{080ED7D3-21FA-F4F9-63AC-A5B73C4BCA97}"/>
              </a:ext>
            </a:extLst>
          </p:cNvPr>
          <p:cNvSpPr/>
          <p:nvPr/>
        </p:nvSpPr>
        <p:spPr>
          <a:xfrm>
            <a:off x="5868192" y="2698202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99" name="Oval 198">
            <a:extLst>
              <a:ext uri="{FF2B5EF4-FFF2-40B4-BE49-F238E27FC236}">
                <a16:creationId xmlns:a16="http://schemas.microsoft.com/office/drawing/2014/main" id="{6FA5FAD7-32C2-AA47-AFA6-AB21B19A253D}"/>
              </a:ext>
            </a:extLst>
          </p:cNvPr>
          <p:cNvSpPr/>
          <p:nvPr/>
        </p:nvSpPr>
        <p:spPr>
          <a:xfrm>
            <a:off x="5998281" y="2698873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00" name="Oval 199">
            <a:extLst>
              <a:ext uri="{FF2B5EF4-FFF2-40B4-BE49-F238E27FC236}">
                <a16:creationId xmlns:a16="http://schemas.microsoft.com/office/drawing/2014/main" id="{31D11F59-C998-A4FE-6F51-8BD50A42269F}"/>
              </a:ext>
            </a:extLst>
          </p:cNvPr>
          <p:cNvSpPr/>
          <p:nvPr/>
        </p:nvSpPr>
        <p:spPr>
          <a:xfrm>
            <a:off x="6279245" y="2701555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01" name="Oval 200">
            <a:extLst>
              <a:ext uri="{FF2B5EF4-FFF2-40B4-BE49-F238E27FC236}">
                <a16:creationId xmlns:a16="http://schemas.microsoft.com/office/drawing/2014/main" id="{0CBF96EC-0A3B-4551-A16C-F9D5014C5588}"/>
              </a:ext>
            </a:extLst>
          </p:cNvPr>
          <p:cNvSpPr/>
          <p:nvPr/>
        </p:nvSpPr>
        <p:spPr>
          <a:xfrm>
            <a:off x="6398605" y="2669368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02" name="Oval 201">
            <a:extLst>
              <a:ext uri="{FF2B5EF4-FFF2-40B4-BE49-F238E27FC236}">
                <a16:creationId xmlns:a16="http://schemas.microsoft.com/office/drawing/2014/main" id="{6DBA2677-C9A8-43DD-9103-70077D0A3F91}"/>
              </a:ext>
            </a:extLst>
          </p:cNvPr>
          <p:cNvSpPr/>
          <p:nvPr/>
        </p:nvSpPr>
        <p:spPr>
          <a:xfrm>
            <a:off x="6540093" y="2673391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03" name="Oval 202">
            <a:extLst>
              <a:ext uri="{FF2B5EF4-FFF2-40B4-BE49-F238E27FC236}">
                <a16:creationId xmlns:a16="http://schemas.microsoft.com/office/drawing/2014/main" id="{CF8F7FE1-4B20-4317-DF70-292B3F044772}"/>
              </a:ext>
            </a:extLst>
          </p:cNvPr>
          <p:cNvSpPr/>
          <p:nvPr/>
        </p:nvSpPr>
        <p:spPr>
          <a:xfrm>
            <a:off x="6654088" y="2670709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04" name="Oval 203">
            <a:extLst>
              <a:ext uri="{FF2B5EF4-FFF2-40B4-BE49-F238E27FC236}">
                <a16:creationId xmlns:a16="http://schemas.microsoft.com/office/drawing/2014/main" id="{444CD188-CFFF-CD3C-302A-F0903EA8FE0F}"/>
              </a:ext>
            </a:extLst>
          </p:cNvPr>
          <p:cNvSpPr/>
          <p:nvPr/>
        </p:nvSpPr>
        <p:spPr>
          <a:xfrm>
            <a:off x="6782165" y="2672050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05" name="Oval 204">
            <a:extLst>
              <a:ext uri="{FF2B5EF4-FFF2-40B4-BE49-F238E27FC236}">
                <a16:creationId xmlns:a16="http://schemas.microsoft.com/office/drawing/2014/main" id="{48EDA6E6-A986-E87B-627D-88A50EFB8820}"/>
              </a:ext>
            </a:extLst>
          </p:cNvPr>
          <p:cNvSpPr/>
          <p:nvPr/>
        </p:nvSpPr>
        <p:spPr>
          <a:xfrm>
            <a:off x="6923653" y="2676073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06" name="Oval 205">
            <a:extLst>
              <a:ext uri="{FF2B5EF4-FFF2-40B4-BE49-F238E27FC236}">
                <a16:creationId xmlns:a16="http://schemas.microsoft.com/office/drawing/2014/main" id="{91163A13-AE7E-E9CD-9670-4693BAEF6810}"/>
              </a:ext>
            </a:extLst>
          </p:cNvPr>
          <p:cNvSpPr/>
          <p:nvPr/>
        </p:nvSpPr>
        <p:spPr>
          <a:xfrm>
            <a:off x="7072518" y="2675403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07" name="Oval 206">
            <a:extLst>
              <a:ext uri="{FF2B5EF4-FFF2-40B4-BE49-F238E27FC236}">
                <a16:creationId xmlns:a16="http://schemas.microsoft.com/office/drawing/2014/main" id="{0B2EA7D8-1175-5F1C-094A-BFC142A884EB}"/>
              </a:ext>
            </a:extLst>
          </p:cNvPr>
          <p:cNvSpPr/>
          <p:nvPr/>
        </p:nvSpPr>
        <p:spPr>
          <a:xfrm>
            <a:off x="7192548" y="2671380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08" name="Oval 207">
            <a:extLst>
              <a:ext uri="{FF2B5EF4-FFF2-40B4-BE49-F238E27FC236}">
                <a16:creationId xmlns:a16="http://schemas.microsoft.com/office/drawing/2014/main" id="{7AA562BD-FE0E-11B0-0F2C-025D723B5073}"/>
              </a:ext>
            </a:extLst>
          </p:cNvPr>
          <p:cNvSpPr/>
          <p:nvPr/>
        </p:nvSpPr>
        <p:spPr>
          <a:xfrm>
            <a:off x="5094366" y="2802139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09" name="Oval 208">
            <a:extLst>
              <a:ext uri="{FF2B5EF4-FFF2-40B4-BE49-F238E27FC236}">
                <a16:creationId xmlns:a16="http://schemas.microsoft.com/office/drawing/2014/main" id="{6F69F9CD-9A50-3416-77EA-1530F3CC62F1}"/>
              </a:ext>
            </a:extLst>
          </p:cNvPr>
          <p:cNvSpPr/>
          <p:nvPr/>
        </p:nvSpPr>
        <p:spPr>
          <a:xfrm>
            <a:off x="5221102" y="2802139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10" name="Oval 209">
            <a:extLst>
              <a:ext uri="{FF2B5EF4-FFF2-40B4-BE49-F238E27FC236}">
                <a16:creationId xmlns:a16="http://schemas.microsoft.com/office/drawing/2014/main" id="{F08EBB00-8EE2-057A-C140-43A4C507959A}"/>
              </a:ext>
            </a:extLst>
          </p:cNvPr>
          <p:cNvSpPr/>
          <p:nvPr/>
        </p:nvSpPr>
        <p:spPr>
          <a:xfrm>
            <a:off x="5371307" y="2823597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11" name="Oval 210">
            <a:extLst>
              <a:ext uri="{FF2B5EF4-FFF2-40B4-BE49-F238E27FC236}">
                <a16:creationId xmlns:a16="http://schemas.microsoft.com/office/drawing/2014/main" id="{48345265-6842-E9DB-E9D9-9B424ADF0C19}"/>
              </a:ext>
            </a:extLst>
          </p:cNvPr>
          <p:cNvSpPr/>
          <p:nvPr/>
        </p:nvSpPr>
        <p:spPr>
          <a:xfrm>
            <a:off x="5479938" y="2820244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12" name="Oval 211">
            <a:extLst>
              <a:ext uri="{FF2B5EF4-FFF2-40B4-BE49-F238E27FC236}">
                <a16:creationId xmlns:a16="http://schemas.microsoft.com/office/drawing/2014/main" id="{ADFF329F-BB33-AA6D-CD9C-E192E77F9D9B}"/>
              </a:ext>
            </a:extLst>
          </p:cNvPr>
          <p:cNvSpPr/>
          <p:nvPr/>
        </p:nvSpPr>
        <p:spPr>
          <a:xfrm>
            <a:off x="5640872" y="2805492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13" name="Oval 212">
            <a:extLst>
              <a:ext uri="{FF2B5EF4-FFF2-40B4-BE49-F238E27FC236}">
                <a16:creationId xmlns:a16="http://schemas.microsoft.com/office/drawing/2014/main" id="{6C9D82D4-1EAF-E5AD-AC55-C6B9343A9D1A}"/>
              </a:ext>
            </a:extLst>
          </p:cNvPr>
          <p:cNvSpPr/>
          <p:nvPr/>
        </p:nvSpPr>
        <p:spPr>
          <a:xfrm>
            <a:off x="5766937" y="2818903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14" name="Oval 213">
            <a:extLst>
              <a:ext uri="{FF2B5EF4-FFF2-40B4-BE49-F238E27FC236}">
                <a16:creationId xmlns:a16="http://schemas.microsoft.com/office/drawing/2014/main" id="{967007D4-1A02-B624-C5E5-C5AE24AB440E}"/>
              </a:ext>
            </a:extLst>
          </p:cNvPr>
          <p:cNvSpPr/>
          <p:nvPr/>
        </p:nvSpPr>
        <p:spPr>
          <a:xfrm>
            <a:off x="5884956" y="2834996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15" name="Oval 214">
            <a:extLst>
              <a:ext uri="{FF2B5EF4-FFF2-40B4-BE49-F238E27FC236}">
                <a16:creationId xmlns:a16="http://schemas.microsoft.com/office/drawing/2014/main" id="{543E5455-20B1-23FC-FD02-132359F3D567}"/>
              </a:ext>
            </a:extLst>
          </p:cNvPr>
          <p:cNvSpPr/>
          <p:nvPr/>
        </p:nvSpPr>
        <p:spPr>
          <a:xfrm>
            <a:off x="6011692" y="2821585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16" name="Oval 215">
            <a:extLst>
              <a:ext uri="{FF2B5EF4-FFF2-40B4-BE49-F238E27FC236}">
                <a16:creationId xmlns:a16="http://schemas.microsoft.com/office/drawing/2014/main" id="{CEB735A4-7656-971F-85E5-A635E3135026}"/>
              </a:ext>
            </a:extLst>
          </p:cNvPr>
          <p:cNvSpPr/>
          <p:nvPr/>
        </p:nvSpPr>
        <p:spPr>
          <a:xfrm>
            <a:off x="6271199" y="2834996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17" name="Oval 216">
            <a:extLst>
              <a:ext uri="{FF2B5EF4-FFF2-40B4-BE49-F238E27FC236}">
                <a16:creationId xmlns:a16="http://schemas.microsoft.com/office/drawing/2014/main" id="{4207390A-9EAB-ABC1-6180-95F04D95D6B4}"/>
              </a:ext>
            </a:extLst>
          </p:cNvPr>
          <p:cNvSpPr/>
          <p:nvPr/>
        </p:nvSpPr>
        <p:spPr>
          <a:xfrm>
            <a:off x="6416040" y="2826949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18" name="Oval 217">
            <a:extLst>
              <a:ext uri="{FF2B5EF4-FFF2-40B4-BE49-F238E27FC236}">
                <a16:creationId xmlns:a16="http://schemas.microsoft.com/office/drawing/2014/main" id="{0932AC90-1CC6-3EB7-F0AA-107E1774C711}"/>
              </a:ext>
            </a:extLst>
          </p:cNvPr>
          <p:cNvSpPr/>
          <p:nvPr/>
        </p:nvSpPr>
        <p:spPr>
          <a:xfrm>
            <a:off x="6534729" y="2815550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19" name="Oval 218">
            <a:extLst>
              <a:ext uri="{FF2B5EF4-FFF2-40B4-BE49-F238E27FC236}">
                <a16:creationId xmlns:a16="http://schemas.microsoft.com/office/drawing/2014/main" id="{7B9514E5-A6B6-7BF5-3E82-533CB1F8AB2F}"/>
              </a:ext>
            </a:extLst>
          </p:cNvPr>
          <p:cNvSpPr/>
          <p:nvPr/>
        </p:nvSpPr>
        <p:spPr>
          <a:xfrm>
            <a:off x="6651406" y="2806833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20" name="Oval 219">
            <a:extLst>
              <a:ext uri="{FF2B5EF4-FFF2-40B4-BE49-F238E27FC236}">
                <a16:creationId xmlns:a16="http://schemas.microsoft.com/office/drawing/2014/main" id="{F68DEE2A-81E4-5453-86F6-2CCD45F30742}"/>
              </a:ext>
            </a:extLst>
          </p:cNvPr>
          <p:cNvSpPr/>
          <p:nvPr/>
        </p:nvSpPr>
        <p:spPr>
          <a:xfrm>
            <a:off x="6782836" y="2830973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21" name="Oval 220">
            <a:extLst>
              <a:ext uri="{FF2B5EF4-FFF2-40B4-BE49-F238E27FC236}">
                <a16:creationId xmlns:a16="http://schemas.microsoft.com/office/drawing/2014/main" id="{F1E244A5-1F40-CBDD-CC68-00A732ECF44F}"/>
              </a:ext>
            </a:extLst>
          </p:cNvPr>
          <p:cNvSpPr/>
          <p:nvPr/>
        </p:nvSpPr>
        <p:spPr>
          <a:xfrm>
            <a:off x="6920971" y="2808174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22" name="Oval 221">
            <a:extLst>
              <a:ext uri="{FF2B5EF4-FFF2-40B4-BE49-F238E27FC236}">
                <a16:creationId xmlns:a16="http://schemas.microsoft.com/office/drawing/2014/main" id="{54080AAE-DAD9-0E26-54F0-12C727FDDE28}"/>
              </a:ext>
            </a:extLst>
          </p:cNvPr>
          <p:cNvSpPr/>
          <p:nvPr/>
        </p:nvSpPr>
        <p:spPr>
          <a:xfrm>
            <a:off x="7045025" y="2834996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23" name="Oval 222">
            <a:extLst>
              <a:ext uri="{FF2B5EF4-FFF2-40B4-BE49-F238E27FC236}">
                <a16:creationId xmlns:a16="http://schemas.microsoft.com/office/drawing/2014/main" id="{7B5E7BDE-F7F0-F709-24D8-954487BCCF2A}"/>
              </a:ext>
            </a:extLst>
          </p:cNvPr>
          <p:cNvSpPr/>
          <p:nvPr/>
        </p:nvSpPr>
        <p:spPr>
          <a:xfrm>
            <a:off x="7207300" y="2828291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24" name="Oval 223">
            <a:extLst>
              <a:ext uri="{FF2B5EF4-FFF2-40B4-BE49-F238E27FC236}">
                <a16:creationId xmlns:a16="http://schemas.microsoft.com/office/drawing/2014/main" id="{783CEEA8-5818-C423-DB7E-EB191EE4191A}"/>
              </a:ext>
            </a:extLst>
          </p:cNvPr>
          <p:cNvSpPr/>
          <p:nvPr/>
        </p:nvSpPr>
        <p:spPr>
          <a:xfrm>
            <a:off x="5091684" y="2948991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25" name="Oval 224">
            <a:extLst>
              <a:ext uri="{FF2B5EF4-FFF2-40B4-BE49-F238E27FC236}">
                <a16:creationId xmlns:a16="http://schemas.microsoft.com/office/drawing/2014/main" id="{2A59B82B-EC84-494E-9300-C6ED56ED7521}"/>
              </a:ext>
            </a:extLst>
          </p:cNvPr>
          <p:cNvSpPr/>
          <p:nvPr/>
        </p:nvSpPr>
        <p:spPr>
          <a:xfrm>
            <a:off x="5223113" y="2957709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26" name="Oval 225">
            <a:extLst>
              <a:ext uri="{FF2B5EF4-FFF2-40B4-BE49-F238E27FC236}">
                <a16:creationId xmlns:a16="http://schemas.microsoft.com/office/drawing/2014/main" id="{673619FE-F082-50CA-3666-2D100EEBA117}"/>
              </a:ext>
            </a:extLst>
          </p:cNvPr>
          <p:cNvSpPr/>
          <p:nvPr/>
        </p:nvSpPr>
        <p:spPr>
          <a:xfrm>
            <a:off x="5347837" y="2957038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27" name="Oval 226">
            <a:extLst>
              <a:ext uri="{FF2B5EF4-FFF2-40B4-BE49-F238E27FC236}">
                <a16:creationId xmlns:a16="http://schemas.microsoft.com/office/drawing/2014/main" id="{3A5F9F39-918C-90D9-57F1-19B94B9420F0}"/>
              </a:ext>
            </a:extLst>
          </p:cNvPr>
          <p:cNvSpPr/>
          <p:nvPr/>
        </p:nvSpPr>
        <p:spPr>
          <a:xfrm>
            <a:off x="5483291" y="2977825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28" name="Oval 227">
            <a:extLst>
              <a:ext uri="{FF2B5EF4-FFF2-40B4-BE49-F238E27FC236}">
                <a16:creationId xmlns:a16="http://schemas.microsoft.com/office/drawing/2014/main" id="{57478FA4-60F0-D9E6-33A2-20770FE53428}"/>
              </a:ext>
            </a:extLst>
          </p:cNvPr>
          <p:cNvSpPr/>
          <p:nvPr/>
        </p:nvSpPr>
        <p:spPr>
          <a:xfrm>
            <a:off x="5642213" y="2961061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29" name="Oval 228">
            <a:extLst>
              <a:ext uri="{FF2B5EF4-FFF2-40B4-BE49-F238E27FC236}">
                <a16:creationId xmlns:a16="http://schemas.microsoft.com/office/drawing/2014/main" id="{6B8FC47E-259F-B8C5-D4DB-4193B63A5F2E}"/>
              </a:ext>
            </a:extLst>
          </p:cNvPr>
          <p:cNvSpPr/>
          <p:nvPr/>
        </p:nvSpPr>
        <p:spPr>
          <a:xfrm>
            <a:off x="5744138" y="2977825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30" name="Oval 229">
            <a:extLst>
              <a:ext uri="{FF2B5EF4-FFF2-40B4-BE49-F238E27FC236}">
                <a16:creationId xmlns:a16="http://schemas.microsoft.com/office/drawing/2014/main" id="{DE5933FE-1AE8-6BF9-3B74-4FB52DEB2254}"/>
              </a:ext>
            </a:extLst>
          </p:cNvPr>
          <p:cNvSpPr/>
          <p:nvPr/>
        </p:nvSpPr>
        <p:spPr>
          <a:xfrm>
            <a:off x="5877580" y="2953015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31" name="Oval 230">
            <a:extLst>
              <a:ext uri="{FF2B5EF4-FFF2-40B4-BE49-F238E27FC236}">
                <a16:creationId xmlns:a16="http://schemas.microsoft.com/office/drawing/2014/main" id="{B59BC6F9-3239-21A6-78E2-C67B4DD66EA4}"/>
              </a:ext>
            </a:extLst>
          </p:cNvPr>
          <p:cNvSpPr/>
          <p:nvPr/>
        </p:nvSpPr>
        <p:spPr>
          <a:xfrm>
            <a:off x="5995598" y="2954356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32" name="Oval 231">
            <a:extLst>
              <a:ext uri="{FF2B5EF4-FFF2-40B4-BE49-F238E27FC236}">
                <a16:creationId xmlns:a16="http://schemas.microsoft.com/office/drawing/2014/main" id="{7CFD2BF5-20C1-E49D-DA5C-8B3041181E8D}"/>
              </a:ext>
            </a:extLst>
          </p:cNvPr>
          <p:cNvSpPr/>
          <p:nvPr/>
        </p:nvSpPr>
        <p:spPr>
          <a:xfrm>
            <a:off x="6145133" y="2959050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33" name="Oval 232">
            <a:extLst>
              <a:ext uri="{FF2B5EF4-FFF2-40B4-BE49-F238E27FC236}">
                <a16:creationId xmlns:a16="http://schemas.microsoft.com/office/drawing/2014/main" id="{3333D93C-5505-E057-5CBA-289C54C0986D}"/>
              </a:ext>
            </a:extLst>
          </p:cNvPr>
          <p:cNvSpPr/>
          <p:nvPr/>
        </p:nvSpPr>
        <p:spPr>
          <a:xfrm>
            <a:off x="6265164" y="2959050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34" name="Oval 233">
            <a:extLst>
              <a:ext uri="{FF2B5EF4-FFF2-40B4-BE49-F238E27FC236}">
                <a16:creationId xmlns:a16="http://schemas.microsoft.com/office/drawing/2014/main" id="{F6A3E0AA-D55F-41C3-4FCE-59234C616B4C}"/>
              </a:ext>
            </a:extLst>
          </p:cNvPr>
          <p:cNvSpPr/>
          <p:nvPr/>
        </p:nvSpPr>
        <p:spPr>
          <a:xfrm>
            <a:off x="6387876" y="2949662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35" name="Oval 234">
            <a:extLst>
              <a:ext uri="{FF2B5EF4-FFF2-40B4-BE49-F238E27FC236}">
                <a16:creationId xmlns:a16="http://schemas.microsoft.com/office/drawing/2014/main" id="{4BAD6755-6B1B-A3BB-5AD1-997647CD1C93}"/>
              </a:ext>
            </a:extLst>
          </p:cNvPr>
          <p:cNvSpPr/>
          <p:nvPr/>
        </p:nvSpPr>
        <p:spPr>
          <a:xfrm>
            <a:off x="6521988" y="2955026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36" name="Oval 235">
            <a:extLst>
              <a:ext uri="{FF2B5EF4-FFF2-40B4-BE49-F238E27FC236}">
                <a16:creationId xmlns:a16="http://schemas.microsoft.com/office/drawing/2014/main" id="{3C517B45-0D31-39D1-793C-537F0DE36D71}"/>
              </a:ext>
            </a:extLst>
          </p:cNvPr>
          <p:cNvSpPr/>
          <p:nvPr/>
        </p:nvSpPr>
        <p:spPr>
          <a:xfrm>
            <a:off x="6651406" y="2939604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37" name="Oval 236">
            <a:extLst>
              <a:ext uri="{FF2B5EF4-FFF2-40B4-BE49-F238E27FC236}">
                <a16:creationId xmlns:a16="http://schemas.microsoft.com/office/drawing/2014/main" id="{1DE64480-8F75-BC68-9907-99FA49F1995C}"/>
              </a:ext>
            </a:extLst>
          </p:cNvPr>
          <p:cNvSpPr/>
          <p:nvPr/>
        </p:nvSpPr>
        <p:spPr>
          <a:xfrm>
            <a:off x="6792224" y="2948321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38" name="Oval 237">
            <a:extLst>
              <a:ext uri="{FF2B5EF4-FFF2-40B4-BE49-F238E27FC236}">
                <a16:creationId xmlns:a16="http://schemas.microsoft.com/office/drawing/2014/main" id="{8BADDA7B-81A6-08B1-EF32-9204A24D166C}"/>
              </a:ext>
            </a:extLst>
          </p:cNvPr>
          <p:cNvSpPr/>
          <p:nvPr/>
        </p:nvSpPr>
        <p:spPr>
          <a:xfrm>
            <a:off x="6934382" y="2960391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39" name="Oval 238">
            <a:extLst>
              <a:ext uri="{FF2B5EF4-FFF2-40B4-BE49-F238E27FC236}">
                <a16:creationId xmlns:a16="http://schemas.microsoft.com/office/drawing/2014/main" id="{59D5A432-F5B1-EE28-D823-80589F6EFCC4}"/>
              </a:ext>
            </a:extLst>
          </p:cNvPr>
          <p:cNvSpPr/>
          <p:nvPr/>
        </p:nvSpPr>
        <p:spPr>
          <a:xfrm>
            <a:off x="7071847" y="2965085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40" name="Oval 239">
            <a:extLst>
              <a:ext uri="{FF2B5EF4-FFF2-40B4-BE49-F238E27FC236}">
                <a16:creationId xmlns:a16="http://schemas.microsoft.com/office/drawing/2014/main" id="{B5920295-D780-1B96-2520-9A10432BF5BD}"/>
              </a:ext>
            </a:extLst>
          </p:cNvPr>
          <p:cNvSpPr/>
          <p:nvPr/>
        </p:nvSpPr>
        <p:spPr>
          <a:xfrm>
            <a:off x="7201265" y="2974473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41" name="Oval 240">
            <a:extLst>
              <a:ext uri="{FF2B5EF4-FFF2-40B4-BE49-F238E27FC236}">
                <a16:creationId xmlns:a16="http://schemas.microsoft.com/office/drawing/2014/main" id="{AE018FFA-211D-A544-6044-3260BDB642EA}"/>
              </a:ext>
            </a:extLst>
          </p:cNvPr>
          <p:cNvSpPr/>
          <p:nvPr/>
        </p:nvSpPr>
        <p:spPr>
          <a:xfrm>
            <a:off x="5095707" y="3089809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42" name="Oval 241">
            <a:extLst>
              <a:ext uri="{FF2B5EF4-FFF2-40B4-BE49-F238E27FC236}">
                <a16:creationId xmlns:a16="http://schemas.microsoft.com/office/drawing/2014/main" id="{1C85B7D4-3F81-3057-BD14-08BB0D08C2E5}"/>
              </a:ext>
            </a:extLst>
          </p:cNvPr>
          <p:cNvSpPr/>
          <p:nvPr/>
        </p:nvSpPr>
        <p:spPr>
          <a:xfrm>
            <a:off x="5250606" y="3082433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43" name="Oval 242">
            <a:extLst>
              <a:ext uri="{FF2B5EF4-FFF2-40B4-BE49-F238E27FC236}">
                <a16:creationId xmlns:a16="http://schemas.microsoft.com/office/drawing/2014/main" id="{BD0EB7E6-F951-416F-CA6B-36305CD80B0F}"/>
              </a:ext>
            </a:extLst>
          </p:cNvPr>
          <p:cNvSpPr/>
          <p:nvPr/>
        </p:nvSpPr>
        <p:spPr>
          <a:xfrm>
            <a:off x="5370636" y="3102550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44" name="Oval 243">
            <a:extLst>
              <a:ext uri="{FF2B5EF4-FFF2-40B4-BE49-F238E27FC236}">
                <a16:creationId xmlns:a16="http://schemas.microsoft.com/office/drawing/2014/main" id="{E5477300-F631-9CF6-B70E-1F08E50BFF35}"/>
              </a:ext>
            </a:extLst>
          </p:cNvPr>
          <p:cNvSpPr/>
          <p:nvPr/>
        </p:nvSpPr>
        <p:spPr>
          <a:xfrm>
            <a:off x="5474573" y="3109926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45" name="Oval 244">
            <a:extLst>
              <a:ext uri="{FF2B5EF4-FFF2-40B4-BE49-F238E27FC236}">
                <a16:creationId xmlns:a16="http://schemas.microsoft.com/office/drawing/2014/main" id="{D6225BB6-D9DE-37CA-61F0-9F79F91EC664}"/>
              </a:ext>
            </a:extLst>
          </p:cNvPr>
          <p:cNvSpPr/>
          <p:nvPr/>
        </p:nvSpPr>
        <p:spPr>
          <a:xfrm>
            <a:off x="5639531" y="3101879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46" name="Oval 245">
            <a:extLst>
              <a:ext uri="{FF2B5EF4-FFF2-40B4-BE49-F238E27FC236}">
                <a16:creationId xmlns:a16="http://schemas.microsoft.com/office/drawing/2014/main" id="{B54C2DA4-273E-2515-3938-369D4AD729FD}"/>
              </a:ext>
            </a:extLst>
          </p:cNvPr>
          <p:cNvSpPr/>
          <p:nvPr/>
        </p:nvSpPr>
        <p:spPr>
          <a:xfrm>
            <a:off x="5763585" y="3109255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47" name="Oval 246">
            <a:extLst>
              <a:ext uri="{FF2B5EF4-FFF2-40B4-BE49-F238E27FC236}">
                <a16:creationId xmlns:a16="http://schemas.microsoft.com/office/drawing/2014/main" id="{C52C9CE9-2916-3BDA-4FD5-31390C09A002}"/>
              </a:ext>
            </a:extLst>
          </p:cNvPr>
          <p:cNvSpPr/>
          <p:nvPr/>
        </p:nvSpPr>
        <p:spPr>
          <a:xfrm>
            <a:off x="5870204" y="3097185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48" name="Oval 247">
            <a:extLst>
              <a:ext uri="{FF2B5EF4-FFF2-40B4-BE49-F238E27FC236}">
                <a16:creationId xmlns:a16="http://schemas.microsoft.com/office/drawing/2014/main" id="{B7293C5A-97E0-5BB9-36D7-BF750A198A68}"/>
              </a:ext>
            </a:extLst>
          </p:cNvPr>
          <p:cNvSpPr/>
          <p:nvPr/>
        </p:nvSpPr>
        <p:spPr>
          <a:xfrm>
            <a:off x="6015715" y="3109926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49" name="Oval 248">
            <a:extLst>
              <a:ext uri="{FF2B5EF4-FFF2-40B4-BE49-F238E27FC236}">
                <a16:creationId xmlns:a16="http://schemas.microsoft.com/office/drawing/2014/main" id="{F3D8EFBC-B5ED-A29D-4A6F-CD1FA1ACF44B}"/>
              </a:ext>
            </a:extLst>
          </p:cNvPr>
          <p:cNvSpPr/>
          <p:nvPr/>
        </p:nvSpPr>
        <p:spPr>
          <a:xfrm>
            <a:off x="6158544" y="3109926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50" name="Oval 249">
            <a:extLst>
              <a:ext uri="{FF2B5EF4-FFF2-40B4-BE49-F238E27FC236}">
                <a16:creationId xmlns:a16="http://schemas.microsoft.com/office/drawing/2014/main" id="{25B02B49-F4CF-C201-AD3C-2C3DF72CE527}"/>
              </a:ext>
            </a:extLst>
          </p:cNvPr>
          <p:cNvSpPr/>
          <p:nvPr/>
        </p:nvSpPr>
        <p:spPr>
          <a:xfrm>
            <a:off x="6280586" y="3112608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51" name="Oval 250">
            <a:extLst>
              <a:ext uri="{FF2B5EF4-FFF2-40B4-BE49-F238E27FC236}">
                <a16:creationId xmlns:a16="http://schemas.microsoft.com/office/drawing/2014/main" id="{465C8000-407D-202C-C674-D9CE56ED0DEB}"/>
              </a:ext>
            </a:extLst>
          </p:cNvPr>
          <p:cNvSpPr/>
          <p:nvPr/>
        </p:nvSpPr>
        <p:spPr>
          <a:xfrm>
            <a:off x="6415369" y="3104561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52" name="Oval 251">
            <a:extLst>
              <a:ext uri="{FF2B5EF4-FFF2-40B4-BE49-F238E27FC236}">
                <a16:creationId xmlns:a16="http://schemas.microsoft.com/office/drawing/2014/main" id="{B320734F-D146-C4CC-4A6B-B052AF95910D}"/>
              </a:ext>
            </a:extLst>
          </p:cNvPr>
          <p:cNvSpPr/>
          <p:nvPr/>
        </p:nvSpPr>
        <p:spPr>
          <a:xfrm>
            <a:off x="6528023" y="3077739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53" name="Oval 252">
            <a:extLst>
              <a:ext uri="{FF2B5EF4-FFF2-40B4-BE49-F238E27FC236}">
                <a16:creationId xmlns:a16="http://schemas.microsoft.com/office/drawing/2014/main" id="{53901963-CF05-7A84-0804-446FB0566176}"/>
              </a:ext>
            </a:extLst>
          </p:cNvPr>
          <p:cNvSpPr/>
          <p:nvPr/>
        </p:nvSpPr>
        <p:spPr>
          <a:xfrm>
            <a:off x="6654759" y="3091150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54" name="Oval 253">
            <a:extLst>
              <a:ext uri="{FF2B5EF4-FFF2-40B4-BE49-F238E27FC236}">
                <a16:creationId xmlns:a16="http://schemas.microsoft.com/office/drawing/2014/main" id="{9DAFAA6F-ABC0-FABF-19B9-38154FEC2832}"/>
              </a:ext>
            </a:extLst>
          </p:cNvPr>
          <p:cNvSpPr/>
          <p:nvPr/>
        </p:nvSpPr>
        <p:spPr>
          <a:xfrm>
            <a:off x="6784177" y="3109926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55" name="Oval 254">
            <a:extLst>
              <a:ext uri="{FF2B5EF4-FFF2-40B4-BE49-F238E27FC236}">
                <a16:creationId xmlns:a16="http://schemas.microsoft.com/office/drawing/2014/main" id="{87B4D435-ACE0-DC69-974D-D682091EE856}"/>
              </a:ext>
            </a:extLst>
          </p:cNvPr>
          <p:cNvSpPr/>
          <p:nvPr/>
        </p:nvSpPr>
        <p:spPr>
          <a:xfrm>
            <a:off x="6933712" y="3101879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56" name="Oval 255">
            <a:extLst>
              <a:ext uri="{FF2B5EF4-FFF2-40B4-BE49-F238E27FC236}">
                <a16:creationId xmlns:a16="http://schemas.microsoft.com/office/drawing/2014/main" id="{2F725373-6597-A9B3-4CDA-9BA1CF3AD14C}"/>
              </a:ext>
            </a:extLst>
          </p:cNvPr>
          <p:cNvSpPr/>
          <p:nvPr/>
        </p:nvSpPr>
        <p:spPr>
          <a:xfrm>
            <a:off x="7067153" y="3103891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57" name="Oval 256">
            <a:extLst>
              <a:ext uri="{FF2B5EF4-FFF2-40B4-BE49-F238E27FC236}">
                <a16:creationId xmlns:a16="http://schemas.microsoft.com/office/drawing/2014/main" id="{B6DCB3AA-ADF1-4B71-4115-8583EDE980AA}"/>
              </a:ext>
            </a:extLst>
          </p:cNvPr>
          <p:cNvSpPr/>
          <p:nvPr/>
        </p:nvSpPr>
        <p:spPr>
          <a:xfrm>
            <a:off x="7191877" y="3076398"/>
            <a:ext cx="69738" cy="69738"/>
          </a:xfrm>
          <a:prstGeom prst="ellipse">
            <a:avLst/>
          </a:prstGeom>
          <a:solidFill>
            <a:srgbClr val="0E0E10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58" name="Freeform 257">
            <a:extLst>
              <a:ext uri="{FF2B5EF4-FFF2-40B4-BE49-F238E27FC236}">
                <a16:creationId xmlns:a16="http://schemas.microsoft.com/office/drawing/2014/main" id="{DD2B024D-E846-C722-2B7C-AE9A74759927}"/>
              </a:ext>
            </a:extLst>
          </p:cNvPr>
          <p:cNvSpPr/>
          <p:nvPr/>
        </p:nvSpPr>
        <p:spPr>
          <a:xfrm>
            <a:off x="6141110" y="2212717"/>
            <a:ext cx="100584" cy="751027"/>
          </a:xfrm>
          <a:custGeom>
            <a:avLst/>
            <a:gdLst>
              <a:gd name="csX0" fmla="*/ 0 w 100584"/>
              <a:gd name="csY0" fmla="*/ 0 h 751027"/>
              <a:gd name="csX1" fmla="*/ 93878 w 100584"/>
              <a:gd name="csY1" fmla="*/ 167640 h 751027"/>
              <a:gd name="csX2" fmla="*/ 6706 w 100584"/>
              <a:gd name="csY2" fmla="*/ 335280 h 751027"/>
              <a:gd name="csX3" fmla="*/ 100584 w 100584"/>
              <a:gd name="csY3" fmla="*/ 502920 h 751027"/>
              <a:gd name="csX4" fmla="*/ 13411 w 100584"/>
              <a:gd name="csY4" fmla="*/ 670560 h 751027"/>
              <a:gd name="csX5" fmla="*/ 60350 w 100584"/>
              <a:gd name="csY5" fmla="*/ 751027 h 7510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0584" h="751027">
                <a:moveTo>
                  <a:pt x="0" y="0"/>
                </a:moveTo>
                <a:lnTo>
                  <a:pt x="93878" y="167640"/>
                </a:lnTo>
                <a:lnTo>
                  <a:pt x="6706" y="335280"/>
                </a:lnTo>
                <a:lnTo>
                  <a:pt x="100584" y="502920"/>
                </a:lnTo>
                <a:lnTo>
                  <a:pt x="13411" y="670560"/>
                </a:lnTo>
                <a:lnTo>
                  <a:pt x="60350" y="751027"/>
                </a:lnTo>
              </a:path>
            </a:pathLst>
          </a:custGeom>
          <a:noFill/>
          <a:ln w="46895" cap="flat">
            <a:solidFill>
              <a:srgbClr val="1E1F23"/>
            </a:solidFill>
            <a:prstDash val="solid"/>
            <a:round/>
          </a:ln>
        </p:spPr>
        <p:txBody>
          <a:bodyPr/>
          <a:lstStyle/>
          <a:p>
            <a:endParaRPr lang="en-US"/>
          </a:p>
        </p:txBody>
      </p:sp>
      <p:sp>
        <p:nvSpPr>
          <p:cNvPr id="259" name="Freeform 258">
            <a:extLst>
              <a:ext uri="{FF2B5EF4-FFF2-40B4-BE49-F238E27FC236}">
                <a16:creationId xmlns:a16="http://schemas.microsoft.com/office/drawing/2014/main" id="{02619AAB-507D-B6AE-8E0C-DF138303573E}"/>
              </a:ext>
            </a:extLst>
          </p:cNvPr>
          <p:cNvSpPr/>
          <p:nvPr/>
        </p:nvSpPr>
        <p:spPr>
          <a:xfrm>
            <a:off x="6141110" y="2212717"/>
            <a:ext cx="100584" cy="751027"/>
          </a:xfrm>
          <a:custGeom>
            <a:avLst/>
            <a:gdLst>
              <a:gd name="csX0" fmla="*/ 0 w 100584"/>
              <a:gd name="csY0" fmla="*/ 0 h 751027"/>
              <a:gd name="csX1" fmla="*/ 93878 w 100584"/>
              <a:gd name="csY1" fmla="*/ 167640 h 751027"/>
              <a:gd name="csX2" fmla="*/ 6706 w 100584"/>
              <a:gd name="csY2" fmla="*/ 335280 h 751027"/>
              <a:gd name="csX3" fmla="*/ 100584 w 100584"/>
              <a:gd name="csY3" fmla="*/ 502920 h 751027"/>
              <a:gd name="csX4" fmla="*/ 13411 w 100584"/>
              <a:gd name="csY4" fmla="*/ 670560 h 751027"/>
              <a:gd name="csX5" fmla="*/ 60350 w 100584"/>
              <a:gd name="csY5" fmla="*/ 751027 h 751027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</a:cxnLst>
            <a:rect l="l" t="t" r="r" b="b"/>
            <a:pathLst>
              <a:path w="100584" h="751027">
                <a:moveTo>
                  <a:pt x="0" y="0"/>
                </a:moveTo>
                <a:lnTo>
                  <a:pt x="93878" y="167640"/>
                </a:lnTo>
                <a:lnTo>
                  <a:pt x="6706" y="335280"/>
                </a:lnTo>
                <a:lnTo>
                  <a:pt x="100584" y="502920"/>
                </a:lnTo>
                <a:lnTo>
                  <a:pt x="13411" y="670560"/>
                </a:lnTo>
                <a:lnTo>
                  <a:pt x="60350" y="751027"/>
                </a:lnTo>
              </a:path>
            </a:pathLst>
          </a:custGeom>
          <a:noFill/>
          <a:ln w="12059" cap="flat">
            <a:solidFill>
              <a:srgbClr val="E0435A"/>
            </a:solidFill>
            <a:custDash>
              <a:ds d="225000" sp="150000"/>
            </a:custDash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60" name="Freeform 259">
            <a:extLst>
              <a:ext uri="{FF2B5EF4-FFF2-40B4-BE49-F238E27FC236}">
                <a16:creationId xmlns:a16="http://schemas.microsoft.com/office/drawing/2014/main" id="{5A95AC85-6EA3-0A82-8997-44CA853BC7FE}"/>
              </a:ext>
            </a:extLst>
          </p:cNvPr>
          <p:cNvSpPr/>
          <p:nvPr/>
        </p:nvSpPr>
        <p:spPr>
          <a:xfrm>
            <a:off x="5041392" y="2514469"/>
            <a:ext cx="2279904" cy="767173"/>
          </a:xfrm>
          <a:custGeom>
            <a:avLst/>
            <a:gdLst>
              <a:gd name="csX0" fmla="*/ 0 w 2279904"/>
              <a:gd name="csY0" fmla="*/ 0 h 767173"/>
              <a:gd name="csX1" fmla="*/ 972312 w 2279904"/>
              <a:gd name="csY1" fmla="*/ 556565 h 767173"/>
              <a:gd name="csX2" fmla="*/ 1609344 w 2279904"/>
              <a:gd name="csY2" fmla="*/ 368808 h 767173"/>
              <a:gd name="csX3" fmla="*/ 2279904 w 2279904"/>
              <a:gd name="csY3" fmla="*/ 0 h 767173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2279904" h="767173">
                <a:moveTo>
                  <a:pt x="0" y="0"/>
                </a:moveTo>
                <a:cubicBezTo>
                  <a:pt x="603504" y="0"/>
                  <a:pt x="737616" y="100584"/>
                  <a:pt x="972312" y="556565"/>
                </a:cubicBezTo>
                <a:cubicBezTo>
                  <a:pt x="1207008" y="1012546"/>
                  <a:pt x="1408176" y="623621"/>
                  <a:pt x="1609344" y="368808"/>
                </a:cubicBezTo>
                <a:cubicBezTo>
                  <a:pt x="1810512" y="113995"/>
                  <a:pt x="1877568" y="0"/>
                  <a:pt x="2279904" y="0"/>
                </a:cubicBezTo>
              </a:path>
            </a:pathLst>
          </a:custGeom>
          <a:noFill/>
          <a:ln w="26797" cap="rnd">
            <a:solidFill>
              <a:srgbClr val="E0435A"/>
            </a:solidFill>
            <a:custDash>
              <a:ds d="675000" sp="375000"/>
            </a:custDash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61" name="Rounded Rectangle 260">
            <a:extLst>
              <a:ext uri="{FF2B5EF4-FFF2-40B4-BE49-F238E27FC236}">
                <a16:creationId xmlns:a16="http://schemas.microsoft.com/office/drawing/2014/main" id="{00376522-1147-E26B-8499-8579D5B380B7}"/>
              </a:ext>
            </a:extLst>
          </p:cNvPr>
          <p:cNvSpPr/>
          <p:nvPr/>
        </p:nvSpPr>
        <p:spPr>
          <a:xfrm>
            <a:off x="5398936" y="3459480"/>
            <a:ext cx="1550504" cy="362102"/>
          </a:xfrm>
          <a:prstGeom prst="roundRect">
            <a:avLst>
              <a:gd name="adj" fmla="val 14814"/>
            </a:avLst>
          </a:prstGeom>
          <a:solidFill>
            <a:srgbClr val="A6192E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62" name="TextBox 261">
            <a:extLst>
              <a:ext uri="{FF2B5EF4-FFF2-40B4-BE49-F238E27FC236}">
                <a16:creationId xmlns:a16="http://schemas.microsoft.com/office/drawing/2014/main" id="{67A2805C-89AF-46D8-4B31-61B3EEDF7B6F}"/>
              </a:ext>
            </a:extLst>
          </p:cNvPr>
          <p:cNvSpPr txBox="1"/>
          <p:nvPr/>
        </p:nvSpPr>
        <p:spPr>
          <a:xfrm>
            <a:off x="5782162" y="3440965"/>
            <a:ext cx="76655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900" spc="0" baseline="0" dirty="0">
                <a:ln/>
                <a:solidFill>
                  <a:srgbClr val="E6E6EA"/>
                </a:solidFill>
                <a:latin typeface="Kanit"/>
                <a:sym typeface="Kanit"/>
                <a:rtl val="0"/>
              </a:rPr>
              <a:t>multimeter</a:t>
            </a:r>
          </a:p>
        </p:txBody>
      </p:sp>
      <p:sp>
        <p:nvSpPr>
          <p:cNvPr id="263" name="TextBox 262">
            <a:extLst>
              <a:ext uri="{FF2B5EF4-FFF2-40B4-BE49-F238E27FC236}">
                <a16:creationId xmlns:a16="http://schemas.microsoft.com/office/drawing/2014/main" id="{D139625F-71CA-7988-43E6-8EBDB560CBE9}"/>
              </a:ext>
            </a:extLst>
          </p:cNvPr>
          <p:cNvSpPr txBox="1"/>
          <p:nvPr/>
        </p:nvSpPr>
        <p:spPr>
          <a:xfrm>
            <a:off x="5386990" y="3558983"/>
            <a:ext cx="158248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200" b="1" spc="0" baseline="0">
                <a:ln/>
                <a:solidFill>
                  <a:srgbClr val="FFFFFF"/>
                </a:solidFill>
                <a:latin typeface="Kanit"/>
                <a:sym typeface="Kanit"/>
                <a:rtl val="0"/>
              </a:rPr>
              <a:t>Resistance RISES ▲</a:t>
            </a:r>
          </a:p>
        </p:txBody>
      </p:sp>
      <p:sp>
        <p:nvSpPr>
          <p:cNvPr id="266" name="Freeform 265">
            <a:extLst>
              <a:ext uri="{FF2B5EF4-FFF2-40B4-BE49-F238E27FC236}">
                <a16:creationId xmlns:a16="http://schemas.microsoft.com/office/drawing/2014/main" id="{E174032F-EF85-5181-0949-C33F428A92F5}"/>
              </a:ext>
            </a:extLst>
          </p:cNvPr>
          <p:cNvSpPr/>
          <p:nvPr/>
        </p:nvSpPr>
        <p:spPr>
          <a:xfrm>
            <a:off x="4404360" y="2883277"/>
            <a:ext cx="248107" cy="6705"/>
          </a:xfrm>
          <a:custGeom>
            <a:avLst/>
            <a:gdLst>
              <a:gd name="csX0" fmla="*/ 0 w 248107"/>
              <a:gd name="csY0" fmla="*/ 0 h 6705"/>
              <a:gd name="csX1" fmla="*/ 248107 w 248107"/>
              <a:gd name="csY1" fmla="*/ 0 h 6705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248107" h="6705">
                <a:moveTo>
                  <a:pt x="0" y="0"/>
                </a:moveTo>
                <a:lnTo>
                  <a:pt x="248107" y="0"/>
                </a:lnTo>
              </a:path>
            </a:pathLst>
          </a:custGeom>
          <a:solidFill>
            <a:srgbClr val="000000"/>
          </a:solidFill>
          <a:ln w="26797" cap="flat">
            <a:solidFill>
              <a:srgbClr val="E0435A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67" name="Freeform 266">
            <a:extLst>
              <a:ext uri="{FF2B5EF4-FFF2-40B4-BE49-F238E27FC236}">
                <a16:creationId xmlns:a16="http://schemas.microsoft.com/office/drawing/2014/main" id="{EF788C5D-6C56-EC31-EB06-5D1B056D4BFC}"/>
              </a:ext>
            </a:extLst>
          </p:cNvPr>
          <p:cNvSpPr/>
          <p:nvPr/>
        </p:nvSpPr>
        <p:spPr>
          <a:xfrm>
            <a:off x="4652467" y="2816221"/>
            <a:ext cx="87172" cy="134112"/>
          </a:xfrm>
          <a:custGeom>
            <a:avLst/>
            <a:gdLst>
              <a:gd name="csX0" fmla="*/ 0 w 87172"/>
              <a:gd name="csY0" fmla="*/ 0 h 134112"/>
              <a:gd name="csX1" fmla="*/ 87173 w 87172"/>
              <a:gd name="csY1" fmla="*/ 67056 h 134112"/>
              <a:gd name="csX2" fmla="*/ 0 w 87172"/>
              <a:gd name="csY2" fmla="*/ 134112 h 134112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87172" h="134112">
                <a:moveTo>
                  <a:pt x="0" y="0"/>
                </a:moveTo>
                <a:lnTo>
                  <a:pt x="87173" y="67056"/>
                </a:lnTo>
                <a:lnTo>
                  <a:pt x="0" y="134112"/>
                </a:lnTo>
                <a:close/>
              </a:path>
            </a:pathLst>
          </a:custGeom>
          <a:solidFill>
            <a:srgbClr val="E0435A"/>
          </a:solidFill>
          <a:ln w="6699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268" name="TextBox 267">
            <a:extLst>
              <a:ext uri="{FF2B5EF4-FFF2-40B4-BE49-F238E27FC236}">
                <a16:creationId xmlns:a16="http://schemas.microsoft.com/office/drawing/2014/main" id="{5FE78C4E-5042-F975-54DA-575152557343}"/>
              </a:ext>
            </a:extLst>
          </p:cNvPr>
          <p:cNvSpPr txBox="1"/>
          <p:nvPr/>
        </p:nvSpPr>
        <p:spPr>
          <a:xfrm>
            <a:off x="4393823" y="2607554"/>
            <a:ext cx="356353" cy="2217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l"/>
            <a:r>
              <a:rPr lang="en-US" sz="975" spc="0" baseline="0">
                <a:ln/>
                <a:solidFill>
                  <a:srgbClr val="E0435A"/>
                </a:solidFill>
                <a:latin typeface="Kanit"/>
                <a:sym typeface="Kanit"/>
                <a:rtl val="0"/>
              </a:rPr>
              <a:t>load</a:t>
            </a:r>
          </a:p>
        </p:txBody>
      </p:sp>
      <p:grpSp>
        <p:nvGrpSpPr>
          <p:cNvPr id="269" name="Piezoresistance diagram" descr="piezo.png">
            <a:extLst>
              <a:ext uri="{FF2B5EF4-FFF2-40B4-BE49-F238E27FC236}">
                <a16:creationId xmlns:a16="http://schemas.microsoft.com/office/drawing/2014/main" id="{73724D52-3BC7-BE20-0DED-FF7585222822}"/>
              </a:ext>
            </a:extLst>
          </p:cNvPr>
          <p:cNvGrpSpPr/>
          <p:nvPr/>
        </p:nvGrpSpPr>
        <p:grpSpPr>
          <a:xfrm>
            <a:off x="1722120" y="3826345"/>
            <a:ext cx="2280374" cy="201713"/>
            <a:chOff x="1722120" y="3842247"/>
            <a:chExt cx="2280374" cy="201713"/>
          </a:xfrm>
        </p:grpSpPr>
        <p:sp>
          <p:nvSpPr>
            <p:cNvPr id="270" name="Oval 269">
              <a:extLst>
                <a:ext uri="{FF2B5EF4-FFF2-40B4-BE49-F238E27FC236}">
                  <a16:creationId xmlns:a16="http://schemas.microsoft.com/office/drawing/2014/main" id="{B4865B93-CA72-7476-BFB4-50221062181E}"/>
                </a:ext>
              </a:extLst>
            </p:cNvPr>
            <p:cNvSpPr/>
            <p:nvPr/>
          </p:nvSpPr>
          <p:spPr>
            <a:xfrm>
              <a:off x="1722120" y="3908755"/>
              <a:ext cx="67056" cy="67056"/>
            </a:xfrm>
            <a:prstGeom prst="ellipse">
              <a:avLst/>
            </a:prstGeom>
            <a:solidFill>
              <a:srgbClr val="0E0E10"/>
            </a:solidFill>
            <a:ln w="6699" cap="flat">
              <a:solidFill>
                <a:srgbClr val="B3B5BC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1" name="TextBox 270">
              <a:extLst>
                <a:ext uri="{FF2B5EF4-FFF2-40B4-BE49-F238E27FC236}">
                  <a16:creationId xmlns:a16="http://schemas.microsoft.com/office/drawing/2014/main" id="{ADD96EDD-F285-0E92-8639-99D43B789F99}"/>
                </a:ext>
              </a:extLst>
            </p:cNvPr>
            <p:cNvSpPr txBox="1"/>
            <p:nvPr/>
          </p:nvSpPr>
          <p:spPr>
            <a:xfrm>
              <a:off x="1731264" y="3842247"/>
              <a:ext cx="895564" cy="2017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825" spc="0" baseline="0">
                  <a:ln/>
                  <a:solidFill>
                    <a:srgbClr val="B3B5BC"/>
                  </a:solidFill>
                  <a:latin typeface="Kanit"/>
                  <a:sym typeface="Kanit"/>
                  <a:rtl val="0"/>
                </a:rPr>
                <a:t>carbon-black particle</a:t>
              </a:r>
            </a:p>
          </p:txBody>
        </p:sp>
        <p:sp>
          <p:nvSpPr>
            <p:cNvPr id="272" name="Freeform 271">
              <a:extLst>
                <a:ext uri="{FF2B5EF4-FFF2-40B4-BE49-F238E27FC236}">
                  <a16:creationId xmlns:a16="http://schemas.microsoft.com/office/drawing/2014/main" id="{47738B57-FDEB-BD3E-AA55-53208283C3A8}"/>
                </a:ext>
              </a:extLst>
            </p:cNvPr>
            <p:cNvSpPr/>
            <p:nvPr/>
          </p:nvSpPr>
          <p:spPr>
            <a:xfrm>
              <a:off x="2998196" y="3942283"/>
              <a:ext cx="174345" cy="6705"/>
            </a:xfrm>
            <a:custGeom>
              <a:avLst/>
              <a:gdLst>
                <a:gd name="csX0" fmla="*/ 24 w 174345"/>
                <a:gd name="csY0" fmla="*/ 322 h 6705"/>
                <a:gd name="csX1" fmla="*/ 174370 w 174345"/>
                <a:gd name="csY1" fmla="*/ 322 h 670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74345" h="6705">
                  <a:moveTo>
                    <a:pt x="24" y="322"/>
                  </a:moveTo>
                  <a:lnTo>
                    <a:pt x="174370" y="322"/>
                  </a:lnTo>
                </a:path>
              </a:pathLst>
            </a:custGeom>
            <a:ln w="26797" cap="flat">
              <a:solidFill>
                <a:srgbClr val="E0435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3" name="TextBox 272">
              <a:extLst>
                <a:ext uri="{FF2B5EF4-FFF2-40B4-BE49-F238E27FC236}">
                  <a16:creationId xmlns:a16="http://schemas.microsoft.com/office/drawing/2014/main" id="{58F5B013-BD66-B92C-5F8B-5337D76044EA}"/>
                </a:ext>
              </a:extLst>
            </p:cNvPr>
            <p:cNvSpPr txBox="1"/>
            <p:nvPr/>
          </p:nvSpPr>
          <p:spPr>
            <a:xfrm>
              <a:off x="3151703" y="3842247"/>
              <a:ext cx="850791" cy="201713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825" spc="0" baseline="0" dirty="0">
                  <a:ln/>
                  <a:solidFill>
                    <a:srgbClr val="B3B5BC"/>
                  </a:solidFill>
                  <a:latin typeface="Kanit"/>
                  <a:sym typeface="Kanit"/>
                  <a:rtl val="0"/>
                </a:rPr>
                <a:t>electric current path</a:t>
              </a:r>
            </a:p>
          </p:txBody>
        </p:sp>
      </p:grpSp>
      <p:sp>
        <p:nvSpPr>
          <p:cNvPr id="6" name="Analogy"/>
          <p:cNvSpPr/>
          <p:nvPr/>
        </p:nvSpPr>
        <p:spPr>
          <a:xfrm>
            <a:off x="685800" y="4224528"/>
            <a:ext cx="7772400" cy="457200"/>
          </a:xfrm>
          <a:prstGeom prst="rect">
            <a:avLst/>
          </a:prstGeom>
          <a:gradFill rotWithShape="1">
            <a:gsLst>
              <a:gs pos="0">
                <a:srgbClr val="B81E34"/>
              </a:gs>
              <a:gs pos="100000">
                <a:srgbClr val="8F1427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68680" y="4376184"/>
            <a:ext cx="7452360" cy="1538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 dirty="0">
                <a:solidFill>
                  <a:srgbClr val="FFFFFF"/>
                </a:solidFill>
                <a:latin typeface="Open Sans"/>
              </a:rPr>
              <a:t>Like a city's road grid: </a:t>
            </a:r>
            <a:r>
              <a:rPr sz="1000" b="0" dirty="0">
                <a:solidFill>
                  <a:srgbClr val="FFFFFF"/>
                </a:solidFill>
                <a:latin typeface="Open Sans"/>
              </a:rPr>
              <a:t>close a few streets (cracks) and traffic (current) </a:t>
            </a:r>
            <a:r>
              <a:rPr lang="en-US" sz="1000" b="0" dirty="0">
                <a:solidFill>
                  <a:srgbClr val="FFFFFF"/>
                </a:solidFill>
                <a:latin typeface="Open Sans"/>
              </a:rPr>
              <a:t>must</a:t>
            </a:r>
            <a:r>
              <a:rPr sz="1000" b="0" dirty="0">
                <a:solidFill>
                  <a:srgbClr val="FFFFFF"/>
                </a:solidFill>
                <a:latin typeface="Open Sans"/>
              </a:rPr>
              <a:t> detour. Longer detours mean higher resistance.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896112"/>
            <a:ext cx="7772400" cy="566928"/>
          </a:xfrm>
        </p:spPr>
        <p:txBody>
          <a:bodyPr/>
          <a:lstStyle/>
          <a:p>
            <a:r>
              <a:rPr sz="2600" b="0">
                <a:solidFill>
                  <a:srgbClr val="FFFFFF"/>
                </a:solidFill>
                <a:latin typeface="Kanit"/>
              </a:rPr>
              <a:t>How Can Plastic Feel?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676656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spc="200">
                <a:solidFill>
                  <a:srgbClr val="E0435A"/>
                </a:solidFill>
                <a:latin typeface="Open Sans"/>
              </a:rPr>
              <a:t>LIVE DEMO</a:t>
            </a:r>
          </a:p>
        </p:txBody>
      </p:sp>
      <p:sp>
        <p:nvSpPr>
          <p:cNvPr id="4" name="Accent circle"/>
          <p:cNvSpPr/>
          <p:nvPr/>
        </p:nvSpPr>
        <p:spPr>
          <a:xfrm>
            <a:off x="841247" y="1709928"/>
            <a:ext cx="2523744" cy="2523744"/>
          </a:xfrm>
          <a:prstGeom prst="ellipse">
            <a:avLst/>
          </a:prstGeom>
          <a:noFill/>
          <a:ln w="15875">
            <a:solidFill>
              <a:srgbClr val="3B3C43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ccent circle"/>
          <p:cNvSpPr/>
          <p:nvPr/>
        </p:nvSpPr>
        <p:spPr>
          <a:xfrm>
            <a:off x="1188719" y="2057400"/>
            <a:ext cx="1828800" cy="1828800"/>
          </a:xfrm>
          <a:prstGeom prst="ellipse">
            <a:avLst/>
          </a:prstGeom>
          <a:solidFill>
            <a:srgbClr val="A6192E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Hammer demo video">
            <a:hlinkClick r:id="" action="ppaction://media"/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4"/>
          <a:stretch>
            <a:fillRect/>
          </a:stretch>
        </p:blipFill>
        <p:spPr>
          <a:xfrm>
            <a:off x="914400" y="1600200"/>
            <a:ext cx="1691640" cy="30083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566160" y="1691640"/>
            <a:ext cx="48920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E0435A"/>
                </a:solidFill>
                <a:latin typeface="Kanit"/>
              </a:rPr>
              <a:t>A printed lattice, a multimeter and a hammer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66160" y="2194560"/>
            <a:ext cx="489204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5448" indent="-155448" algn="l">
              <a:spcAft>
                <a:spcPts val="600"/>
              </a:spcAft>
              <a:buClr>
                <a:srgbClr val="E0435A"/>
              </a:buClr>
              <a:buFont typeface="Arial"/>
              <a:buChar char="•"/>
            </a:pPr>
            <a:r>
              <a:rPr sz="1100" b="0">
                <a:solidFill>
                  <a:srgbClr val="FFFFFF"/>
                </a:solidFill>
                <a:latin typeface="Open Sans"/>
              </a:rPr>
              <a:t>Each strike cracks more of the carbon pathways inside the lattice</a:t>
            </a:r>
          </a:p>
          <a:p>
            <a:pPr marL="155448" indent="-155448" algn="l">
              <a:spcAft>
                <a:spcPts val="600"/>
              </a:spcAft>
              <a:buClr>
                <a:srgbClr val="E0435A"/>
              </a:buClr>
              <a:buFont typeface="Arial"/>
              <a:buChar char="•"/>
            </a:pPr>
            <a:r>
              <a:rPr sz="1100" b="0">
                <a:solidFill>
                  <a:srgbClr val="FFFFFF"/>
                </a:solidFill>
                <a:latin typeface="Open Sans"/>
              </a:rPr>
              <a:t>The meter reading climbs from about 2.0 to 4.2, roughly doubling</a:t>
            </a:r>
          </a:p>
          <a:p>
            <a:pPr marL="155448" indent="-155448" algn="l">
              <a:spcAft>
                <a:spcPts val="600"/>
              </a:spcAft>
              <a:buClr>
                <a:srgbClr val="E0435A"/>
              </a:buClr>
              <a:buFont typeface="Arial"/>
              <a:buChar char="•"/>
            </a:pPr>
            <a:r>
              <a:rPr sz="1100" b="0">
                <a:solidFill>
                  <a:srgbClr val="FFFFFF"/>
                </a:solidFill>
                <a:latin typeface="Open Sans"/>
              </a:rPr>
              <a:t>No lab equipment: just the printed part, two clips and a meter</a:t>
            </a:r>
          </a:p>
        </p:txBody>
      </p:sp>
      <p:sp>
        <p:nvSpPr>
          <p:cNvPr id="9" name="Callout"/>
          <p:cNvSpPr/>
          <p:nvPr/>
        </p:nvSpPr>
        <p:spPr>
          <a:xfrm>
            <a:off x="3566160" y="3611880"/>
            <a:ext cx="4892040" cy="777240"/>
          </a:xfrm>
          <a:prstGeom prst="rect">
            <a:avLst/>
          </a:prstGeom>
          <a:solidFill>
            <a:srgbClr val="27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Accent"/>
          <p:cNvSpPr/>
          <p:nvPr/>
        </p:nvSpPr>
        <p:spPr>
          <a:xfrm>
            <a:off x="3566160" y="3611880"/>
            <a:ext cx="54864" cy="777240"/>
          </a:xfrm>
          <a:prstGeom prst="rect">
            <a:avLst/>
          </a:prstGeom>
          <a:solidFill>
            <a:srgbClr val="E04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3794760" y="3611880"/>
            <a:ext cx="4526280" cy="7772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Kanit"/>
              </a:rPr>
              <a:t>That climbing number is the whole idea: the damage shows up as resistance.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896112"/>
            <a:ext cx="7772400" cy="566928"/>
          </a:xfrm>
        </p:spPr>
        <p:txBody>
          <a:bodyPr/>
          <a:lstStyle/>
          <a:p>
            <a:r>
              <a:rPr sz="2600" b="0">
                <a:solidFill>
                  <a:srgbClr val="FFFFFF"/>
                </a:solidFill>
                <a:latin typeface="Kanit"/>
              </a:rPr>
              <a:t>Seeing It Happen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6"/>
                </p:tgtEl>
              </p:cMediaNode>
            </p:video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Mantis shrimp photo" descr="p-mantis-fu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radient overlay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0C0C0E">
                  <a:alpha val="92000"/>
                </a:srgbClr>
              </a:gs>
              <a:gs pos="45000">
                <a:srgbClr val="232328">
                  <a:alpha val="72000"/>
                </a:srgbClr>
              </a:gs>
              <a:gs pos="100000">
                <a:srgbClr val="A6192E">
                  <a:alpha val="1800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554480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spc="200">
                <a:solidFill>
                  <a:srgbClr val="FFFFFF"/>
                </a:solidFill>
                <a:latin typeface="Open Sans"/>
              </a:rPr>
              <a:t>NATURE'S IMPACT EXPERT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697480"/>
            <a:ext cx="420624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Open Sans"/>
              </a:rPr>
              <a:t>Its hammer-shaped club strikes at up to 23 m/s, hard enough to crack snail shells, and survives thousands of blows without shattering.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86200"/>
            <a:ext cx="4206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FFFFFF"/>
                </a:solidFill>
                <a:latin typeface="Kanit"/>
              </a:rPr>
              <a:t>It inspired our flexible, arched TPU designs.</a:t>
            </a:r>
          </a:p>
        </p:txBody>
      </p:sp>
      <p:sp>
        <p:nvSpPr>
          <p:cNvPr id="8" name="Photo credit"/>
          <p:cNvSpPr txBox="1"/>
          <p:nvPr/>
        </p:nvSpPr>
        <p:spPr>
          <a:xfrm>
            <a:off x="6400800" y="4873752"/>
            <a:ext cx="25603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650" b="0">
                <a:solidFill>
                  <a:srgbClr val="E6E6EA"/>
                </a:solidFill>
                <a:latin typeface="Open Sans"/>
              </a:rPr>
              <a:t>Photo: Nichika Sakurai / Unsplash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828800"/>
            <a:ext cx="5029200" cy="777240"/>
          </a:xfrm>
        </p:spPr>
        <p:txBody>
          <a:bodyPr/>
          <a:lstStyle/>
          <a:p>
            <a:r>
              <a:rPr sz="4400" b="0">
                <a:solidFill>
                  <a:srgbClr val="FFFFFF"/>
                </a:solidFill>
                <a:latin typeface="Kanit"/>
              </a:rPr>
              <a:t>The Mantis Shrimp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676656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spc="200">
                <a:solidFill>
                  <a:srgbClr val="E0435A"/>
                </a:solidFill>
                <a:latin typeface="Open Sans"/>
              </a:rPr>
              <a:t>NATURE'S BLUEPRINTS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A04D510E-9944-3905-ADB5-6448EE7C2E8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r="2938"/>
          <a:stretch>
            <a:fillRect/>
          </a:stretch>
        </p:blipFill>
        <p:spPr>
          <a:xfrm>
            <a:off x="685800" y="1600200"/>
            <a:ext cx="1094614" cy="1435480"/>
          </a:xfrm>
          <a:custGeom>
            <a:avLst/>
            <a:gdLst>
              <a:gd name="csX0" fmla="*/ 0 w 1130300"/>
              <a:gd name="csY0" fmla="*/ 0 h 1435480"/>
              <a:gd name="csX1" fmla="*/ 1130300 w 1130300"/>
              <a:gd name="csY1" fmla="*/ 0 h 1435480"/>
              <a:gd name="csX2" fmla="*/ 1130300 w 1130300"/>
              <a:gd name="csY2" fmla="*/ 1435481 h 1435480"/>
              <a:gd name="csX3" fmla="*/ 0 w 1130300"/>
              <a:gd name="csY3" fmla="*/ 1435481 h 143548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300" h="1435480">
                <a:moveTo>
                  <a:pt x="0" y="0"/>
                </a:moveTo>
                <a:lnTo>
                  <a:pt x="1130300" y="0"/>
                </a:lnTo>
                <a:lnTo>
                  <a:pt x="1130300" y="1435481"/>
                </a:lnTo>
                <a:lnTo>
                  <a:pt x="0" y="1435481"/>
                </a:lnTo>
                <a:close/>
              </a:path>
            </a:pathLst>
          </a:custGeom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E0C34146-9470-2660-09B8-8B6A6289D2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3419982"/>
            <a:ext cx="1130300" cy="968290"/>
          </a:xfrm>
          <a:custGeom>
            <a:avLst/>
            <a:gdLst>
              <a:gd name="csX0" fmla="*/ 0 w 1130300"/>
              <a:gd name="csY0" fmla="*/ 0 h 968290"/>
              <a:gd name="csX1" fmla="*/ 1130300 w 1130300"/>
              <a:gd name="csY1" fmla="*/ 0 h 968290"/>
              <a:gd name="csX2" fmla="*/ 1130300 w 1130300"/>
              <a:gd name="csY2" fmla="*/ 968290 h 968290"/>
              <a:gd name="csX3" fmla="*/ 0 w 1130300"/>
              <a:gd name="csY3" fmla="*/ 968290 h 96829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</a:cxnLst>
            <a:rect l="l" t="t" r="r" b="b"/>
            <a:pathLst>
              <a:path w="1130300" h="968290">
                <a:moveTo>
                  <a:pt x="0" y="0"/>
                </a:moveTo>
                <a:lnTo>
                  <a:pt x="1130300" y="0"/>
                </a:lnTo>
                <a:lnTo>
                  <a:pt x="1130300" y="968290"/>
                </a:lnTo>
                <a:lnTo>
                  <a:pt x="0" y="968290"/>
                </a:lnTo>
                <a:close/>
              </a:path>
            </a:pathLst>
          </a:custGeom>
        </p:spPr>
      </p:pic>
      <p:sp>
        <p:nvSpPr>
          <p:cNvPr id="14" name="Freeform 13">
            <a:extLst>
              <a:ext uri="{FF2B5EF4-FFF2-40B4-BE49-F238E27FC236}">
                <a16:creationId xmlns:a16="http://schemas.microsoft.com/office/drawing/2014/main" id="{2930083A-5CE9-8043-0C61-A9752F1C2FA5}"/>
              </a:ext>
            </a:extLst>
          </p:cNvPr>
          <p:cNvSpPr/>
          <p:nvPr/>
        </p:nvSpPr>
        <p:spPr>
          <a:xfrm flipV="1">
            <a:off x="1985645" y="2272221"/>
            <a:ext cx="872896" cy="45719"/>
          </a:xfrm>
          <a:custGeom>
            <a:avLst/>
            <a:gdLst>
              <a:gd name="csX0" fmla="*/ 0 w 776139"/>
              <a:gd name="csY0" fmla="*/ 0 h 3767"/>
              <a:gd name="csX1" fmla="*/ 776139 w 776139"/>
              <a:gd name="csY1" fmla="*/ 0 h 376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76139" h="3767">
                <a:moveTo>
                  <a:pt x="0" y="0"/>
                </a:moveTo>
                <a:lnTo>
                  <a:pt x="776139" y="0"/>
                </a:lnTo>
              </a:path>
            </a:pathLst>
          </a:custGeom>
          <a:ln w="52723" cap="flat">
            <a:solidFill>
              <a:srgbClr val="E0435A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8405335B-7CD3-CB39-515C-B0B16169B71B}"/>
              </a:ext>
            </a:extLst>
          </p:cNvPr>
          <p:cNvSpPr/>
          <p:nvPr/>
        </p:nvSpPr>
        <p:spPr>
          <a:xfrm>
            <a:off x="2842319" y="2219981"/>
            <a:ext cx="150706" cy="195918"/>
          </a:xfrm>
          <a:custGeom>
            <a:avLst/>
            <a:gdLst>
              <a:gd name="csX0" fmla="*/ 0 w 150706"/>
              <a:gd name="csY0" fmla="*/ 0 h 195918"/>
              <a:gd name="csX1" fmla="*/ 150707 w 150706"/>
              <a:gd name="csY1" fmla="*/ 97959 h 195918"/>
              <a:gd name="csX2" fmla="*/ 0 w 150706"/>
              <a:gd name="csY2" fmla="*/ 195919 h 1959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50706" h="195918">
                <a:moveTo>
                  <a:pt x="0" y="0"/>
                </a:moveTo>
                <a:lnTo>
                  <a:pt x="150707" y="97959"/>
                </a:lnTo>
                <a:lnTo>
                  <a:pt x="0" y="195919"/>
                </a:lnTo>
                <a:close/>
              </a:path>
            </a:pathLst>
          </a:custGeom>
          <a:solidFill>
            <a:srgbClr val="E0435A"/>
          </a:solidFill>
          <a:ln w="3766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BB3D4C-8738-BF04-00FC-F0F5D9B8E32F}"/>
              </a:ext>
            </a:extLst>
          </p:cNvPr>
          <p:cNvSpPr txBox="1"/>
          <p:nvPr/>
        </p:nvSpPr>
        <p:spPr>
          <a:xfrm>
            <a:off x="2044243" y="2031880"/>
            <a:ext cx="82105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spc="0" baseline="0" dirty="0">
                <a:ln/>
                <a:solidFill>
                  <a:srgbClr val="B3B5BC"/>
                </a:solidFill>
                <a:latin typeface="Open Sans"/>
                <a:ea typeface="Open Sans"/>
                <a:cs typeface="Open Sans"/>
                <a:sym typeface="Open Sans"/>
                <a:rtl val="0"/>
              </a:rPr>
              <a:t>Glass sponge</a:t>
            </a:r>
          </a:p>
        </p:txBody>
      </p:sp>
      <p:sp>
        <p:nvSpPr>
          <p:cNvPr id="17" name="Freeform 16">
            <a:extLst>
              <a:ext uri="{FF2B5EF4-FFF2-40B4-BE49-F238E27FC236}">
                <a16:creationId xmlns:a16="http://schemas.microsoft.com/office/drawing/2014/main" id="{8891F244-278D-5C05-3402-33B6FF74B4CD}"/>
              </a:ext>
            </a:extLst>
          </p:cNvPr>
          <p:cNvSpPr/>
          <p:nvPr/>
        </p:nvSpPr>
        <p:spPr>
          <a:xfrm flipV="1">
            <a:off x="1985645" y="3858408"/>
            <a:ext cx="879657" cy="45719"/>
          </a:xfrm>
          <a:custGeom>
            <a:avLst/>
            <a:gdLst>
              <a:gd name="csX0" fmla="*/ 0 w 776139"/>
              <a:gd name="csY0" fmla="*/ 0 h 3767"/>
              <a:gd name="csX1" fmla="*/ 776139 w 776139"/>
              <a:gd name="csY1" fmla="*/ 0 h 376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76139" h="3767">
                <a:moveTo>
                  <a:pt x="0" y="0"/>
                </a:moveTo>
                <a:lnTo>
                  <a:pt x="776139" y="0"/>
                </a:lnTo>
              </a:path>
            </a:pathLst>
          </a:custGeom>
          <a:ln w="52723" cap="flat">
            <a:solidFill>
              <a:srgbClr val="E0435A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8" name="Freeform 17">
            <a:extLst>
              <a:ext uri="{FF2B5EF4-FFF2-40B4-BE49-F238E27FC236}">
                <a16:creationId xmlns:a16="http://schemas.microsoft.com/office/drawing/2014/main" id="{8652C626-F067-157C-AB58-4E9A05653A66}"/>
              </a:ext>
            </a:extLst>
          </p:cNvPr>
          <p:cNvSpPr/>
          <p:nvPr/>
        </p:nvSpPr>
        <p:spPr>
          <a:xfrm>
            <a:off x="2843633" y="3806168"/>
            <a:ext cx="150706" cy="195918"/>
          </a:xfrm>
          <a:custGeom>
            <a:avLst/>
            <a:gdLst>
              <a:gd name="csX0" fmla="*/ 0 w 150706"/>
              <a:gd name="csY0" fmla="*/ 0 h 195918"/>
              <a:gd name="csX1" fmla="*/ 150707 w 150706"/>
              <a:gd name="csY1" fmla="*/ 97959 h 195918"/>
              <a:gd name="csX2" fmla="*/ 0 w 150706"/>
              <a:gd name="csY2" fmla="*/ 195919 h 1959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50706" h="195918">
                <a:moveTo>
                  <a:pt x="0" y="0"/>
                </a:moveTo>
                <a:lnTo>
                  <a:pt x="150707" y="97959"/>
                </a:lnTo>
                <a:lnTo>
                  <a:pt x="0" y="195919"/>
                </a:lnTo>
                <a:close/>
              </a:path>
            </a:pathLst>
          </a:custGeom>
          <a:solidFill>
            <a:srgbClr val="E0435A"/>
          </a:solidFill>
          <a:ln w="3766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ADC189F-766B-A88A-2B9C-5D6600CF1B8B}"/>
              </a:ext>
            </a:extLst>
          </p:cNvPr>
          <p:cNvSpPr txBox="1"/>
          <p:nvPr/>
        </p:nvSpPr>
        <p:spPr>
          <a:xfrm>
            <a:off x="1909143" y="3618068"/>
            <a:ext cx="110158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spc="0" baseline="0" dirty="0">
                <a:ln/>
                <a:solidFill>
                  <a:srgbClr val="B3B5BC"/>
                </a:solidFill>
                <a:latin typeface="Open Sans"/>
                <a:ea typeface="Open Sans"/>
                <a:cs typeface="Open Sans"/>
                <a:sym typeface="Open Sans"/>
                <a:rtl val="0"/>
              </a:rPr>
              <a:t>Mantis shrimp club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E1B0C81E-3A54-6B46-17B7-EEDD617C1455}"/>
              </a:ext>
            </a:extLst>
          </p:cNvPr>
          <p:cNvSpPr txBox="1"/>
          <p:nvPr/>
        </p:nvSpPr>
        <p:spPr>
          <a:xfrm>
            <a:off x="3175328" y="3079667"/>
            <a:ext cx="1136850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pc="0" baseline="0" dirty="0">
                <a:ln/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  <a:rtl val="0"/>
              </a:rPr>
              <a:t>Bioinspired</a:t>
            </a:r>
          </a:p>
        </p:txBody>
      </p:sp>
      <p:grpSp>
        <p:nvGrpSpPr>
          <p:cNvPr id="21" name="Nature to CAD figure" descr="nature.png">
            <a:extLst>
              <a:ext uri="{FF2B5EF4-FFF2-40B4-BE49-F238E27FC236}">
                <a16:creationId xmlns:a16="http://schemas.microsoft.com/office/drawing/2014/main" id="{E08CB647-B369-194E-3A76-A48EA7C2930D}"/>
              </a:ext>
            </a:extLst>
          </p:cNvPr>
          <p:cNvGrpSpPr/>
          <p:nvPr/>
        </p:nvGrpSpPr>
        <p:grpSpPr>
          <a:xfrm>
            <a:off x="3097106" y="1696275"/>
            <a:ext cx="1243330" cy="1243329"/>
            <a:chOff x="3097106" y="1696275"/>
            <a:chExt cx="1243330" cy="1243329"/>
          </a:xfrm>
          <a:noFill/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68355F9F-250F-02BC-AB68-F53EB751508E}"/>
                </a:ext>
              </a:extLst>
            </p:cNvPr>
            <p:cNvSpPr/>
            <p:nvPr/>
          </p:nvSpPr>
          <p:spPr>
            <a:xfrm>
              <a:off x="3125364" y="1724532"/>
              <a:ext cx="1186815" cy="1186814"/>
            </a:xfrm>
            <a:prstGeom prst="rect">
              <a:avLst/>
            </a:prstGeom>
            <a:noFill/>
            <a:ln w="56490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8B89D5FC-1EAE-D414-0786-23CFC6FBEB6F}"/>
                </a:ext>
              </a:extLst>
            </p:cNvPr>
            <p:cNvSpPr/>
            <p:nvPr/>
          </p:nvSpPr>
          <p:spPr>
            <a:xfrm>
              <a:off x="3718771" y="1696275"/>
              <a:ext cx="3767" cy="1243329"/>
            </a:xfrm>
            <a:custGeom>
              <a:avLst/>
              <a:gdLst>
                <a:gd name="csX0" fmla="*/ 783 w 3767"/>
                <a:gd name="csY0" fmla="*/ 169 h 1243329"/>
                <a:gd name="csX1" fmla="*/ 783 w 3767"/>
                <a:gd name="csY1" fmla="*/ 1243498 h 124332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3767" h="1243329">
                  <a:moveTo>
                    <a:pt x="783" y="169"/>
                  </a:moveTo>
                  <a:lnTo>
                    <a:pt x="783" y="1243498"/>
                  </a:lnTo>
                </a:path>
              </a:pathLst>
            </a:custGeom>
            <a:ln w="56490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086B0504-7EA5-0DAE-CEDE-C0232F0877FE}"/>
                </a:ext>
              </a:extLst>
            </p:cNvPr>
            <p:cNvSpPr/>
            <p:nvPr/>
          </p:nvSpPr>
          <p:spPr>
            <a:xfrm>
              <a:off x="3097106" y="2317940"/>
              <a:ext cx="1243330" cy="3767"/>
            </a:xfrm>
            <a:custGeom>
              <a:avLst/>
              <a:gdLst>
                <a:gd name="csX0" fmla="*/ 783 w 1243330"/>
                <a:gd name="csY0" fmla="*/ 169 h 3767"/>
                <a:gd name="csX1" fmla="*/ 1244113 w 1243330"/>
                <a:gd name="csY1" fmla="*/ 169 h 37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243330" h="3767">
                  <a:moveTo>
                    <a:pt x="783" y="169"/>
                  </a:moveTo>
                  <a:lnTo>
                    <a:pt x="1244113" y="169"/>
                  </a:lnTo>
                </a:path>
              </a:pathLst>
            </a:custGeom>
            <a:ln w="56490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43B18011-DD28-6C90-8D0C-34A536A44C13}"/>
                </a:ext>
              </a:extLst>
            </p:cNvPr>
            <p:cNvSpPr/>
            <p:nvPr/>
          </p:nvSpPr>
          <p:spPr>
            <a:xfrm>
              <a:off x="3125364" y="1724532"/>
              <a:ext cx="178022" cy="178022"/>
            </a:xfrm>
            <a:custGeom>
              <a:avLst/>
              <a:gdLst>
                <a:gd name="csX0" fmla="*/ 667 w 178022"/>
                <a:gd name="csY0" fmla="*/ 178075 h 178022"/>
                <a:gd name="csX1" fmla="*/ 178689 w 178022"/>
                <a:gd name="csY1" fmla="*/ 52 h 1780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78022" h="178022">
                  <a:moveTo>
                    <a:pt x="667" y="178075"/>
                  </a:moveTo>
                  <a:lnTo>
                    <a:pt x="178689" y="52"/>
                  </a:lnTo>
                </a:path>
              </a:pathLst>
            </a:custGeom>
            <a:ln w="28245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25">
              <a:extLst>
                <a:ext uri="{FF2B5EF4-FFF2-40B4-BE49-F238E27FC236}">
                  <a16:creationId xmlns:a16="http://schemas.microsoft.com/office/drawing/2014/main" id="{C98E1C58-4809-1039-BC9C-A9912B6AB41F}"/>
                </a:ext>
              </a:extLst>
            </p:cNvPr>
            <p:cNvSpPr/>
            <p:nvPr/>
          </p:nvSpPr>
          <p:spPr>
            <a:xfrm>
              <a:off x="3540749" y="1724532"/>
              <a:ext cx="178022" cy="178022"/>
            </a:xfrm>
            <a:custGeom>
              <a:avLst/>
              <a:gdLst>
                <a:gd name="csX0" fmla="*/ 763 w 178022"/>
                <a:gd name="csY0" fmla="*/ 52 h 178022"/>
                <a:gd name="csX1" fmla="*/ 178785 w 178022"/>
                <a:gd name="csY1" fmla="*/ 178075 h 1780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78022" h="178022">
                  <a:moveTo>
                    <a:pt x="763" y="52"/>
                  </a:moveTo>
                  <a:lnTo>
                    <a:pt x="178785" y="178075"/>
                  </a:lnTo>
                </a:path>
              </a:pathLst>
            </a:custGeom>
            <a:ln w="28245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4EC4D728-B3C2-66A9-1BAD-47092D0D8880}"/>
                </a:ext>
              </a:extLst>
            </p:cNvPr>
            <p:cNvSpPr/>
            <p:nvPr/>
          </p:nvSpPr>
          <p:spPr>
            <a:xfrm>
              <a:off x="3125364" y="2139918"/>
              <a:ext cx="178022" cy="178022"/>
            </a:xfrm>
            <a:custGeom>
              <a:avLst/>
              <a:gdLst>
                <a:gd name="csX0" fmla="*/ 667 w 178022"/>
                <a:gd name="csY0" fmla="*/ 148 h 178022"/>
                <a:gd name="csX1" fmla="*/ 178689 w 178022"/>
                <a:gd name="csY1" fmla="*/ 178170 h 1780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78022" h="178022">
                  <a:moveTo>
                    <a:pt x="667" y="148"/>
                  </a:moveTo>
                  <a:lnTo>
                    <a:pt x="178689" y="178170"/>
                  </a:lnTo>
                </a:path>
              </a:pathLst>
            </a:custGeom>
            <a:ln w="28245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8B1D983F-6CA8-7C4F-B6C2-5E475D09825B}"/>
                </a:ext>
              </a:extLst>
            </p:cNvPr>
            <p:cNvSpPr/>
            <p:nvPr/>
          </p:nvSpPr>
          <p:spPr>
            <a:xfrm>
              <a:off x="3540749" y="2139918"/>
              <a:ext cx="178022" cy="178022"/>
            </a:xfrm>
            <a:custGeom>
              <a:avLst/>
              <a:gdLst>
                <a:gd name="csX0" fmla="*/ 763 w 178022"/>
                <a:gd name="csY0" fmla="*/ 178170 h 178022"/>
                <a:gd name="csX1" fmla="*/ 178785 w 178022"/>
                <a:gd name="csY1" fmla="*/ 148 h 1780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78022" h="178022">
                  <a:moveTo>
                    <a:pt x="763" y="178170"/>
                  </a:moveTo>
                  <a:lnTo>
                    <a:pt x="178785" y="148"/>
                  </a:lnTo>
                </a:path>
              </a:pathLst>
            </a:custGeom>
            <a:ln w="28245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28">
              <a:extLst>
                <a:ext uri="{FF2B5EF4-FFF2-40B4-BE49-F238E27FC236}">
                  <a16:creationId xmlns:a16="http://schemas.microsoft.com/office/drawing/2014/main" id="{A5C68609-F2E8-E557-D5C0-FFF24D3D27F3}"/>
                </a:ext>
              </a:extLst>
            </p:cNvPr>
            <p:cNvSpPr/>
            <p:nvPr/>
          </p:nvSpPr>
          <p:spPr>
            <a:xfrm>
              <a:off x="3890859" y="1724532"/>
              <a:ext cx="421319" cy="421319"/>
            </a:xfrm>
            <a:custGeom>
              <a:avLst/>
              <a:gdLst>
                <a:gd name="csX0" fmla="*/ 871 w 421319"/>
                <a:gd name="csY0" fmla="*/ 80 h 421319"/>
                <a:gd name="csX1" fmla="*/ 422190 w 421319"/>
                <a:gd name="csY1" fmla="*/ 421400 h 4213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21319" h="421319">
                  <a:moveTo>
                    <a:pt x="871" y="80"/>
                  </a:moveTo>
                  <a:lnTo>
                    <a:pt x="422190" y="421400"/>
                  </a:lnTo>
                </a:path>
              </a:pathLst>
            </a:custGeom>
            <a:ln w="28245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64C5FB2C-1EB2-E744-5A80-40231162C971}"/>
                </a:ext>
              </a:extLst>
            </p:cNvPr>
            <p:cNvSpPr/>
            <p:nvPr/>
          </p:nvSpPr>
          <p:spPr>
            <a:xfrm>
              <a:off x="3718771" y="1896621"/>
              <a:ext cx="421319" cy="421319"/>
            </a:xfrm>
            <a:custGeom>
              <a:avLst/>
              <a:gdLst>
                <a:gd name="csX0" fmla="*/ 831 w 421319"/>
                <a:gd name="csY0" fmla="*/ 120 h 421319"/>
                <a:gd name="csX1" fmla="*/ 422151 w 421319"/>
                <a:gd name="csY1" fmla="*/ 421439 h 4213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21319" h="421319">
                  <a:moveTo>
                    <a:pt x="831" y="120"/>
                  </a:moveTo>
                  <a:lnTo>
                    <a:pt x="422151" y="421439"/>
                  </a:lnTo>
                </a:path>
              </a:pathLst>
            </a:custGeom>
            <a:ln w="28245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30">
              <a:extLst>
                <a:ext uri="{FF2B5EF4-FFF2-40B4-BE49-F238E27FC236}">
                  <a16:creationId xmlns:a16="http://schemas.microsoft.com/office/drawing/2014/main" id="{82DB6A97-F5D6-CC7A-2BFF-89A27E5E6C6F}"/>
                </a:ext>
              </a:extLst>
            </p:cNvPr>
            <p:cNvSpPr/>
            <p:nvPr/>
          </p:nvSpPr>
          <p:spPr>
            <a:xfrm>
              <a:off x="3718771" y="1724532"/>
              <a:ext cx="421319" cy="421319"/>
            </a:xfrm>
            <a:custGeom>
              <a:avLst/>
              <a:gdLst>
                <a:gd name="csX0" fmla="*/ 422151 w 421319"/>
                <a:gd name="csY0" fmla="*/ 80 h 421319"/>
                <a:gd name="csX1" fmla="*/ 831 w 421319"/>
                <a:gd name="csY1" fmla="*/ 421400 h 4213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21319" h="421319">
                  <a:moveTo>
                    <a:pt x="422151" y="80"/>
                  </a:moveTo>
                  <a:lnTo>
                    <a:pt x="831" y="421400"/>
                  </a:lnTo>
                </a:path>
              </a:pathLst>
            </a:custGeom>
            <a:ln w="28245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31">
              <a:extLst>
                <a:ext uri="{FF2B5EF4-FFF2-40B4-BE49-F238E27FC236}">
                  <a16:creationId xmlns:a16="http://schemas.microsoft.com/office/drawing/2014/main" id="{E7FD71DC-6913-1007-C813-25BE7D10F772}"/>
                </a:ext>
              </a:extLst>
            </p:cNvPr>
            <p:cNvSpPr/>
            <p:nvPr/>
          </p:nvSpPr>
          <p:spPr>
            <a:xfrm>
              <a:off x="3890859" y="1896621"/>
              <a:ext cx="421319" cy="421319"/>
            </a:xfrm>
            <a:custGeom>
              <a:avLst/>
              <a:gdLst>
                <a:gd name="csX0" fmla="*/ 422190 w 421319"/>
                <a:gd name="csY0" fmla="*/ 120 h 421319"/>
                <a:gd name="csX1" fmla="*/ 871 w 421319"/>
                <a:gd name="csY1" fmla="*/ 421439 h 4213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21319" h="421319">
                  <a:moveTo>
                    <a:pt x="422190" y="120"/>
                  </a:moveTo>
                  <a:lnTo>
                    <a:pt x="871" y="421439"/>
                  </a:lnTo>
                </a:path>
              </a:pathLst>
            </a:custGeom>
            <a:ln w="28245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32">
              <a:extLst>
                <a:ext uri="{FF2B5EF4-FFF2-40B4-BE49-F238E27FC236}">
                  <a16:creationId xmlns:a16="http://schemas.microsoft.com/office/drawing/2014/main" id="{4E874082-F4D5-E540-B8A2-0044EF3D4314}"/>
                </a:ext>
              </a:extLst>
            </p:cNvPr>
            <p:cNvSpPr/>
            <p:nvPr/>
          </p:nvSpPr>
          <p:spPr>
            <a:xfrm>
              <a:off x="3297452" y="2317940"/>
              <a:ext cx="421319" cy="421319"/>
            </a:xfrm>
            <a:custGeom>
              <a:avLst/>
              <a:gdLst>
                <a:gd name="csX0" fmla="*/ 735 w 421319"/>
                <a:gd name="csY0" fmla="*/ 217 h 421319"/>
                <a:gd name="csX1" fmla="*/ 422054 w 421319"/>
                <a:gd name="csY1" fmla="*/ 421536 h 4213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21319" h="421319">
                  <a:moveTo>
                    <a:pt x="735" y="217"/>
                  </a:moveTo>
                  <a:lnTo>
                    <a:pt x="422054" y="421536"/>
                  </a:lnTo>
                </a:path>
              </a:pathLst>
            </a:custGeom>
            <a:ln w="28245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33">
              <a:extLst>
                <a:ext uri="{FF2B5EF4-FFF2-40B4-BE49-F238E27FC236}">
                  <a16:creationId xmlns:a16="http://schemas.microsoft.com/office/drawing/2014/main" id="{825BF095-7F92-542C-BE42-2693AA954B69}"/>
                </a:ext>
              </a:extLst>
            </p:cNvPr>
            <p:cNvSpPr/>
            <p:nvPr/>
          </p:nvSpPr>
          <p:spPr>
            <a:xfrm>
              <a:off x="3125364" y="2490028"/>
              <a:ext cx="421319" cy="421319"/>
            </a:xfrm>
            <a:custGeom>
              <a:avLst/>
              <a:gdLst>
                <a:gd name="csX0" fmla="*/ 695 w 421319"/>
                <a:gd name="csY0" fmla="*/ 257 h 421319"/>
                <a:gd name="csX1" fmla="*/ 422014 w 421319"/>
                <a:gd name="csY1" fmla="*/ 421576 h 4213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21319" h="421319">
                  <a:moveTo>
                    <a:pt x="695" y="257"/>
                  </a:moveTo>
                  <a:lnTo>
                    <a:pt x="422014" y="421576"/>
                  </a:lnTo>
                </a:path>
              </a:pathLst>
            </a:custGeom>
            <a:ln w="28245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E1E6A040-700F-CB52-FC49-77CDD6641DD6}"/>
                </a:ext>
              </a:extLst>
            </p:cNvPr>
            <p:cNvSpPr/>
            <p:nvPr/>
          </p:nvSpPr>
          <p:spPr>
            <a:xfrm>
              <a:off x="3125364" y="2317940"/>
              <a:ext cx="421319" cy="421319"/>
            </a:xfrm>
            <a:custGeom>
              <a:avLst/>
              <a:gdLst>
                <a:gd name="csX0" fmla="*/ 422014 w 421319"/>
                <a:gd name="csY0" fmla="*/ 217 h 421319"/>
                <a:gd name="csX1" fmla="*/ 695 w 421319"/>
                <a:gd name="csY1" fmla="*/ 421536 h 4213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21319" h="421319">
                  <a:moveTo>
                    <a:pt x="422014" y="217"/>
                  </a:moveTo>
                  <a:lnTo>
                    <a:pt x="695" y="421536"/>
                  </a:lnTo>
                </a:path>
              </a:pathLst>
            </a:custGeom>
            <a:ln w="28245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6" name="Freeform 35">
              <a:extLst>
                <a:ext uri="{FF2B5EF4-FFF2-40B4-BE49-F238E27FC236}">
                  <a16:creationId xmlns:a16="http://schemas.microsoft.com/office/drawing/2014/main" id="{CB2707A0-D7A3-595C-9260-31A569CFBF78}"/>
                </a:ext>
              </a:extLst>
            </p:cNvPr>
            <p:cNvSpPr/>
            <p:nvPr/>
          </p:nvSpPr>
          <p:spPr>
            <a:xfrm>
              <a:off x="3297452" y="2490028"/>
              <a:ext cx="421319" cy="421319"/>
            </a:xfrm>
            <a:custGeom>
              <a:avLst/>
              <a:gdLst>
                <a:gd name="csX0" fmla="*/ 422054 w 421319"/>
                <a:gd name="csY0" fmla="*/ 257 h 421319"/>
                <a:gd name="csX1" fmla="*/ 735 w 421319"/>
                <a:gd name="csY1" fmla="*/ 421576 h 4213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21319" h="421319">
                  <a:moveTo>
                    <a:pt x="422054" y="257"/>
                  </a:moveTo>
                  <a:lnTo>
                    <a:pt x="735" y="421576"/>
                  </a:lnTo>
                </a:path>
              </a:pathLst>
            </a:custGeom>
            <a:ln w="28245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7" name="Freeform 36">
              <a:extLst>
                <a:ext uri="{FF2B5EF4-FFF2-40B4-BE49-F238E27FC236}">
                  <a16:creationId xmlns:a16="http://schemas.microsoft.com/office/drawing/2014/main" id="{CED76CEE-687A-A446-A32B-A35BB22AF628}"/>
                </a:ext>
              </a:extLst>
            </p:cNvPr>
            <p:cNvSpPr/>
            <p:nvPr/>
          </p:nvSpPr>
          <p:spPr>
            <a:xfrm>
              <a:off x="3718771" y="2317940"/>
              <a:ext cx="178022" cy="178022"/>
            </a:xfrm>
            <a:custGeom>
              <a:avLst/>
              <a:gdLst>
                <a:gd name="csX0" fmla="*/ 803 w 178022"/>
                <a:gd name="csY0" fmla="*/ 178211 h 178022"/>
                <a:gd name="csX1" fmla="*/ 178826 w 178022"/>
                <a:gd name="csY1" fmla="*/ 189 h 1780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78022" h="178022">
                  <a:moveTo>
                    <a:pt x="803" y="178211"/>
                  </a:moveTo>
                  <a:lnTo>
                    <a:pt x="178826" y="189"/>
                  </a:lnTo>
                </a:path>
              </a:pathLst>
            </a:custGeom>
            <a:ln w="28245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8" name="Freeform 37">
              <a:extLst>
                <a:ext uri="{FF2B5EF4-FFF2-40B4-BE49-F238E27FC236}">
                  <a16:creationId xmlns:a16="http://schemas.microsoft.com/office/drawing/2014/main" id="{2B3CE318-8034-35D8-5F54-73541E7BF9FA}"/>
                </a:ext>
              </a:extLst>
            </p:cNvPr>
            <p:cNvSpPr/>
            <p:nvPr/>
          </p:nvSpPr>
          <p:spPr>
            <a:xfrm>
              <a:off x="4134156" y="2317940"/>
              <a:ext cx="178022" cy="178022"/>
            </a:xfrm>
            <a:custGeom>
              <a:avLst/>
              <a:gdLst>
                <a:gd name="csX0" fmla="*/ 899 w 178022"/>
                <a:gd name="csY0" fmla="*/ 189 h 178022"/>
                <a:gd name="csX1" fmla="*/ 178921 w 178022"/>
                <a:gd name="csY1" fmla="*/ 178211 h 1780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78022" h="178022">
                  <a:moveTo>
                    <a:pt x="899" y="189"/>
                  </a:moveTo>
                  <a:lnTo>
                    <a:pt x="178921" y="178211"/>
                  </a:lnTo>
                </a:path>
              </a:pathLst>
            </a:custGeom>
            <a:ln w="28245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Freeform 38">
              <a:extLst>
                <a:ext uri="{FF2B5EF4-FFF2-40B4-BE49-F238E27FC236}">
                  <a16:creationId xmlns:a16="http://schemas.microsoft.com/office/drawing/2014/main" id="{20BB0833-098F-AC20-7CED-CD339E1E9C28}"/>
                </a:ext>
              </a:extLst>
            </p:cNvPr>
            <p:cNvSpPr/>
            <p:nvPr/>
          </p:nvSpPr>
          <p:spPr>
            <a:xfrm>
              <a:off x="3718771" y="2733325"/>
              <a:ext cx="178022" cy="178022"/>
            </a:xfrm>
            <a:custGeom>
              <a:avLst/>
              <a:gdLst>
                <a:gd name="csX0" fmla="*/ 803 w 178022"/>
                <a:gd name="csY0" fmla="*/ 285 h 178022"/>
                <a:gd name="csX1" fmla="*/ 178826 w 178022"/>
                <a:gd name="csY1" fmla="*/ 178307 h 1780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78022" h="178022">
                  <a:moveTo>
                    <a:pt x="803" y="285"/>
                  </a:moveTo>
                  <a:lnTo>
                    <a:pt x="178826" y="178307"/>
                  </a:lnTo>
                </a:path>
              </a:pathLst>
            </a:custGeom>
            <a:ln w="28245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9B92197A-2960-C998-A985-8C4D3F880F3B}"/>
                </a:ext>
              </a:extLst>
            </p:cNvPr>
            <p:cNvSpPr/>
            <p:nvPr/>
          </p:nvSpPr>
          <p:spPr>
            <a:xfrm>
              <a:off x="4134156" y="2733325"/>
              <a:ext cx="178022" cy="178022"/>
            </a:xfrm>
            <a:custGeom>
              <a:avLst/>
              <a:gdLst>
                <a:gd name="csX0" fmla="*/ 899 w 178022"/>
                <a:gd name="csY0" fmla="*/ 178307 h 178022"/>
                <a:gd name="csX1" fmla="*/ 178921 w 178022"/>
                <a:gd name="csY1" fmla="*/ 285 h 178022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78022" h="178022">
                  <a:moveTo>
                    <a:pt x="899" y="178307"/>
                  </a:moveTo>
                  <a:lnTo>
                    <a:pt x="178921" y="285"/>
                  </a:lnTo>
                </a:path>
              </a:pathLst>
            </a:custGeom>
            <a:ln w="28245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1" name="Nature to CAD figure" descr="nature.png">
            <a:extLst>
              <a:ext uri="{FF2B5EF4-FFF2-40B4-BE49-F238E27FC236}">
                <a16:creationId xmlns:a16="http://schemas.microsoft.com/office/drawing/2014/main" id="{5B825FB1-861D-117D-B7B6-3128C7D9F373}"/>
              </a:ext>
            </a:extLst>
          </p:cNvPr>
          <p:cNvGrpSpPr/>
          <p:nvPr/>
        </p:nvGrpSpPr>
        <p:grpSpPr>
          <a:xfrm>
            <a:off x="3081824" y="3542431"/>
            <a:ext cx="1315247" cy="723391"/>
            <a:chOff x="2984076" y="3542431"/>
            <a:chExt cx="1507066" cy="723391"/>
          </a:xfrm>
        </p:grpSpPr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1A6A971B-AEB1-5B81-E15C-0E7D0FA0B227}"/>
                </a:ext>
              </a:extLst>
            </p:cNvPr>
            <p:cNvSpPr/>
            <p:nvPr/>
          </p:nvSpPr>
          <p:spPr>
            <a:xfrm>
              <a:off x="2984076" y="3542431"/>
              <a:ext cx="1507066" cy="120565"/>
            </a:xfrm>
            <a:prstGeom prst="rect">
              <a:avLst/>
            </a:prstGeom>
            <a:solidFill>
              <a:srgbClr val="D3D5DB"/>
            </a:solidFill>
            <a:ln w="3012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5F60547D-D9BF-52E9-41F7-00E0918C71CA}"/>
                </a:ext>
              </a:extLst>
            </p:cNvPr>
            <p:cNvSpPr/>
            <p:nvPr/>
          </p:nvSpPr>
          <p:spPr>
            <a:xfrm>
              <a:off x="2984076" y="4145258"/>
              <a:ext cx="1507066" cy="120565"/>
            </a:xfrm>
            <a:prstGeom prst="rect">
              <a:avLst/>
            </a:prstGeom>
            <a:solidFill>
              <a:srgbClr val="D3D5DB"/>
            </a:solidFill>
            <a:ln w="30128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4" name="Freeform 43">
              <a:extLst>
                <a:ext uri="{FF2B5EF4-FFF2-40B4-BE49-F238E27FC236}">
                  <a16:creationId xmlns:a16="http://schemas.microsoft.com/office/drawing/2014/main" id="{0304FFE1-8E7F-965C-BB24-722924D24154}"/>
                </a:ext>
              </a:extLst>
            </p:cNvPr>
            <p:cNvSpPr/>
            <p:nvPr/>
          </p:nvSpPr>
          <p:spPr>
            <a:xfrm>
              <a:off x="3014218" y="3675053"/>
              <a:ext cx="1446784" cy="458148"/>
            </a:xfrm>
            <a:custGeom>
              <a:avLst/>
              <a:gdLst>
                <a:gd name="csX0" fmla="*/ 785 w 1446784"/>
                <a:gd name="csY0" fmla="*/ 458748 h 458148"/>
                <a:gd name="csX1" fmla="*/ 483046 w 1446784"/>
                <a:gd name="csY1" fmla="*/ 600 h 458148"/>
                <a:gd name="csX2" fmla="*/ 965308 w 1446784"/>
                <a:gd name="csY2" fmla="*/ 458748 h 458148"/>
                <a:gd name="csX3" fmla="*/ 1447569 w 1446784"/>
                <a:gd name="csY3" fmla="*/ 600 h 458148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446784" h="458148">
                  <a:moveTo>
                    <a:pt x="785" y="458748"/>
                  </a:moveTo>
                  <a:cubicBezTo>
                    <a:pt x="184044" y="458748"/>
                    <a:pt x="299787" y="600"/>
                    <a:pt x="483046" y="600"/>
                  </a:cubicBezTo>
                  <a:cubicBezTo>
                    <a:pt x="666306" y="600"/>
                    <a:pt x="782048" y="458748"/>
                    <a:pt x="965308" y="458748"/>
                  </a:cubicBezTo>
                  <a:cubicBezTo>
                    <a:pt x="1148567" y="458748"/>
                    <a:pt x="1264310" y="600"/>
                    <a:pt x="1447569" y="600"/>
                  </a:cubicBezTo>
                </a:path>
              </a:pathLst>
            </a:custGeom>
            <a:noFill/>
            <a:ln w="60256" cap="rnd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TextBox 4"/>
          <p:cNvSpPr txBox="1"/>
          <p:nvPr/>
        </p:nvSpPr>
        <p:spPr>
          <a:xfrm>
            <a:off x="685800" y="4491612"/>
            <a:ext cx="406908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700" b="0" dirty="0">
                <a:solidFill>
                  <a:srgbClr val="7E8089"/>
                </a:solidFill>
                <a:latin typeface="Open Sans"/>
              </a:rPr>
              <a:t>Natural-structure images as reproduced in the paper from the cited literature.</a:t>
            </a:r>
          </a:p>
        </p:txBody>
      </p:sp>
      <p:sp>
        <p:nvSpPr>
          <p:cNvPr id="6" name="Accent circle"/>
          <p:cNvSpPr/>
          <p:nvPr/>
        </p:nvSpPr>
        <p:spPr>
          <a:xfrm>
            <a:off x="6830568" y="749808"/>
            <a:ext cx="2066543" cy="2066543"/>
          </a:xfrm>
          <a:prstGeom prst="ellipse">
            <a:avLst/>
          </a:prstGeom>
          <a:noFill/>
          <a:ln w="15875">
            <a:solidFill>
              <a:srgbClr val="3B3C43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Accent circle"/>
          <p:cNvSpPr/>
          <p:nvPr/>
        </p:nvSpPr>
        <p:spPr>
          <a:xfrm>
            <a:off x="7178040" y="1097280"/>
            <a:ext cx="1371600" cy="1371600"/>
          </a:xfrm>
          <a:prstGeom prst="ellipse">
            <a:avLst/>
          </a:prstGeom>
          <a:solidFill>
            <a:srgbClr val="A6192E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Mantis shrimp photo" descr="p-m6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74920" y="1600200"/>
            <a:ext cx="3383280" cy="1901952"/>
          </a:xfrm>
          <a:prstGeom prst="rect">
            <a:avLst/>
          </a:prstGeom>
        </p:spPr>
      </p:pic>
      <p:sp>
        <p:nvSpPr>
          <p:cNvPr id="9" name="Photo credit"/>
          <p:cNvSpPr txBox="1"/>
          <p:nvPr/>
        </p:nvSpPr>
        <p:spPr>
          <a:xfrm>
            <a:off x="5074920" y="3529584"/>
            <a:ext cx="338328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50" b="0">
                <a:solidFill>
                  <a:srgbClr val="7E8089"/>
                </a:solidFill>
                <a:latin typeface="Open Sans"/>
              </a:rPr>
              <a:t>Photo: Claus Giering / Unsplash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74920" y="3730752"/>
            <a:ext cx="33832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5448" indent="-155448" algn="l">
              <a:spcAft>
                <a:spcPts val="400"/>
              </a:spcAft>
              <a:buClr>
                <a:srgbClr val="E0435A"/>
              </a:buClr>
              <a:buFont typeface="Arial"/>
              <a:buChar char="•"/>
            </a:pPr>
            <a:r>
              <a:rPr sz="1000" b="1" dirty="0">
                <a:solidFill>
                  <a:srgbClr val="E0435A"/>
                </a:solidFill>
                <a:latin typeface="Open Sans"/>
              </a:rPr>
              <a:t>Deep-sea glass sponge</a:t>
            </a:r>
            <a:r>
              <a:rPr sz="1000" b="0" dirty="0">
                <a:solidFill>
                  <a:srgbClr val="FFFFFF"/>
                </a:solidFill>
                <a:latin typeface="Open Sans"/>
              </a:rPr>
              <a:t> → rigid lattice with diagonal cross-bracing</a:t>
            </a:r>
          </a:p>
          <a:p>
            <a:pPr marL="155448" indent="-155448" algn="l">
              <a:spcAft>
                <a:spcPts val="0"/>
              </a:spcAft>
              <a:buClr>
                <a:srgbClr val="E0435A"/>
              </a:buClr>
              <a:buFont typeface="Arial"/>
              <a:buChar char="•"/>
            </a:pPr>
            <a:r>
              <a:rPr sz="1000" b="1" dirty="0">
                <a:solidFill>
                  <a:srgbClr val="E0435A"/>
                </a:solidFill>
                <a:latin typeface="Open Sans"/>
              </a:rPr>
              <a:t>Mantis shrimp dactyl club</a:t>
            </a:r>
            <a:r>
              <a:rPr sz="1000" b="0" dirty="0">
                <a:solidFill>
                  <a:srgbClr val="FFFFFF"/>
                </a:solidFill>
                <a:latin typeface="Open Sans"/>
              </a:rPr>
              <a:t> → arched, energy-absorbing “bumps”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896112"/>
            <a:ext cx="7772400" cy="566928"/>
          </a:xfrm>
        </p:spPr>
        <p:txBody>
          <a:bodyPr/>
          <a:lstStyle/>
          <a:p>
            <a:r>
              <a:rPr sz="2600" b="0">
                <a:solidFill>
                  <a:srgbClr val="FFFFFF"/>
                </a:solidFill>
                <a:latin typeface="Kanit"/>
              </a:rPr>
              <a:t>Borrowing From Nature</a:t>
            </a: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42BB6F19-40C3-AFAD-D3B9-7A175D1BF11C}"/>
              </a:ext>
            </a:extLst>
          </p:cNvPr>
          <p:cNvSpPr txBox="1"/>
          <p:nvPr/>
        </p:nvSpPr>
        <p:spPr>
          <a:xfrm>
            <a:off x="849027" y="3081270"/>
            <a:ext cx="76815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pc="0" baseline="0" dirty="0">
                <a:ln/>
                <a:solidFill>
                  <a:srgbClr val="FFFFFF"/>
                </a:solidFill>
                <a:latin typeface="Open Sans"/>
                <a:ea typeface="Open Sans"/>
                <a:cs typeface="Open Sans"/>
                <a:sym typeface="Open Sans"/>
                <a:rtl val="0"/>
              </a:rPr>
              <a:t>Nature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676656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spc="200">
                <a:solidFill>
                  <a:srgbClr val="E0435A"/>
                </a:solidFill>
                <a:latin typeface="Open Sans"/>
              </a:rPr>
              <a:t>CONDUCTIVE FILAMENTS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B3B5BC"/>
                </a:solidFill>
                <a:latin typeface="Open Sans"/>
              </a:rPr>
              <a:t>Both filaments conduct electricity, but they behave very differently under load.</a:t>
            </a:r>
          </a:p>
        </p:txBody>
      </p:sp>
      <p:sp>
        <p:nvSpPr>
          <p:cNvPr id="5" name="CB-PLA"/>
          <p:cNvSpPr/>
          <p:nvPr/>
        </p:nvSpPr>
        <p:spPr>
          <a:xfrm>
            <a:off x="685800" y="1920240"/>
            <a:ext cx="3749039" cy="2011680"/>
          </a:xfrm>
          <a:prstGeom prst="rect">
            <a:avLst/>
          </a:prstGeom>
          <a:gradFill rotWithShape="1">
            <a:gsLst>
              <a:gs pos="0">
                <a:srgbClr val="B81E34"/>
              </a:gs>
              <a:gs pos="100000">
                <a:srgbClr val="8F1427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103120"/>
            <a:ext cx="33375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FFFFFF"/>
                </a:solidFill>
                <a:latin typeface="Kanit"/>
              </a:rPr>
              <a:t>CB-PLA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FFFFFF"/>
                </a:solidFill>
                <a:latin typeface="Open Sans"/>
              </a:rPr>
              <a:t>Rigid · carbon-black polylactic acid</a:t>
            </a:r>
          </a:p>
          <a:p>
            <a:pPr marL="155448" indent="-155448" algn="l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>
                <a:solidFill>
                  <a:srgbClr val="FFFFFF"/>
                </a:solidFill>
                <a:latin typeface="Open Sans"/>
              </a:rPr>
              <a:t>Higher conductivity and stiffness</a:t>
            </a:r>
          </a:p>
          <a:p>
            <a:pPr marL="155448" indent="-155448" algn="l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0">
                <a:solidFill>
                  <a:srgbClr val="FFFFFF"/>
                </a:solidFill>
                <a:latin typeface="Open Sans"/>
              </a:rPr>
              <a:t>Cracks show up as resistance changes</a:t>
            </a:r>
          </a:p>
          <a:p>
            <a:pPr marL="155448" indent="-155448" algn="l">
              <a:spcAft>
                <a:spcPts val="400"/>
              </a:spcAft>
              <a:buClr>
                <a:srgbClr val="FFFFFF"/>
              </a:buClr>
              <a:buFont typeface="Arial"/>
              <a:buChar char="•"/>
            </a:pPr>
            <a:r>
              <a:rPr sz="1150" b="1">
                <a:solidFill>
                  <a:srgbClr val="FFFFFF"/>
                </a:solidFill>
                <a:latin typeface="Open Sans"/>
              </a:rPr>
              <a:t>Used for the glass sponge lattices</a:t>
            </a:r>
          </a:p>
        </p:txBody>
      </p:sp>
      <p:sp>
        <p:nvSpPr>
          <p:cNvPr id="7" name="CB-TPU"/>
          <p:cNvSpPr/>
          <p:nvPr/>
        </p:nvSpPr>
        <p:spPr>
          <a:xfrm>
            <a:off x="4709160" y="1920240"/>
            <a:ext cx="3749039" cy="2011680"/>
          </a:xfrm>
          <a:prstGeom prst="rect">
            <a:avLst/>
          </a:prstGeom>
          <a:solidFill>
            <a:srgbClr val="27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937760" y="2103120"/>
            <a:ext cx="33375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0">
                <a:solidFill>
                  <a:srgbClr val="E0435A"/>
                </a:solidFill>
                <a:latin typeface="Kanit"/>
              </a:rPr>
              <a:t>CB-TPU</a:t>
            </a:r>
          </a:p>
          <a:p>
            <a:pPr algn="l">
              <a:spcAft>
                <a:spcPts val="800"/>
              </a:spcAft>
            </a:pPr>
            <a:r>
              <a:rPr sz="950" b="1">
                <a:solidFill>
                  <a:srgbClr val="B3B5BC"/>
                </a:solidFill>
                <a:latin typeface="Open Sans"/>
              </a:rPr>
              <a:t>Flexible · carbon-black thermoplastic polyurethane</a:t>
            </a:r>
          </a:p>
          <a:p>
            <a:pPr marL="155448" indent="-155448" algn="l">
              <a:spcAft>
                <a:spcPts val="400"/>
              </a:spcAft>
              <a:buClr>
                <a:srgbClr val="E0435A"/>
              </a:buClr>
              <a:buFont typeface="Arial"/>
              <a:buChar char="•"/>
            </a:pPr>
            <a:r>
              <a:rPr sz="1150" b="0">
                <a:solidFill>
                  <a:srgbClr val="FFFFFF"/>
                </a:solidFill>
                <a:latin typeface="Open Sans"/>
              </a:rPr>
              <a:t>Bends and springs back</a:t>
            </a:r>
          </a:p>
          <a:p>
            <a:pPr marL="155448" indent="-155448" algn="l">
              <a:spcAft>
                <a:spcPts val="400"/>
              </a:spcAft>
              <a:buClr>
                <a:srgbClr val="E0435A"/>
              </a:buClr>
              <a:buFont typeface="Arial"/>
              <a:buChar char="•"/>
            </a:pPr>
            <a:r>
              <a:rPr sz="1150" b="0">
                <a:solidFill>
                  <a:srgbClr val="FFFFFF"/>
                </a:solidFill>
                <a:latin typeface="Open Sans"/>
              </a:rPr>
              <a:t>Absorbs shock and vibration</a:t>
            </a:r>
          </a:p>
          <a:p>
            <a:pPr marL="155448" indent="-155448" algn="l">
              <a:spcAft>
                <a:spcPts val="400"/>
              </a:spcAft>
              <a:buClr>
                <a:srgbClr val="E0435A"/>
              </a:buClr>
              <a:buFont typeface="Arial"/>
              <a:buChar char="•"/>
            </a:pPr>
            <a:r>
              <a:rPr sz="1150" b="1">
                <a:solidFill>
                  <a:srgbClr val="FFFFFF"/>
                </a:solidFill>
                <a:latin typeface="Open Sans"/>
              </a:rPr>
              <a:t>Used for the mantis shrimp arches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4160520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0">
                <a:solidFill>
                  <a:srgbClr val="FFFFFF"/>
                </a:solidFill>
                <a:latin typeface="Kanit"/>
              </a:rPr>
              <a:t>Rigid layers to sense damage, flexible layers to soak up impact.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896112"/>
            <a:ext cx="7772400" cy="566928"/>
          </a:xfrm>
        </p:spPr>
        <p:txBody>
          <a:bodyPr/>
          <a:lstStyle/>
          <a:p>
            <a:r>
              <a:rPr sz="2600" b="0">
                <a:solidFill>
                  <a:srgbClr val="FFFFFF"/>
                </a:solidFill>
                <a:latin typeface="Kanit"/>
              </a:rPr>
              <a:t>Two Materials, Two Jobs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 circle"/>
          <p:cNvSpPr/>
          <p:nvPr/>
        </p:nvSpPr>
        <p:spPr>
          <a:xfrm>
            <a:off x="1618488" y="429767"/>
            <a:ext cx="3803904" cy="3803904"/>
          </a:xfrm>
          <a:prstGeom prst="ellipse">
            <a:avLst/>
          </a:prstGeom>
          <a:noFill/>
          <a:ln w="15875">
            <a:solidFill>
              <a:srgbClr val="3B3C43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Accent circle"/>
          <p:cNvSpPr/>
          <p:nvPr/>
        </p:nvSpPr>
        <p:spPr>
          <a:xfrm>
            <a:off x="1965960" y="777239"/>
            <a:ext cx="3108960" cy="3108960"/>
          </a:xfrm>
          <a:prstGeom prst="ellipse">
            <a:avLst/>
          </a:prstGeom>
          <a:solidFill>
            <a:srgbClr val="A6192E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Section photo" descr="p-sec2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731520"/>
            <a:ext cx="3291840" cy="3657600"/>
          </a:xfrm>
          <a:prstGeom prst="rect">
            <a:avLst/>
          </a:prstGeom>
        </p:spPr>
      </p:pic>
      <p:sp>
        <p:nvSpPr>
          <p:cNvPr id="6" name="Teaser"/>
          <p:cNvSpPr/>
          <p:nvPr/>
        </p:nvSpPr>
        <p:spPr>
          <a:xfrm>
            <a:off x="2880360" y="3383280"/>
            <a:ext cx="2103120" cy="1005840"/>
          </a:xfrm>
          <a:prstGeom prst="rect">
            <a:avLst/>
          </a:prstGeom>
          <a:gradFill rotWithShape="1">
            <a:gsLst>
              <a:gs pos="0">
                <a:srgbClr val="B81E34"/>
              </a:gs>
              <a:gs pos="100000">
                <a:srgbClr val="8F1427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035808" y="3383280"/>
            <a:ext cx="1810512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Kanit"/>
              </a:rPr>
              <a:t>From CAD models to conductive prints and a test rig</a:t>
            </a:r>
          </a:p>
        </p:txBody>
      </p:sp>
      <p:sp>
        <p:nvSpPr>
          <p:cNvPr id="8" name="Photo credit"/>
          <p:cNvSpPr txBox="1"/>
          <p:nvPr/>
        </p:nvSpPr>
        <p:spPr>
          <a:xfrm>
            <a:off x="685800" y="4462272"/>
            <a:ext cx="32004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50" b="0">
                <a:solidFill>
                  <a:srgbClr val="7E8089"/>
                </a:solidFill>
                <a:latin typeface="Open Sans"/>
              </a:rPr>
              <a:t>Photo: ZMorph All-in-One 3D Printers / Unsplash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914400"/>
            <a:ext cx="22860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0">
                <a:solidFill>
                  <a:srgbClr val="E0435A"/>
                </a:solidFill>
                <a:latin typeface="Kanit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3246120"/>
            <a:ext cx="2926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■"/>
            </a:pPr>
            <a:r>
              <a:rPr sz="1050" b="0">
                <a:solidFill>
                  <a:srgbClr val="B3B5BC"/>
                </a:solidFill>
                <a:latin typeface="Open Sans"/>
              </a:rPr>
              <a:t>Designing the models</a:t>
            </a:r>
          </a:p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■"/>
            </a:pPr>
            <a:r>
              <a:rPr sz="1050" b="0">
                <a:solidFill>
                  <a:srgbClr val="B3B5BC"/>
                </a:solidFill>
                <a:latin typeface="Open Sans"/>
              </a:rPr>
              <a:t>From CAD to printed part</a:t>
            </a:r>
          </a:p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■"/>
            </a:pPr>
            <a:r>
              <a:rPr sz="1050" b="0">
                <a:solidFill>
                  <a:srgbClr val="B3B5BC"/>
                </a:solidFill>
                <a:latin typeface="Open Sans"/>
              </a:rPr>
              <a:t>The compression rig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77840" y="1874519"/>
            <a:ext cx="3108960" cy="1234440"/>
          </a:xfrm>
        </p:spPr>
        <p:txBody>
          <a:bodyPr/>
          <a:lstStyle/>
          <a:p>
            <a:r>
              <a:rPr sz="3400" b="0">
                <a:solidFill>
                  <a:srgbClr val="FFFFFF"/>
                </a:solidFill>
                <a:latin typeface="Kanit"/>
              </a:rPr>
              <a:t>Design Process &amp; Methods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676656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spc="200">
                <a:solidFill>
                  <a:srgbClr val="E0435A"/>
                </a:solidFill>
                <a:latin typeface="Open Sans"/>
              </a:rPr>
              <a:t>ONSHAPE CAD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B3B5BC"/>
                </a:solidFill>
                <a:latin typeface="Open Sans"/>
              </a:rPr>
              <a:t>Global variables let us change strut thickness and cell spacing without redrawing.</a:t>
            </a:r>
          </a:p>
        </p:txBody>
      </p:sp>
      <p:grpSp>
        <p:nvGrpSpPr>
          <p:cNvPr id="43" name="CAD lattices" descr="lattices.png">
            <a:extLst>
              <a:ext uri="{FF2B5EF4-FFF2-40B4-BE49-F238E27FC236}">
                <a16:creationId xmlns:a16="http://schemas.microsoft.com/office/drawing/2014/main" id="{B747CA71-075A-9AD1-F042-A0F5B6230C40}"/>
              </a:ext>
            </a:extLst>
          </p:cNvPr>
          <p:cNvGrpSpPr/>
          <p:nvPr/>
        </p:nvGrpSpPr>
        <p:grpSpPr>
          <a:xfrm>
            <a:off x="685800" y="1965960"/>
            <a:ext cx="1331272" cy="1331271"/>
            <a:chOff x="685800" y="1965960"/>
            <a:chExt cx="1331272" cy="1331271"/>
          </a:xfrm>
          <a:noFill/>
        </p:grpSpPr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899C68F2-B6F1-1278-41F9-D7AEDD0655DB}"/>
                </a:ext>
              </a:extLst>
            </p:cNvPr>
            <p:cNvSpPr/>
            <p:nvPr/>
          </p:nvSpPr>
          <p:spPr>
            <a:xfrm>
              <a:off x="716056" y="1996216"/>
              <a:ext cx="1270759" cy="1270759"/>
            </a:xfrm>
            <a:prstGeom prst="rect">
              <a:avLst/>
            </a:prstGeom>
            <a:noFill/>
            <a:ln w="60487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5" name="Freeform 44">
              <a:extLst>
                <a:ext uri="{FF2B5EF4-FFF2-40B4-BE49-F238E27FC236}">
                  <a16:creationId xmlns:a16="http://schemas.microsoft.com/office/drawing/2014/main" id="{F07C3DA9-51AD-D829-D124-9DFB147B0BD8}"/>
                </a:ext>
              </a:extLst>
            </p:cNvPr>
            <p:cNvSpPr/>
            <p:nvPr/>
          </p:nvSpPr>
          <p:spPr>
            <a:xfrm>
              <a:off x="1033746" y="1965960"/>
              <a:ext cx="6656" cy="1331271"/>
            </a:xfrm>
            <a:custGeom>
              <a:avLst/>
              <a:gdLst>
                <a:gd name="csX0" fmla="*/ 41 w 6656"/>
                <a:gd name="csY0" fmla="*/ 78 h 1331271"/>
                <a:gd name="csX1" fmla="*/ 41 w 6656"/>
                <a:gd name="csY1" fmla="*/ 1331350 h 13312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656" h="1331271">
                  <a:moveTo>
                    <a:pt x="41" y="78"/>
                  </a:moveTo>
                  <a:lnTo>
                    <a:pt x="41" y="1331350"/>
                  </a:lnTo>
                </a:path>
              </a:pathLst>
            </a:custGeom>
            <a:ln w="60487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22F0CCD6-0B38-FFC8-C91E-05693775238F}"/>
                </a:ext>
              </a:extLst>
            </p:cNvPr>
            <p:cNvSpPr/>
            <p:nvPr/>
          </p:nvSpPr>
          <p:spPr>
            <a:xfrm>
              <a:off x="1351436" y="1965960"/>
              <a:ext cx="6656" cy="1331271"/>
            </a:xfrm>
            <a:custGeom>
              <a:avLst/>
              <a:gdLst>
                <a:gd name="csX0" fmla="*/ 78 w 6656"/>
                <a:gd name="csY0" fmla="*/ 78 h 1331271"/>
                <a:gd name="csX1" fmla="*/ 78 w 6656"/>
                <a:gd name="csY1" fmla="*/ 1331350 h 13312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656" h="1331271">
                  <a:moveTo>
                    <a:pt x="78" y="78"/>
                  </a:moveTo>
                  <a:lnTo>
                    <a:pt x="78" y="1331350"/>
                  </a:lnTo>
                </a:path>
              </a:pathLst>
            </a:custGeom>
            <a:ln w="60487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351C1FC0-EEB1-DAC0-472B-4524932216C9}"/>
                </a:ext>
              </a:extLst>
            </p:cNvPr>
            <p:cNvSpPr/>
            <p:nvPr/>
          </p:nvSpPr>
          <p:spPr>
            <a:xfrm>
              <a:off x="1669126" y="1965960"/>
              <a:ext cx="6656" cy="1331271"/>
            </a:xfrm>
            <a:custGeom>
              <a:avLst/>
              <a:gdLst>
                <a:gd name="csX0" fmla="*/ 115 w 6656"/>
                <a:gd name="csY0" fmla="*/ 78 h 1331271"/>
                <a:gd name="csX1" fmla="*/ 115 w 6656"/>
                <a:gd name="csY1" fmla="*/ 1331350 h 13312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656" h="1331271">
                  <a:moveTo>
                    <a:pt x="115" y="78"/>
                  </a:moveTo>
                  <a:lnTo>
                    <a:pt x="115" y="1331350"/>
                  </a:lnTo>
                </a:path>
              </a:pathLst>
            </a:custGeom>
            <a:ln w="60487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90823427-3614-CA35-679B-BDF74D370D08}"/>
                </a:ext>
              </a:extLst>
            </p:cNvPr>
            <p:cNvSpPr/>
            <p:nvPr/>
          </p:nvSpPr>
          <p:spPr>
            <a:xfrm>
              <a:off x="685800" y="2419802"/>
              <a:ext cx="1331272" cy="6656"/>
            </a:xfrm>
            <a:custGeom>
              <a:avLst/>
              <a:gdLst>
                <a:gd name="csX0" fmla="*/ 78 w 1331272"/>
                <a:gd name="csY0" fmla="*/ 53 h 6656"/>
                <a:gd name="csX1" fmla="*/ 1331350 w 1331272"/>
                <a:gd name="csY1" fmla="*/ 53 h 66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331272" h="6656">
                  <a:moveTo>
                    <a:pt x="78" y="53"/>
                  </a:moveTo>
                  <a:lnTo>
                    <a:pt x="1331350" y="53"/>
                  </a:lnTo>
                </a:path>
              </a:pathLst>
            </a:custGeom>
            <a:ln w="60487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1F639DA6-8250-1845-1F5F-9159011623CB}"/>
                </a:ext>
              </a:extLst>
            </p:cNvPr>
            <p:cNvSpPr/>
            <p:nvPr/>
          </p:nvSpPr>
          <p:spPr>
            <a:xfrm>
              <a:off x="685800" y="2843389"/>
              <a:ext cx="1331272" cy="6656"/>
            </a:xfrm>
            <a:custGeom>
              <a:avLst/>
              <a:gdLst>
                <a:gd name="csX0" fmla="*/ 78 w 1331272"/>
                <a:gd name="csY0" fmla="*/ 103 h 6656"/>
                <a:gd name="csX1" fmla="*/ 1331350 w 1331272"/>
                <a:gd name="csY1" fmla="*/ 103 h 66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331272" h="6656">
                  <a:moveTo>
                    <a:pt x="78" y="103"/>
                  </a:moveTo>
                  <a:lnTo>
                    <a:pt x="1331350" y="103"/>
                  </a:lnTo>
                </a:path>
              </a:pathLst>
            </a:custGeom>
            <a:ln w="60487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87DEF669-7499-0A32-1128-E1380A94C15B}"/>
              </a:ext>
            </a:extLst>
          </p:cNvPr>
          <p:cNvSpPr txBox="1"/>
          <p:nvPr/>
        </p:nvSpPr>
        <p:spPr>
          <a:xfrm>
            <a:off x="1036278" y="3344468"/>
            <a:ext cx="630301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spc="0" baseline="0">
                <a:ln/>
                <a:solidFill>
                  <a:srgbClr val="B3B5BC"/>
                </a:solidFill>
                <a:latin typeface="Open Sans"/>
                <a:ea typeface="Open Sans"/>
                <a:cs typeface="Open Sans"/>
                <a:sym typeface="Open Sans"/>
                <a:rtl val="0"/>
              </a:rPr>
              <a:t>3 × 4 grid</a:t>
            </a:r>
          </a:p>
        </p:txBody>
      </p:sp>
      <p:grpSp>
        <p:nvGrpSpPr>
          <p:cNvPr id="51" name="CAD lattices" descr="lattices.png">
            <a:extLst>
              <a:ext uri="{FF2B5EF4-FFF2-40B4-BE49-F238E27FC236}">
                <a16:creationId xmlns:a16="http://schemas.microsoft.com/office/drawing/2014/main" id="{1519E68D-B062-DCFE-6684-788EC9D4831D}"/>
              </a:ext>
            </a:extLst>
          </p:cNvPr>
          <p:cNvGrpSpPr/>
          <p:nvPr/>
        </p:nvGrpSpPr>
        <p:grpSpPr>
          <a:xfrm>
            <a:off x="2283310" y="1965960"/>
            <a:ext cx="1331272" cy="1331271"/>
            <a:chOff x="2283310" y="1965960"/>
            <a:chExt cx="1331272" cy="1331271"/>
          </a:xfrm>
          <a:noFill/>
        </p:grpSpPr>
        <p:sp>
          <p:nvSpPr>
            <p:cNvPr id="52" name="Rectangle 51">
              <a:extLst>
                <a:ext uri="{FF2B5EF4-FFF2-40B4-BE49-F238E27FC236}">
                  <a16:creationId xmlns:a16="http://schemas.microsoft.com/office/drawing/2014/main" id="{8FB8DBC0-AEEB-0909-8BBA-4D26F9638A3E}"/>
                </a:ext>
              </a:extLst>
            </p:cNvPr>
            <p:cNvSpPr/>
            <p:nvPr/>
          </p:nvSpPr>
          <p:spPr>
            <a:xfrm>
              <a:off x="2313566" y="1996216"/>
              <a:ext cx="1270759" cy="1270759"/>
            </a:xfrm>
            <a:prstGeom prst="rect">
              <a:avLst/>
            </a:prstGeom>
            <a:noFill/>
            <a:ln w="60487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E616DCE8-7DBA-DF76-BF9A-B3E4092A677A}"/>
                </a:ext>
              </a:extLst>
            </p:cNvPr>
            <p:cNvSpPr/>
            <p:nvPr/>
          </p:nvSpPr>
          <p:spPr>
            <a:xfrm>
              <a:off x="2948946" y="1965960"/>
              <a:ext cx="6656" cy="1331271"/>
            </a:xfrm>
            <a:custGeom>
              <a:avLst/>
              <a:gdLst>
                <a:gd name="csX0" fmla="*/ 318 w 6656"/>
                <a:gd name="csY0" fmla="*/ 78 h 1331271"/>
                <a:gd name="csX1" fmla="*/ 318 w 6656"/>
                <a:gd name="csY1" fmla="*/ 1331350 h 13312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656" h="1331271">
                  <a:moveTo>
                    <a:pt x="318" y="78"/>
                  </a:moveTo>
                  <a:lnTo>
                    <a:pt x="318" y="1331350"/>
                  </a:lnTo>
                </a:path>
              </a:pathLst>
            </a:custGeom>
            <a:ln w="60487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4" name="Freeform 53">
              <a:extLst>
                <a:ext uri="{FF2B5EF4-FFF2-40B4-BE49-F238E27FC236}">
                  <a16:creationId xmlns:a16="http://schemas.microsoft.com/office/drawing/2014/main" id="{8E13CD34-3175-354A-5882-B597E1707F38}"/>
                </a:ext>
              </a:extLst>
            </p:cNvPr>
            <p:cNvSpPr/>
            <p:nvPr/>
          </p:nvSpPr>
          <p:spPr>
            <a:xfrm>
              <a:off x="2283310" y="2631595"/>
              <a:ext cx="1331272" cy="6656"/>
            </a:xfrm>
            <a:custGeom>
              <a:avLst/>
              <a:gdLst>
                <a:gd name="csX0" fmla="*/ 318 w 1331272"/>
                <a:gd name="csY0" fmla="*/ 78 h 6656"/>
                <a:gd name="csX1" fmla="*/ 1331590 w 1331272"/>
                <a:gd name="csY1" fmla="*/ 78 h 66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331272" h="6656">
                  <a:moveTo>
                    <a:pt x="318" y="78"/>
                  </a:moveTo>
                  <a:lnTo>
                    <a:pt x="1331590" y="78"/>
                  </a:lnTo>
                </a:path>
              </a:pathLst>
            </a:custGeom>
            <a:ln w="60487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5" name="Freeform 54">
              <a:extLst>
                <a:ext uri="{FF2B5EF4-FFF2-40B4-BE49-F238E27FC236}">
                  <a16:creationId xmlns:a16="http://schemas.microsoft.com/office/drawing/2014/main" id="{EE7B90AD-AF69-A09A-0C71-628027F7F2F7}"/>
                </a:ext>
              </a:extLst>
            </p:cNvPr>
            <p:cNvSpPr/>
            <p:nvPr/>
          </p:nvSpPr>
          <p:spPr>
            <a:xfrm>
              <a:off x="2313566" y="1996216"/>
              <a:ext cx="190613" cy="190613"/>
            </a:xfrm>
            <a:custGeom>
              <a:avLst/>
              <a:gdLst>
                <a:gd name="csX0" fmla="*/ 255 w 190613"/>
                <a:gd name="csY0" fmla="*/ 190629 h 190613"/>
                <a:gd name="csX1" fmla="*/ 190869 w 190613"/>
                <a:gd name="csY1" fmla="*/ 15 h 1906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0613" h="190613">
                  <a:moveTo>
                    <a:pt x="255" y="190629"/>
                  </a:moveTo>
                  <a:lnTo>
                    <a:pt x="190869" y="15"/>
                  </a:lnTo>
                </a:path>
              </a:pathLst>
            </a:custGeom>
            <a:ln w="30241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6" name="Freeform 55">
              <a:extLst>
                <a:ext uri="{FF2B5EF4-FFF2-40B4-BE49-F238E27FC236}">
                  <a16:creationId xmlns:a16="http://schemas.microsoft.com/office/drawing/2014/main" id="{BC50A8CC-EEBA-3C71-176C-758D3B8E4C60}"/>
                </a:ext>
              </a:extLst>
            </p:cNvPr>
            <p:cNvSpPr/>
            <p:nvPr/>
          </p:nvSpPr>
          <p:spPr>
            <a:xfrm>
              <a:off x="2758332" y="1996216"/>
              <a:ext cx="190613" cy="190613"/>
            </a:xfrm>
            <a:custGeom>
              <a:avLst/>
              <a:gdLst>
                <a:gd name="csX0" fmla="*/ 307 w 190613"/>
                <a:gd name="csY0" fmla="*/ 15 h 190613"/>
                <a:gd name="csX1" fmla="*/ 190921 w 190613"/>
                <a:gd name="csY1" fmla="*/ 190629 h 1906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0613" h="190613">
                  <a:moveTo>
                    <a:pt x="307" y="15"/>
                  </a:moveTo>
                  <a:lnTo>
                    <a:pt x="190921" y="190629"/>
                  </a:lnTo>
                </a:path>
              </a:pathLst>
            </a:custGeom>
            <a:ln w="30241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7" name="Freeform 56">
              <a:extLst>
                <a:ext uri="{FF2B5EF4-FFF2-40B4-BE49-F238E27FC236}">
                  <a16:creationId xmlns:a16="http://schemas.microsoft.com/office/drawing/2014/main" id="{08966969-CA9B-60FB-280F-84B8AE43BE4C}"/>
                </a:ext>
              </a:extLst>
            </p:cNvPr>
            <p:cNvSpPr/>
            <p:nvPr/>
          </p:nvSpPr>
          <p:spPr>
            <a:xfrm>
              <a:off x="2313566" y="2440981"/>
              <a:ext cx="190613" cy="190613"/>
            </a:xfrm>
            <a:custGeom>
              <a:avLst/>
              <a:gdLst>
                <a:gd name="csX0" fmla="*/ 255 w 190613"/>
                <a:gd name="csY0" fmla="*/ 67 h 190613"/>
                <a:gd name="csX1" fmla="*/ 190869 w 190613"/>
                <a:gd name="csY1" fmla="*/ 190681 h 1906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0613" h="190613">
                  <a:moveTo>
                    <a:pt x="255" y="67"/>
                  </a:moveTo>
                  <a:lnTo>
                    <a:pt x="190869" y="190681"/>
                  </a:lnTo>
                </a:path>
              </a:pathLst>
            </a:custGeom>
            <a:ln w="30241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8" name="Freeform 57">
              <a:extLst>
                <a:ext uri="{FF2B5EF4-FFF2-40B4-BE49-F238E27FC236}">
                  <a16:creationId xmlns:a16="http://schemas.microsoft.com/office/drawing/2014/main" id="{32D1B95C-C847-7DEB-A0C1-BA2BF5EF8F8D}"/>
                </a:ext>
              </a:extLst>
            </p:cNvPr>
            <p:cNvSpPr/>
            <p:nvPr/>
          </p:nvSpPr>
          <p:spPr>
            <a:xfrm>
              <a:off x="2758332" y="2440981"/>
              <a:ext cx="190613" cy="190613"/>
            </a:xfrm>
            <a:custGeom>
              <a:avLst/>
              <a:gdLst>
                <a:gd name="csX0" fmla="*/ 307 w 190613"/>
                <a:gd name="csY0" fmla="*/ 190681 h 190613"/>
                <a:gd name="csX1" fmla="*/ 190921 w 190613"/>
                <a:gd name="csY1" fmla="*/ 67 h 1906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0613" h="190613">
                  <a:moveTo>
                    <a:pt x="307" y="190681"/>
                  </a:moveTo>
                  <a:lnTo>
                    <a:pt x="190921" y="67"/>
                  </a:lnTo>
                </a:path>
              </a:pathLst>
            </a:custGeom>
            <a:ln w="30241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59" name="Freeform 58">
              <a:extLst>
                <a:ext uri="{FF2B5EF4-FFF2-40B4-BE49-F238E27FC236}">
                  <a16:creationId xmlns:a16="http://schemas.microsoft.com/office/drawing/2014/main" id="{F5D10B61-7B50-7E86-4AF4-FB129DE62634}"/>
                </a:ext>
              </a:extLst>
            </p:cNvPr>
            <p:cNvSpPr/>
            <p:nvPr/>
          </p:nvSpPr>
          <p:spPr>
            <a:xfrm>
              <a:off x="3133206" y="1996216"/>
              <a:ext cx="451119" cy="451119"/>
            </a:xfrm>
            <a:custGeom>
              <a:avLst/>
              <a:gdLst>
                <a:gd name="csX0" fmla="*/ 366 w 451119"/>
                <a:gd name="csY0" fmla="*/ 30 h 451119"/>
                <a:gd name="csX1" fmla="*/ 451486 w 451119"/>
                <a:gd name="csY1" fmla="*/ 451150 h 451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1119" h="451119">
                  <a:moveTo>
                    <a:pt x="366" y="30"/>
                  </a:moveTo>
                  <a:lnTo>
                    <a:pt x="451486" y="451150"/>
                  </a:lnTo>
                </a:path>
              </a:pathLst>
            </a:custGeom>
            <a:ln w="30241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0" name="Freeform 59">
              <a:extLst>
                <a:ext uri="{FF2B5EF4-FFF2-40B4-BE49-F238E27FC236}">
                  <a16:creationId xmlns:a16="http://schemas.microsoft.com/office/drawing/2014/main" id="{E5E41A73-CC21-A2EB-BBE3-7D44B915919C}"/>
                </a:ext>
              </a:extLst>
            </p:cNvPr>
            <p:cNvSpPr/>
            <p:nvPr/>
          </p:nvSpPr>
          <p:spPr>
            <a:xfrm>
              <a:off x="2948946" y="2180476"/>
              <a:ext cx="451119" cy="451119"/>
            </a:xfrm>
            <a:custGeom>
              <a:avLst/>
              <a:gdLst>
                <a:gd name="csX0" fmla="*/ 344 w 451119"/>
                <a:gd name="csY0" fmla="*/ 52 h 451119"/>
                <a:gd name="csX1" fmla="*/ 451464 w 451119"/>
                <a:gd name="csY1" fmla="*/ 451171 h 451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1119" h="451119">
                  <a:moveTo>
                    <a:pt x="344" y="52"/>
                  </a:moveTo>
                  <a:lnTo>
                    <a:pt x="451464" y="451171"/>
                  </a:lnTo>
                </a:path>
              </a:pathLst>
            </a:custGeom>
            <a:ln w="30241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1" name="Freeform 60">
              <a:extLst>
                <a:ext uri="{FF2B5EF4-FFF2-40B4-BE49-F238E27FC236}">
                  <a16:creationId xmlns:a16="http://schemas.microsoft.com/office/drawing/2014/main" id="{C360738F-2EA7-87CA-AB89-D7A06A040072}"/>
                </a:ext>
              </a:extLst>
            </p:cNvPr>
            <p:cNvSpPr/>
            <p:nvPr/>
          </p:nvSpPr>
          <p:spPr>
            <a:xfrm>
              <a:off x="2948946" y="1996216"/>
              <a:ext cx="451119" cy="451119"/>
            </a:xfrm>
            <a:custGeom>
              <a:avLst/>
              <a:gdLst>
                <a:gd name="csX0" fmla="*/ 451464 w 451119"/>
                <a:gd name="csY0" fmla="*/ 30 h 451119"/>
                <a:gd name="csX1" fmla="*/ 344 w 451119"/>
                <a:gd name="csY1" fmla="*/ 451150 h 451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1119" h="451119">
                  <a:moveTo>
                    <a:pt x="451464" y="30"/>
                  </a:moveTo>
                  <a:lnTo>
                    <a:pt x="344" y="451150"/>
                  </a:lnTo>
                </a:path>
              </a:pathLst>
            </a:custGeom>
            <a:ln w="30241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2" name="Freeform 61">
              <a:extLst>
                <a:ext uri="{FF2B5EF4-FFF2-40B4-BE49-F238E27FC236}">
                  <a16:creationId xmlns:a16="http://schemas.microsoft.com/office/drawing/2014/main" id="{B29EEF4B-3E61-52D2-DA8E-2631118EBEEC}"/>
                </a:ext>
              </a:extLst>
            </p:cNvPr>
            <p:cNvSpPr/>
            <p:nvPr/>
          </p:nvSpPr>
          <p:spPr>
            <a:xfrm>
              <a:off x="3133206" y="2180476"/>
              <a:ext cx="451119" cy="451119"/>
            </a:xfrm>
            <a:custGeom>
              <a:avLst/>
              <a:gdLst>
                <a:gd name="csX0" fmla="*/ 451486 w 451119"/>
                <a:gd name="csY0" fmla="*/ 52 h 451119"/>
                <a:gd name="csX1" fmla="*/ 366 w 451119"/>
                <a:gd name="csY1" fmla="*/ 451171 h 451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1119" h="451119">
                  <a:moveTo>
                    <a:pt x="451486" y="52"/>
                  </a:moveTo>
                  <a:lnTo>
                    <a:pt x="366" y="451171"/>
                  </a:lnTo>
                </a:path>
              </a:pathLst>
            </a:custGeom>
            <a:ln w="30241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3" name="Freeform 62">
              <a:extLst>
                <a:ext uri="{FF2B5EF4-FFF2-40B4-BE49-F238E27FC236}">
                  <a16:creationId xmlns:a16="http://schemas.microsoft.com/office/drawing/2014/main" id="{8BA6458B-7160-2764-AD77-B55D916B8FB3}"/>
                </a:ext>
              </a:extLst>
            </p:cNvPr>
            <p:cNvSpPr/>
            <p:nvPr/>
          </p:nvSpPr>
          <p:spPr>
            <a:xfrm>
              <a:off x="2497826" y="2631595"/>
              <a:ext cx="451119" cy="451119"/>
            </a:xfrm>
            <a:custGeom>
              <a:avLst/>
              <a:gdLst>
                <a:gd name="csX0" fmla="*/ 292 w 451119"/>
                <a:gd name="csY0" fmla="*/ 104 h 451119"/>
                <a:gd name="csX1" fmla="*/ 451411 w 451119"/>
                <a:gd name="csY1" fmla="*/ 451224 h 451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1119" h="451119">
                  <a:moveTo>
                    <a:pt x="292" y="104"/>
                  </a:moveTo>
                  <a:lnTo>
                    <a:pt x="451411" y="451224"/>
                  </a:lnTo>
                </a:path>
              </a:pathLst>
            </a:custGeom>
            <a:ln w="30241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4" name="Freeform 63">
              <a:extLst>
                <a:ext uri="{FF2B5EF4-FFF2-40B4-BE49-F238E27FC236}">
                  <a16:creationId xmlns:a16="http://schemas.microsoft.com/office/drawing/2014/main" id="{6CE6EEF1-9C9C-B226-6ED6-86112C91D764}"/>
                </a:ext>
              </a:extLst>
            </p:cNvPr>
            <p:cNvSpPr/>
            <p:nvPr/>
          </p:nvSpPr>
          <p:spPr>
            <a:xfrm>
              <a:off x="2313566" y="2815855"/>
              <a:ext cx="451119" cy="451119"/>
            </a:xfrm>
            <a:custGeom>
              <a:avLst/>
              <a:gdLst>
                <a:gd name="csX0" fmla="*/ 270 w 451119"/>
                <a:gd name="csY0" fmla="*/ 126 h 451119"/>
                <a:gd name="csX1" fmla="*/ 451390 w 451119"/>
                <a:gd name="csY1" fmla="*/ 451246 h 451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1119" h="451119">
                  <a:moveTo>
                    <a:pt x="270" y="126"/>
                  </a:moveTo>
                  <a:lnTo>
                    <a:pt x="451390" y="451246"/>
                  </a:lnTo>
                </a:path>
              </a:pathLst>
            </a:custGeom>
            <a:ln w="30241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5" name="Freeform 64">
              <a:extLst>
                <a:ext uri="{FF2B5EF4-FFF2-40B4-BE49-F238E27FC236}">
                  <a16:creationId xmlns:a16="http://schemas.microsoft.com/office/drawing/2014/main" id="{74025F63-80FE-C96F-BF76-9017B16350E5}"/>
                </a:ext>
              </a:extLst>
            </p:cNvPr>
            <p:cNvSpPr/>
            <p:nvPr/>
          </p:nvSpPr>
          <p:spPr>
            <a:xfrm>
              <a:off x="2313566" y="2631595"/>
              <a:ext cx="451119" cy="451119"/>
            </a:xfrm>
            <a:custGeom>
              <a:avLst/>
              <a:gdLst>
                <a:gd name="csX0" fmla="*/ 451390 w 451119"/>
                <a:gd name="csY0" fmla="*/ 104 h 451119"/>
                <a:gd name="csX1" fmla="*/ 270 w 451119"/>
                <a:gd name="csY1" fmla="*/ 451224 h 451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1119" h="451119">
                  <a:moveTo>
                    <a:pt x="451390" y="104"/>
                  </a:moveTo>
                  <a:lnTo>
                    <a:pt x="270" y="451224"/>
                  </a:lnTo>
                </a:path>
              </a:pathLst>
            </a:custGeom>
            <a:ln w="30241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6" name="Freeform 65">
              <a:extLst>
                <a:ext uri="{FF2B5EF4-FFF2-40B4-BE49-F238E27FC236}">
                  <a16:creationId xmlns:a16="http://schemas.microsoft.com/office/drawing/2014/main" id="{53A0640B-6241-3FCF-FCE1-457092B58E9C}"/>
                </a:ext>
              </a:extLst>
            </p:cNvPr>
            <p:cNvSpPr/>
            <p:nvPr/>
          </p:nvSpPr>
          <p:spPr>
            <a:xfrm>
              <a:off x="2497826" y="2815855"/>
              <a:ext cx="451119" cy="451119"/>
            </a:xfrm>
            <a:custGeom>
              <a:avLst/>
              <a:gdLst>
                <a:gd name="csX0" fmla="*/ 451411 w 451119"/>
                <a:gd name="csY0" fmla="*/ 126 h 451119"/>
                <a:gd name="csX1" fmla="*/ 292 w 451119"/>
                <a:gd name="csY1" fmla="*/ 451246 h 451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1119" h="451119">
                  <a:moveTo>
                    <a:pt x="451411" y="126"/>
                  </a:moveTo>
                  <a:lnTo>
                    <a:pt x="292" y="451246"/>
                  </a:lnTo>
                </a:path>
              </a:pathLst>
            </a:custGeom>
            <a:ln w="30241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7" name="Freeform 66">
              <a:extLst>
                <a:ext uri="{FF2B5EF4-FFF2-40B4-BE49-F238E27FC236}">
                  <a16:creationId xmlns:a16="http://schemas.microsoft.com/office/drawing/2014/main" id="{75FA4B4E-C589-A3D4-0AAD-1EF7206D691E}"/>
                </a:ext>
              </a:extLst>
            </p:cNvPr>
            <p:cNvSpPr/>
            <p:nvPr/>
          </p:nvSpPr>
          <p:spPr>
            <a:xfrm>
              <a:off x="2948946" y="2631595"/>
              <a:ext cx="190613" cy="190613"/>
            </a:xfrm>
            <a:custGeom>
              <a:avLst/>
              <a:gdLst>
                <a:gd name="csX0" fmla="*/ 329 w 190613"/>
                <a:gd name="csY0" fmla="*/ 190703 h 190613"/>
                <a:gd name="csX1" fmla="*/ 190943 w 190613"/>
                <a:gd name="csY1" fmla="*/ 89 h 1906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0613" h="190613">
                  <a:moveTo>
                    <a:pt x="329" y="190703"/>
                  </a:moveTo>
                  <a:lnTo>
                    <a:pt x="190943" y="89"/>
                  </a:lnTo>
                </a:path>
              </a:pathLst>
            </a:custGeom>
            <a:ln w="30241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0B4FDDCC-9172-1530-8AA1-62E8794698AF}"/>
                </a:ext>
              </a:extLst>
            </p:cNvPr>
            <p:cNvSpPr/>
            <p:nvPr/>
          </p:nvSpPr>
          <p:spPr>
            <a:xfrm>
              <a:off x="3393712" y="2631595"/>
              <a:ext cx="190613" cy="190613"/>
            </a:xfrm>
            <a:custGeom>
              <a:avLst/>
              <a:gdLst>
                <a:gd name="csX0" fmla="*/ 381 w 190613"/>
                <a:gd name="csY0" fmla="*/ 89 h 190613"/>
                <a:gd name="csX1" fmla="*/ 190995 w 190613"/>
                <a:gd name="csY1" fmla="*/ 190703 h 1906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0613" h="190613">
                  <a:moveTo>
                    <a:pt x="381" y="89"/>
                  </a:moveTo>
                  <a:lnTo>
                    <a:pt x="190995" y="190703"/>
                  </a:lnTo>
                </a:path>
              </a:pathLst>
            </a:custGeom>
            <a:ln w="30241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69" name="Freeform 68">
              <a:extLst>
                <a:ext uri="{FF2B5EF4-FFF2-40B4-BE49-F238E27FC236}">
                  <a16:creationId xmlns:a16="http://schemas.microsoft.com/office/drawing/2014/main" id="{D4C6B842-8AFB-B4CE-D580-1F9BA59D845E}"/>
                </a:ext>
              </a:extLst>
            </p:cNvPr>
            <p:cNvSpPr/>
            <p:nvPr/>
          </p:nvSpPr>
          <p:spPr>
            <a:xfrm>
              <a:off x="2948946" y="3076361"/>
              <a:ext cx="190613" cy="190613"/>
            </a:xfrm>
            <a:custGeom>
              <a:avLst/>
              <a:gdLst>
                <a:gd name="csX0" fmla="*/ 329 w 190613"/>
                <a:gd name="csY0" fmla="*/ 141 h 190613"/>
                <a:gd name="csX1" fmla="*/ 190943 w 190613"/>
                <a:gd name="csY1" fmla="*/ 190755 h 1906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0613" h="190613">
                  <a:moveTo>
                    <a:pt x="329" y="141"/>
                  </a:moveTo>
                  <a:lnTo>
                    <a:pt x="190943" y="190755"/>
                  </a:lnTo>
                </a:path>
              </a:pathLst>
            </a:custGeom>
            <a:ln w="30241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Freeform 69">
              <a:extLst>
                <a:ext uri="{FF2B5EF4-FFF2-40B4-BE49-F238E27FC236}">
                  <a16:creationId xmlns:a16="http://schemas.microsoft.com/office/drawing/2014/main" id="{1C29F247-6A10-711C-BDAF-45520C411FE8}"/>
                </a:ext>
              </a:extLst>
            </p:cNvPr>
            <p:cNvSpPr/>
            <p:nvPr/>
          </p:nvSpPr>
          <p:spPr>
            <a:xfrm>
              <a:off x="3393712" y="3076361"/>
              <a:ext cx="190613" cy="190613"/>
            </a:xfrm>
            <a:custGeom>
              <a:avLst/>
              <a:gdLst>
                <a:gd name="csX0" fmla="*/ 381 w 190613"/>
                <a:gd name="csY0" fmla="*/ 190755 h 190613"/>
                <a:gd name="csX1" fmla="*/ 190995 w 190613"/>
                <a:gd name="csY1" fmla="*/ 141 h 1906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0613" h="190613">
                  <a:moveTo>
                    <a:pt x="381" y="190755"/>
                  </a:moveTo>
                  <a:lnTo>
                    <a:pt x="190995" y="141"/>
                  </a:lnTo>
                </a:path>
              </a:pathLst>
            </a:custGeom>
            <a:ln w="30241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1" name="TextBox 70">
            <a:extLst>
              <a:ext uri="{FF2B5EF4-FFF2-40B4-BE49-F238E27FC236}">
                <a16:creationId xmlns:a16="http://schemas.microsoft.com/office/drawing/2014/main" id="{D7E4B8A4-8976-12AD-6605-5DCCEAA4705E}"/>
              </a:ext>
            </a:extLst>
          </p:cNvPr>
          <p:cNvSpPr txBox="1"/>
          <p:nvPr/>
        </p:nvSpPr>
        <p:spPr>
          <a:xfrm>
            <a:off x="2454252" y="3344468"/>
            <a:ext cx="98937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spc="0" baseline="0" dirty="0">
                <a:ln/>
                <a:solidFill>
                  <a:srgbClr val="B3B5BC"/>
                </a:solidFill>
                <a:latin typeface="Open Sans"/>
                <a:ea typeface="Open Sans"/>
                <a:cs typeface="Open Sans"/>
                <a:sym typeface="Open Sans"/>
                <a:rtl val="0"/>
              </a:rPr>
              <a:t>Sponge · 1.0 mm</a:t>
            </a:r>
          </a:p>
        </p:txBody>
      </p:sp>
      <p:grpSp>
        <p:nvGrpSpPr>
          <p:cNvPr id="72" name="CAD lattices" descr="lattices.png">
            <a:extLst>
              <a:ext uri="{FF2B5EF4-FFF2-40B4-BE49-F238E27FC236}">
                <a16:creationId xmlns:a16="http://schemas.microsoft.com/office/drawing/2014/main" id="{FA72664F-94EC-C0ED-D339-0DC272BEBEC0}"/>
              </a:ext>
            </a:extLst>
          </p:cNvPr>
          <p:cNvGrpSpPr/>
          <p:nvPr/>
        </p:nvGrpSpPr>
        <p:grpSpPr>
          <a:xfrm>
            <a:off x="3880821" y="1965960"/>
            <a:ext cx="1331272" cy="1331271"/>
            <a:chOff x="3880821" y="1965960"/>
            <a:chExt cx="1331272" cy="1331271"/>
          </a:xfrm>
          <a:noFill/>
        </p:grpSpPr>
        <p:sp>
          <p:nvSpPr>
            <p:cNvPr id="73" name="Rectangle 72">
              <a:extLst>
                <a:ext uri="{FF2B5EF4-FFF2-40B4-BE49-F238E27FC236}">
                  <a16:creationId xmlns:a16="http://schemas.microsoft.com/office/drawing/2014/main" id="{946928FC-A1C8-A4FD-BF32-CA0BE4203475}"/>
                </a:ext>
              </a:extLst>
            </p:cNvPr>
            <p:cNvSpPr/>
            <p:nvPr/>
          </p:nvSpPr>
          <p:spPr>
            <a:xfrm>
              <a:off x="3911077" y="1996216"/>
              <a:ext cx="1270759" cy="1270759"/>
            </a:xfrm>
            <a:prstGeom prst="rect">
              <a:avLst/>
            </a:prstGeom>
            <a:noFill/>
            <a:ln w="60487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4" name="Freeform 73">
              <a:extLst>
                <a:ext uri="{FF2B5EF4-FFF2-40B4-BE49-F238E27FC236}">
                  <a16:creationId xmlns:a16="http://schemas.microsoft.com/office/drawing/2014/main" id="{24100F74-46B5-D368-EB22-B4D83443CD90}"/>
                </a:ext>
              </a:extLst>
            </p:cNvPr>
            <p:cNvSpPr/>
            <p:nvPr/>
          </p:nvSpPr>
          <p:spPr>
            <a:xfrm>
              <a:off x="4546457" y="1965960"/>
              <a:ext cx="6656" cy="1331271"/>
            </a:xfrm>
            <a:custGeom>
              <a:avLst/>
              <a:gdLst>
                <a:gd name="csX0" fmla="*/ 558 w 6656"/>
                <a:gd name="csY0" fmla="*/ 78 h 1331271"/>
                <a:gd name="csX1" fmla="*/ 558 w 6656"/>
                <a:gd name="csY1" fmla="*/ 1331350 h 133127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6656" h="1331271">
                  <a:moveTo>
                    <a:pt x="558" y="78"/>
                  </a:moveTo>
                  <a:lnTo>
                    <a:pt x="558" y="1331350"/>
                  </a:lnTo>
                </a:path>
              </a:pathLst>
            </a:custGeom>
            <a:ln w="60487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5" name="Freeform 74">
              <a:extLst>
                <a:ext uri="{FF2B5EF4-FFF2-40B4-BE49-F238E27FC236}">
                  <a16:creationId xmlns:a16="http://schemas.microsoft.com/office/drawing/2014/main" id="{3FCD2F40-7FCC-11B0-A57F-4DCCB2B7D788}"/>
                </a:ext>
              </a:extLst>
            </p:cNvPr>
            <p:cNvSpPr/>
            <p:nvPr/>
          </p:nvSpPr>
          <p:spPr>
            <a:xfrm>
              <a:off x="3880821" y="2631595"/>
              <a:ext cx="1331272" cy="6656"/>
            </a:xfrm>
            <a:custGeom>
              <a:avLst/>
              <a:gdLst>
                <a:gd name="csX0" fmla="*/ 558 w 1331272"/>
                <a:gd name="csY0" fmla="*/ 78 h 6656"/>
                <a:gd name="csX1" fmla="*/ 1331830 w 1331272"/>
                <a:gd name="csY1" fmla="*/ 78 h 665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331272" h="6656">
                  <a:moveTo>
                    <a:pt x="558" y="78"/>
                  </a:moveTo>
                  <a:lnTo>
                    <a:pt x="1331830" y="78"/>
                  </a:lnTo>
                </a:path>
              </a:pathLst>
            </a:custGeom>
            <a:ln w="60487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6" name="Freeform 75">
              <a:extLst>
                <a:ext uri="{FF2B5EF4-FFF2-40B4-BE49-F238E27FC236}">
                  <a16:creationId xmlns:a16="http://schemas.microsoft.com/office/drawing/2014/main" id="{92587584-B7E1-FBC3-61A1-E00821152C14}"/>
                </a:ext>
              </a:extLst>
            </p:cNvPr>
            <p:cNvSpPr/>
            <p:nvPr/>
          </p:nvSpPr>
          <p:spPr>
            <a:xfrm>
              <a:off x="3911077" y="1996216"/>
              <a:ext cx="190613" cy="190613"/>
            </a:xfrm>
            <a:custGeom>
              <a:avLst/>
              <a:gdLst>
                <a:gd name="csX0" fmla="*/ 495 w 190613"/>
                <a:gd name="csY0" fmla="*/ 190629 h 190613"/>
                <a:gd name="csX1" fmla="*/ 191109 w 190613"/>
                <a:gd name="csY1" fmla="*/ 15 h 1906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0613" h="190613">
                  <a:moveTo>
                    <a:pt x="495" y="190629"/>
                  </a:moveTo>
                  <a:lnTo>
                    <a:pt x="191109" y="15"/>
                  </a:lnTo>
                </a:path>
              </a:pathLst>
            </a:custGeom>
            <a:ln w="45364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7" name="Freeform 76">
              <a:extLst>
                <a:ext uri="{FF2B5EF4-FFF2-40B4-BE49-F238E27FC236}">
                  <a16:creationId xmlns:a16="http://schemas.microsoft.com/office/drawing/2014/main" id="{6719425C-4198-B2CC-3E96-FBC0A9EFFF26}"/>
                </a:ext>
              </a:extLst>
            </p:cNvPr>
            <p:cNvSpPr/>
            <p:nvPr/>
          </p:nvSpPr>
          <p:spPr>
            <a:xfrm>
              <a:off x="4355843" y="1996216"/>
              <a:ext cx="190613" cy="190613"/>
            </a:xfrm>
            <a:custGeom>
              <a:avLst/>
              <a:gdLst>
                <a:gd name="csX0" fmla="*/ 547 w 190613"/>
                <a:gd name="csY0" fmla="*/ 15 h 190613"/>
                <a:gd name="csX1" fmla="*/ 191161 w 190613"/>
                <a:gd name="csY1" fmla="*/ 190629 h 1906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0613" h="190613">
                  <a:moveTo>
                    <a:pt x="547" y="15"/>
                  </a:moveTo>
                  <a:lnTo>
                    <a:pt x="191161" y="190629"/>
                  </a:lnTo>
                </a:path>
              </a:pathLst>
            </a:custGeom>
            <a:ln w="45364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8" name="Freeform 77">
              <a:extLst>
                <a:ext uri="{FF2B5EF4-FFF2-40B4-BE49-F238E27FC236}">
                  <a16:creationId xmlns:a16="http://schemas.microsoft.com/office/drawing/2014/main" id="{5A2108DF-593C-8D56-7BA5-67A3E9F232FB}"/>
                </a:ext>
              </a:extLst>
            </p:cNvPr>
            <p:cNvSpPr/>
            <p:nvPr/>
          </p:nvSpPr>
          <p:spPr>
            <a:xfrm>
              <a:off x="3911077" y="2440981"/>
              <a:ext cx="190613" cy="190613"/>
            </a:xfrm>
            <a:custGeom>
              <a:avLst/>
              <a:gdLst>
                <a:gd name="csX0" fmla="*/ 495 w 190613"/>
                <a:gd name="csY0" fmla="*/ 67 h 190613"/>
                <a:gd name="csX1" fmla="*/ 191109 w 190613"/>
                <a:gd name="csY1" fmla="*/ 190681 h 1906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0613" h="190613">
                  <a:moveTo>
                    <a:pt x="495" y="67"/>
                  </a:moveTo>
                  <a:lnTo>
                    <a:pt x="191109" y="190681"/>
                  </a:lnTo>
                </a:path>
              </a:pathLst>
            </a:custGeom>
            <a:ln w="45364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79" name="Freeform 78">
              <a:extLst>
                <a:ext uri="{FF2B5EF4-FFF2-40B4-BE49-F238E27FC236}">
                  <a16:creationId xmlns:a16="http://schemas.microsoft.com/office/drawing/2014/main" id="{7B804E54-C5D8-F0EB-6ACA-75DCCF4899FC}"/>
                </a:ext>
              </a:extLst>
            </p:cNvPr>
            <p:cNvSpPr/>
            <p:nvPr/>
          </p:nvSpPr>
          <p:spPr>
            <a:xfrm>
              <a:off x="4355843" y="2440981"/>
              <a:ext cx="190613" cy="190613"/>
            </a:xfrm>
            <a:custGeom>
              <a:avLst/>
              <a:gdLst>
                <a:gd name="csX0" fmla="*/ 547 w 190613"/>
                <a:gd name="csY0" fmla="*/ 190681 h 190613"/>
                <a:gd name="csX1" fmla="*/ 191161 w 190613"/>
                <a:gd name="csY1" fmla="*/ 67 h 1906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0613" h="190613">
                  <a:moveTo>
                    <a:pt x="547" y="190681"/>
                  </a:moveTo>
                  <a:lnTo>
                    <a:pt x="191161" y="67"/>
                  </a:lnTo>
                </a:path>
              </a:pathLst>
            </a:custGeom>
            <a:ln w="45364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0" name="Freeform 79">
              <a:extLst>
                <a:ext uri="{FF2B5EF4-FFF2-40B4-BE49-F238E27FC236}">
                  <a16:creationId xmlns:a16="http://schemas.microsoft.com/office/drawing/2014/main" id="{12243C2F-BD68-BD17-5E89-63CD8811F817}"/>
                </a:ext>
              </a:extLst>
            </p:cNvPr>
            <p:cNvSpPr/>
            <p:nvPr/>
          </p:nvSpPr>
          <p:spPr>
            <a:xfrm>
              <a:off x="4730717" y="1996216"/>
              <a:ext cx="451119" cy="451119"/>
            </a:xfrm>
            <a:custGeom>
              <a:avLst/>
              <a:gdLst>
                <a:gd name="csX0" fmla="*/ 606 w 451119"/>
                <a:gd name="csY0" fmla="*/ 30 h 451119"/>
                <a:gd name="csX1" fmla="*/ 451726 w 451119"/>
                <a:gd name="csY1" fmla="*/ 451150 h 451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1119" h="451119">
                  <a:moveTo>
                    <a:pt x="606" y="30"/>
                  </a:moveTo>
                  <a:lnTo>
                    <a:pt x="451726" y="451150"/>
                  </a:lnTo>
                </a:path>
              </a:pathLst>
            </a:custGeom>
            <a:ln w="45364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1" name="Freeform 80">
              <a:extLst>
                <a:ext uri="{FF2B5EF4-FFF2-40B4-BE49-F238E27FC236}">
                  <a16:creationId xmlns:a16="http://schemas.microsoft.com/office/drawing/2014/main" id="{6EED2537-0A10-9ADB-F1FE-DD32435C793F}"/>
                </a:ext>
              </a:extLst>
            </p:cNvPr>
            <p:cNvSpPr/>
            <p:nvPr/>
          </p:nvSpPr>
          <p:spPr>
            <a:xfrm>
              <a:off x="4546457" y="2180476"/>
              <a:ext cx="451119" cy="451119"/>
            </a:xfrm>
            <a:custGeom>
              <a:avLst/>
              <a:gdLst>
                <a:gd name="csX0" fmla="*/ 584 w 451119"/>
                <a:gd name="csY0" fmla="*/ 52 h 451119"/>
                <a:gd name="csX1" fmla="*/ 451704 w 451119"/>
                <a:gd name="csY1" fmla="*/ 451171 h 451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1119" h="451119">
                  <a:moveTo>
                    <a:pt x="584" y="52"/>
                  </a:moveTo>
                  <a:lnTo>
                    <a:pt x="451704" y="451171"/>
                  </a:lnTo>
                </a:path>
              </a:pathLst>
            </a:custGeom>
            <a:ln w="45364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2" name="Freeform 81">
              <a:extLst>
                <a:ext uri="{FF2B5EF4-FFF2-40B4-BE49-F238E27FC236}">
                  <a16:creationId xmlns:a16="http://schemas.microsoft.com/office/drawing/2014/main" id="{6049DC67-54A9-D8FC-9BEE-AAD67D8EC838}"/>
                </a:ext>
              </a:extLst>
            </p:cNvPr>
            <p:cNvSpPr/>
            <p:nvPr/>
          </p:nvSpPr>
          <p:spPr>
            <a:xfrm>
              <a:off x="4546457" y="1996216"/>
              <a:ext cx="451119" cy="451119"/>
            </a:xfrm>
            <a:custGeom>
              <a:avLst/>
              <a:gdLst>
                <a:gd name="csX0" fmla="*/ 451704 w 451119"/>
                <a:gd name="csY0" fmla="*/ 30 h 451119"/>
                <a:gd name="csX1" fmla="*/ 584 w 451119"/>
                <a:gd name="csY1" fmla="*/ 451150 h 451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1119" h="451119">
                  <a:moveTo>
                    <a:pt x="451704" y="30"/>
                  </a:moveTo>
                  <a:lnTo>
                    <a:pt x="584" y="451150"/>
                  </a:lnTo>
                </a:path>
              </a:pathLst>
            </a:custGeom>
            <a:ln w="45364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3" name="Freeform 82">
              <a:extLst>
                <a:ext uri="{FF2B5EF4-FFF2-40B4-BE49-F238E27FC236}">
                  <a16:creationId xmlns:a16="http://schemas.microsoft.com/office/drawing/2014/main" id="{9402F6D8-C0D1-6281-96C4-9A5916105D53}"/>
                </a:ext>
              </a:extLst>
            </p:cNvPr>
            <p:cNvSpPr/>
            <p:nvPr/>
          </p:nvSpPr>
          <p:spPr>
            <a:xfrm>
              <a:off x="4730717" y="2180476"/>
              <a:ext cx="451119" cy="451119"/>
            </a:xfrm>
            <a:custGeom>
              <a:avLst/>
              <a:gdLst>
                <a:gd name="csX0" fmla="*/ 451726 w 451119"/>
                <a:gd name="csY0" fmla="*/ 52 h 451119"/>
                <a:gd name="csX1" fmla="*/ 606 w 451119"/>
                <a:gd name="csY1" fmla="*/ 451171 h 451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1119" h="451119">
                  <a:moveTo>
                    <a:pt x="451726" y="52"/>
                  </a:moveTo>
                  <a:lnTo>
                    <a:pt x="606" y="451171"/>
                  </a:lnTo>
                </a:path>
              </a:pathLst>
            </a:custGeom>
            <a:ln w="45364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4" name="Freeform 83">
              <a:extLst>
                <a:ext uri="{FF2B5EF4-FFF2-40B4-BE49-F238E27FC236}">
                  <a16:creationId xmlns:a16="http://schemas.microsoft.com/office/drawing/2014/main" id="{157ADDC8-1CE1-A80E-7157-A120D3C78D6E}"/>
                </a:ext>
              </a:extLst>
            </p:cNvPr>
            <p:cNvSpPr/>
            <p:nvPr/>
          </p:nvSpPr>
          <p:spPr>
            <a:xfrm>
              <a:off x="4095337" y="2631595"/>
              <a:ext cx="451119" cy="451119"/>
            </a:xfrm>
            <a:custGeom>
              <a:avLst/>
              <a:gdLst>
                <a:gd name="csX0" fmla="*/ 532 w 451119"/>
                <a:gd name="csY0" fmla="*/ 104 h 451119"/>
                <a:gd name="csX1" fmla="*/ 451651 w 451119"/>
                <a:gd name="csY1" fmla="*/ 451224 h 451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1119" h="451119">
                  <a:moveTo>
                    <a:pt x="532" y="104"/>
                  </a:moveTo>
                  <a:lnTo>
                    <a:pt x="451651" y="451224"/>
                  </a:lnTo>
                </a:path>
              </a:pathLst>
            </a:custGeom>
            <a:ln w="45364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5" name="Freeform 84">
              <a:extLst>
                <a:ext uri="{FF2B5EF4-FFF2-40B4-BE49-F238E27FC236}">
                  <a16:creationId xmlns:a16="http://schemas.microsoft.com/office/drawing/2014/main" id="{11BF2FFF-ABC0-1B79-4635-B1770DBF7752}"/>
                </a:ext>
              </a:extLst>
            </p:cNvPr>
            <p:cNvSpPr/>
            <p:nvPr/>
          </p:nvSpPr>
          <p:spPr>
            <a:xfrm>
              <a:off x="3911077" y="2815855"/>
              <a:ext cx="451119" cy="451119"/>
            </a:xfrm>
            <a:custGeom>
              <a:avLst/>
              <a:gdLst>
                <a:gd name="csX0" fmla="*/ 510 w 451119"/>
                <a:gd name="csY0" fmla="*/ 126 h 451119"/>
                <a:gd name="csX1" fmla="*/ 451630 w 451119"/>
                <a:gd name="csY1" fmla="*/ 451246 h 451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1119" h="451119">
                  <a:moveTo>
                    <a:pt x="510" y="126"/>
                  </a:moveTo>
                  <a:lnTo>
                    <a:pt x="451630" y="451246"/>
                  </a:lnTo>
                </a:path>
              </a:pathLst>
            </a:custGeom>
            <a:ln w="45364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6" name="Freeform 85">
              <a:extLst>
                <a:ext uri="{FF2B5EF4-FFF2-40B4-BE49-F238E27FC236}">
                  <a16:creationId xmlns:a16="http://schemas.microsoft.com/office/drawing/2014/main" id="{2BA3D2B1-F5B0-6D5D-66BD-BE2795DCACF9}"/>
                </a:ext>
              </a:extLst>
            </p:cNvPr>
            <p:cNvSpPr/>
            <p:nvPr/>
          </p:nvSpPr>
          <p:spPr>
            <a:xfrm>
              <a:off x="3911077" y="2631595"/>
              <a:ext cx="451119" cy="451119"/>
            </a:xfrm>
            <a:custGeom>
              <a:avLst/>
              <a:gdLst>
                <a:gd name="csX0" fmla="*/ 451630 w 451119"/>
                <a:gd name="csY0" fmla="*/ 104 h 451119"/>
                <a:gd name="csX1" fmla="*/ 510 w 451119"/>
                <a:gd name="csY1" fmla="*/ 451224 h 451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1119" h="451119">
                  <a:moveTo>
                    <a:pt x="451630" y="104"/>
                  </a:moveTo>
                  <a:lnTo>
                    <a:pt x="510" y="451224"/>
                  </a:lnTo>
                </a:path>
              </a:pathLst>
            </a:custGeom>
            <a:ln w="45364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7" name="Freeform 86">
              <a:extLst>
                <a:ext uri="{FF2B5EF4-FFF2-40B4-BE49-F238E27FC236}">
                  <a16:creationId xmlns:a16="http://schemas.microsoft.com/office/drawing/2014/main" id="{B4136554-7AC3-18F5-87D8-E82BC474A341}"/>
                </a:ext>
              </a:extLst>
            </p:cNvPr>
            <p:cNvSpPr/>
            <p:nvPr/>
          </p:nvSpPr>
          <p:spPr>
            <a:xfrm>
              <a:off x="4095337" y="2815855"/>
              <a:ext cx="451119" cy="451119"/>
            </a:xfrm>
            <a:custGeom>
              <a:avLst/>
              <a:gdLst>
                <a:gd name="csX0" fmla="*/ 451651 w 451119"/>
                <a:gd name="csY0" fmla="*/ 126 h 451119"/>
                <a:gd name="csX1" fmla="*/ 532 w 451119"/>
                <a:gd name="csY1" fmla="*/ 451246 h 451119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451119" h="451119">
                  <a:moveTo>
                    <a:pt x="451651" y="126"/>
                  </a:moveTo>
                  <a:lnTo>
                    <a:pt x="532" y="451246"/>
                  </a:lnTo>
                </a:path>
              </a:pathLst>
            </a:custGeom>
            <a:ln w="45364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8" name="Freeform 87">
              <a:extLst>
                <a:ext uri="{FF2B5EF4-FFF2-40B4-BE49-F238E27FC236}">
                  <a16:creationId xmlns:a16="http://schemas.microsoft.com/office/drawing/2014/main" id="{C410D62A-7789-A728-F703-7B29E30AE205}"/>
                </a:ext>
              </a:extLst>
            </p:cNvPr>
            <p:cNvSpPr/>
            <p:nvPr/>
          </p:nvSpPr>
          <p:spPr>
            <a:xfrm>
              <a:off x="4546457" y="2631595"/>
              <a:ext cx="190613" cy="190613"/>
            </a:xfrm>
            <a:custGeom>
              <a:avLst/>
              <a:gdLst>
                <a:gd name="csX0" fmla="*/ 569 w 190613"/>
                <a:gd name="csY0" fmla="*/ 190703 h 190613"/>
                <a:gd name="csX1" fmla="*/ 191183 w 190613"/>
                <a:gd name="csY1" fmla="*/ 89 h 1906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0613" h="190613">
                  <a:moveTo>
                    <a:pt x="569" y="190703"/>
                  </a:moveTo>
                  <a:lnTo>
                    <a:pt x="191183" y="89"/>
                  </a:lnTo>
                </a:path>
              </a:pathLst>
            </a:custGeom>
            <a:ln w="45364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9" name="Freeform 88">
              <a:extLst>
                <a:ext uri="{FF2B5EF4-FFF2-40B4-BE49-F238E27FC236}">
                  <a16:creationId xmlns:a16="http://schemas.microsoft.com/office/drawing/2014/main" id="{2A2E3846-3A15-A9A7-E63C-3E66C702D8D7}"/>
                </a:ext>
              </a:extLst>
            </p:cNvPr>
            <p:cNvSpPr/>
            <p:nvPr/>
          </p:nvSpPr>
          <p:spPr>
            <a:xfrm>
              <a:off x="4991223" y="2631595"/>
              <a:ext cx="190613" cy="190613"/>
            </a:xfrm>
            <a:custGeom>
              <a:avLst/>
              <a:gdLst>
                <a:gd name="csX0" fmla="*/ 621 w 190613"/>
                <a:gd name="csY0" fmla="*/ 89 h 190613"/>
                <a:gd name="csX1" fmla="*/ 191235 w 190613"/>
                <a:gd name="csY1" fmla="*/ 190703 h 1906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0613" h="190613">
                  <a:moveTo>
                    <a:pt x="621" y="89"/>
                  </a:moveTo>
                  <a:lnTo>
                    <a:pt x="191235" y="190703"/>
                  </a:lnTo>
                </a:path>
              </a:pathLst>
            </a:custGeom>
            <a:ln w="45364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0" name="Freeform 89">
              <a:extLst>
                <a:ext uri="{FF2B5EF4-FFF2-40B4-BE49-F238E27FC236}">
                  <a16:creationId xmlns:a16="http://schemas.microsoft.com/office/drawing/2014/main" id="{3AADA588-B6B7-9148-AD57-28F1DEC4BFC8}"/>
                </a:ext>
              </a:extLst>
            </p:cNvPr>
            <p:cNvSpPr/>
            <p:nvPr/>
          </p:nvSpPr>
          <p:spPr>
            <a:xfrm>
              <a:off x="4546457" y="3076361"/>
              <a:ext cx="190613" cy="190613"/>
            </a:xfrm>
            <a:custGeom>
              <a:avLst/>
              <a:gdLst>
                <a:gd name="csX0" fmla="*/ 569 w 190613"/>
                <a:gd name="csY0" fmla="*/ 141 h 190613"/>
                <a:gd name="csX1" fmla="*/ 191183 w 190613"/>
                <a:gd name="csY1" fmla="*/ 190755 h 1906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0613" h="190613">
                  <a:moveTo>
                    <a:pt x="569" y="141"/>
                  </a:moveTo>
                  <a:lnTo>
                    <a:pt x="191183" y="190755"/>
                  </a:lnTo>
                </a:path>
              </a:pathLst>
            </a:custGeom>
            <a:ln w="45364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91" name="Freeform 90">
              <a:extLst>
                <a:ext uri="{FF2B5EF4-FFF2-40B4-BE49-F238E27FC236}">
                  <a16:creationId xmlns:a16="http://schemas.microsoft.com/office/drawing/2014/main" id="{98E03DC5-58E1-5575-2CFF-0DC0DDB6518B}"/>
                </a:ext>
              </a:extLst>
            </p:cNvPr>
            <p:cNvSpPr/>
            <p:nvPr/>
          </p:nvSpPr>
          <p:spPr>
            <a:xfrm>
              <a:off x="4991223" y="3076361"/>
              <a:ext cx="190613" cy="190613"/>
            </a:xfrm>
            <a:custGeom>
              <a:avLst/>
              <a:gdLst>
                <a:gd name="csX0" fmla="*/ 621 w 190613"/>
                <a:gd name="csY0" fmla="*/ 190755 h 190613"/>
                <a:gd name="csX1" fmla="*/ 191235 w 190613"/>
                <a:gd name="csY1" fmla="*/ 141 h 190613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190613" h="190613">
                  <a:moveTo>
                    <a:pt x="621" y="190755"/>
                  </a:moveTo>
                  <a:lnTo>
                    <a:pt x="191235" y="141"/>
                  </a:lnTo>
                </a:path>
              </a:pathLst>
            </a:custGeom>
            <a:ln w="45364" cap="flat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2" name="TextBox 91">
            <a:extLst>
              <a:ext uri="{FF2B5EF4-FFF2-40B4-BE49-F238E27FC236}">
                <a16:creationId xmlns:a16="http://schemas.microsoft.com/office/drawing/2014/main" id="{B79AEAF6-14A6-6045-20B8-881DA24B6EC0}"/>
              </a:ext>
            </a:extLst>
          </p:cNvPr>
          <p:cNvSpPr txBox="1"/>
          <p:nvPr/>
        </p:nvSpPr>
        <p:spPr>
          <a:xfrm>
            <a:off x="4051763" y="3344468"/>
            <a:ext cx="98937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spc="0" baseline="0" dirty="0">
                <a:ln/>
                <a:solidFill>
                  <a:srgbClr val="B3B5BC"/>
                </a:solidFill>
                <a:latin typeface="Open Sans"/>
                <a:ea typeface="Open Sans"/>
                <a:cs typeface="Open Sans"/>
                <a:sym typeface="Open Sans"/>
                <a:rtl val="0"/>
              </a:rPr>
              <a:t>Sponge · 1.5 mm</a:t>
            </a:r>
          </a:p>
        </p:txBody>
      </p:sp>
      <p:grpSp>
        <p:nvGrpSpPr>
          <p:cNvPr id="6" name="CAD bumps" descr="bumps.png">
            <a:extLst>
              <a:ext uri="{FF2B5EF4-FFF2-40B4-BE49-F238E27FC236}">
                <a16:creationId xmlns:a16="http://schemas.microsoft.com/office/drawing/2014/main" id="{04D12605-5FA8-3A99-9466-422692EAEC32}"/>
              </a:ext>
            </a:extLst>
          </p:cNvPr>
          <p:cNvGrpSpPr/>
          <p:nvPr/>
        </p:nvGrpSpPr>
        <p:grpSpPr>
          <a:xfrm>
            <a:off x="5968746" y="1965960"/>
            <a:ext cx="905256" cy="434187"/>
            <a:chOff x="5968746" y="1965960"/>
            <a:chExt cx="905256" cy="434187"/>
          </a:xfrm>
        </p:grpSpPr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D5038A9-040B-1C64-55AF-D73B14CAA8E2}"/>
                </a:ext>
              </a:extLst>
            </p:cNvPr>
            <p:cNvSpPr/>
            <p:nvPr/>
          </p:nvSpPr>
          <p:spPr>
            <a:xfrm>
              <a:off x="5968746" y="1965960"/>
              <a:ext cx="905256" cy="72364"/>
            </a:xfrm>
            <a:prstGeom prst="rect">
              <a:avLst/>
            </a:prstGeom>
            <a:solidFill>
              <a:srgbClr val="D3D5DB"/>
            </a:solidFill>
            <a:ln w="1806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5296C98-9AD9-223A-C3FC-FD2E1790442B}"/>
                </a:ext>
              </a:extLst>
            </p:cNvPr>
            <p:cNvSpPr/>
            <p:nvPr/>
          </p:nvSpPr>
          <p:spPr>
            <a:xfrm>
              <a:off x="5968746" y="2327782"/>
              <a:ext cx="905256" cy="72364"/>
            </a:xfrm>
            <a:prstGeom prst="rect">
              <a:avLst/>
            </a:prstGeom>
            <a:solidFill>
              <a:srgbClr val="D3D5DB"/>
            </a:solidFill>
            <a:ln w="1806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B7D89F0A-FB58-CD15-2E17-00791F7F9C8A}"/>
                </a:ext>
              </a:extLst>
            </p:cNvPr>
            <p:cNvSpPr/>
            <p:nvPr/>
          </p:nvSpPr>
          <p:spPr>
            <a:xfrm>
              <a:off x="5986851" y="2029278"/>
              <a:ext cx="869045" cy="291267"/>
            </a:xfrm>
            <a:custGeom>
              <a:avLst/>
              <a:gdLst>
                <a:gd name="csX0" fmla="*/ 170 w 869045"/>
                <a:gd name="csY0" fmla="*/ 30 h 291267"/>
                <a:gd name="csX1" fmla="*/ 434693 w 869045"/>
                <a:gd name="csY1" fmla="*/ 291297 h 291267"/>
                <a:gd name="csX2" fmla="*/ 869216 w 869045"/>
                <a:gd name="csY2" fmla="*/ 30 h 291267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</a:cxnLst>
              <a:rect l="l" t="t" r="r" b="b"/>
              <a:pathLst>
                <a:path w="869045" h="291267">
                  <a:moveTo>
                    <a:pt x="170" y="30"/>
                  </a:moveTo>
                  <a:cubicBezTo>
                    <a:pt x="170" y="160892"/>
                    <a:pt x="194713" y="291297"/>
                    <a:pt x="434693" y="291297"/>
                  </a:cubicBezTo>
                  <a:cubicBezTo>
                    <a:pt x="674673" y="291297"/>
                    <a:pt x="869216" y="160892"/>
                    <a:pt x="869216" y="30"/>
                  </a:cubicBezTo>
                </a:path>
              </a:pathLst>
            </a:custGeom>
            <a:noFill/>
            <a:ln w="36119" cap="rnd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AFDABA78-C079-5D6B-C712-5EC3DE56CF66}"/>
              </a:ext>
            </a:extLst>
          </p:cNvPr>
          <p:cNvSpPr txBox="1"/>
          <p:nvPr/>
        </p:nvSpPr>
        <p:spPr>
          <a:xfrm>
            <a:off x="6073361" y="2442336"/>
            <a:ext cx="69602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spc="0" baseline="0" dirty="0">
                <a:ln/>
                <a:solidFill>
                  <a:srgbClr val="B3B5BC"/>
                </a:solidFill>
                <a:latin typeface="Open Sans"/>
                <a:ea typeface="Open Sans"/>
                <a:cs typeface="Open Sans"/>
                <a:sym typeface="Open Sans"/>
                <a:rtl val="0"/>
              </a:rPr>
              <a:t>One bump</a:t>
            </a:r>
          </a:p>
        </p:txBody>
      </p:sp>
      <p:grpSp>
        <p:nvGrpSpPr>
          <p:cNvPr id="22" name="CAD bumps" descr="bumps.png">
            <a:extLst>
              <a:ext uri="{FF2B5EF4-FFF2-40B4-BE49-F238E27FC236}">
                <a16:creationId xmlns:a16="http://schemas.microsoft.com/office/drawing/2014/main" id="{90CA94A0-52C5-879F-12DF-F2782D0B8A40}"/>
              </a:ext>
            </a:extLst>
          </p:cNvPr>
          <p:cNvGrpSpPr/>
          <p:nvPr/>
        </p:nvGrpSpPr>
        <p:grpSpPr>
          <a:xfrm>
            <a:off x="7024878" y="1965960"/>
            <a:ext cx="905256" cy="434187"/>
            <a:chOff x="7024878" y="1965960"/>
            <a:chExt cx="905256" cy="434187"/>
          </a:xfrm>
        </p:grpSpPr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E8BF8F3A-F275-015F-2EC5-CF2DF85C1F77}"/>
                </a:ext>
              </a:extLst>
            </p:cNvPr>
            <p:cNvSpPr/>
            <p:nvPr/>
          </p:nvSpPr>
          <p:spPr>
            <a:xfrm>
              <a:off x="7024878" y="1965960"/>
              <a:ext cx="905256" cy="72364"/>
            </a:xfrm>
            <a:prstGeom prst="rect">
              <a:avLst/>
            </a:prstGeom>
            <a:solidFill>
              <a:srgbClr val="D3D5DB"/>
            </a:solidFill>
            <a:ln w="1806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7531DAA9-6A76-01B9-B77D-DC05CAF56C21}"/>
                </a:ext>
              </a:extLst>
            </p:cNvPr>
            <p:cNvSpPr/>
            <p:nvPr/>
          </p:nvSpPr>
          <p:spPr>
            <a:xfrm>
              <a:off x="7024878" y="2327782"/>
              <a:ext cx="905256" cy="72364"/>
            </a:xfrm>
            <a:prstGeom prst="rect">
              <a:avLst/>
            </a:prstGeom>
            <a:solidFill>
              <a:srgbClr val="D3D5DB"/>
            </a:solidFill>
            <a:ln w="1806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E57E5532-78F4-1FF4-1DC7-108E1262DDA8}"/>
                </a:ext>
              </a:extLst>
            </p:cNvPr>
            <p:cNvSpPr/>
            <p:nvPr/>
          </p:nvSpPr>
          <p:spPr>
            <a:xfrm>
              <a:off x="7042983" y="2045560"/>
              <a:ext cx="869045" cy="274985"/>
            </a:xfrm>
            <a:custGeom>
              <a:avLst/>
              <a:gdLst>
                <a:gd name="csX0" fmla="*/ 380 w 869045"/>
                <a:gd name="csY0" fmla="*/ 275016 h 274985"/>
                <a:gd name="csX1" fmla="*/ 290062 w 869045"/>
                <a:gd name="csY1" fmla="*/ 31 h 274985"/>
                <a:gd name="csX2" fmla="*/ 579744 w 869045"/>
                <a:gd name="csY2" fmla="*/ 275016 h 274985"/>
                <a:gd name="csX3" fmla="*/ 869426 w 869045"/>
                <a:gd name="csY3" fmla="*/ 31 h 2749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869045" h="274985">
                  <a:moveTo>
                    <a:pt x="380" y="275016"/>
                  </a:moveTo>
                  <a:cubicBezTo>
                    <a:pt x="110459" y="275016"/>
                    <a:pt x="179983" y="31"/>
                    <a:pt x="290062" y="31"/>
                  </a:cubicBezTo>
                  <a:cubicBezTo>
                    <a:pt x="400141" y="31"/>
                    <a:pt x="469665" y="275016"/>
                    <a:pt x="579744" y="275016"/>
                  </a:cubicBezTo>
                  <a:cubicBezTo>
                    <a:pt x="689823" y="275016"/>
                    <a:pt x="759347" y="31"/>
                    <a:pt x="869426" y="31"/>
                  </a:cubicBezTo>
                </a:path>
              </a:pathLst>
            </a:custGeom>
            <a:noFill/>
            <a:ln w="36119" cap="rnd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" name="TextBox 25">
            <a:extLst>
              <a:ext uri="{FF2B5EF4-FFF2-40B4-BE49-F238E27FC236}">
                <a16:creationId xmlns:a16="http://schemas.microsoft.com/office/drawing/2014/main" id="{EF6CD565-F44C-582A-ADFD-6E114D2BDA02}"/>
              </a:ext>
            </a:extLst>
          </p:cNvPr>
          <p:cNvSpPr txBox="1"/>
          <p:nvPr/>
        </p:nvSpPr>
        <p:spPr>
          <a:xfrm>
            <a:off x="7105448" y="2442336"/>
            <a:ext cx="74411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spc="0" baseline="0" dirty="0">
                <a:ln/>
                <a:solidFill>
                  <a:srgbClr val="B3B5BC"/>
                </a:solidFill>
                <a:latin typeface="Open Sans"/>
                <a:ea typeface="Open Sans"/>
                <a:cs typeface="Open Sans"/>
                <a:sym typeface="Open Sans"/>
                <a:rtl val="0"/>
              </a:rPr>
              <a:t>Two bumps</a:t>
            </a:r>
          </a:p>
        </p:txBody>
      </p:sp>
      <p:grpSp>
        <p:nvGrpSpPr>
          <p:cNvPr id="27" name="CAD bumps" descr="bumps.png">
            <a:extLst>
              <a:ext uri="{FF2B5EF4-FFF2-40B4-BE49-F238E27FC236}">
                <a16:creationId xmlns:a16="http://schemas.microsoft.com/office/drawing/2014/main" id="{6AF5257F-2DF6-94FF-95D4-8A0B326A2236}"/>
              </a:ext>
            </a:extLst>
          </p:cNvPr>
          <p:cNvGrpSpPr/>
          <p:nvPr/>
        </p:nvGrpSpPr>
        <p:grpSpPr>
          <a:xfrm>
            <a:off x="5440680" y="2883223"/>
            <a:ext cx="905256" cy="434187"/>
            <a:chOff x="5440680" y="2671513"/>
            <a:chExt cx="905256" cy="434187"/>
          </a:xfrm>
        </p:grpSpPr>
        <p:sp>
          <p:nvSpPr>
            <p:cNvPr id="28" name="Rectangle 27">
              <a:extLst>
                <a:ext uri="{FF2B5EF4-FFF2-40B4-BE49-F238E27FC236}">
                  <a16:creationId xmlns:a16="http://schemas.microsoft.com/office/drawing/2014/main" id="{58414B6C-D86D-4867-8ABF-291737C2CEBA}"/>
                </a:ext>
              </a:extLst>
            </p:cNvPr>
            <p:cNvSpPr/>
            <p:nvPr/>
          </p:nvSpPr>
          <p:spPr>
            <a:xfrm>
              <a:off x="5440680" y="2671513"/>
              <a:ext cx="905256" cy="72364"/>
            </a:xfrm>
            <a:prstGeom prst="rect">
              <a:avLst/>
            </a:prstGeom>
            <a:solidFill>
              <a:srgbClr val="D3D5DB"/>
            </a:solidFill>
            <a:ln w="1806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Rectangle 28">
              <a:extLst>
                <a:ext uri="{FF2B5EF4-FFF2-40B4-BE49-F238E27FC236}">
                  <a16:creationId xmlns:a16="http://schemas.microsoft.com/office/drawing/2014/main" id="{B8CF168C-803C-2650-B183-85B94A6712DE}"/>
                </a:ext>
              </a:extLst>
            </p:cNvPr>
            <p:cNvSpPr/>
            <p:nvPr/>
          </p:nvSpPr>
          <p:spPr>
            <a:xfrm>
              <a:off x="5440680" y="3033336"/>
              <a:ext cx="905256" cy="72364"/>
            </a:xfrm>
            <a:prstGeom prst="rect">
              <a:avLst/>
            </a:prstGeom>
            <a:solidFill>
              <a:srgbClr val="D3D5DB"/>
            </a:solidFill>
            <a:ln w="1806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29">
              <a:extLst>
                <a:ext uri="{FF2B5EF4-FFF2-40B4-BE49-F238E27FC236}">
                  <a16:creationId xmlns:a16="http://schemas.microsoft.com/office/drawing/2014/main" id="{37446043-7113-AE09-8920-4C7C49FF73D0}"/>
                </a:ext>
              </a:extLst>
            </p:cNvPr>
            <p:cNvSpPr/>
            <p:nvPr/>
          </p:nvSpPr>
          <p:spPr>
            <a:xfrm>
              <a:off x="5458785" y="2751114"/>
              <a:ext cx="869045" cy="274985"/>
            </a:xfrm>
            <a:custGeom>
              <a:avLst/>
              <a:gdLst>
                <a:gd name="csX0" fmla="*/ 65 w 869045"/>
                <a:gd name="csY0" fmla="*/ 172 h 274985"/>
                <a:gd name="csX1" fmla="*/ 217326 w 869045"/>
                <a:gd name="csY1" fmla="*/ 275157 h 274985"/>
                <a:gd name="csX2" fmla="*/ 434588 w 869045"/>
                <a:gd name="csY2" fmla="*/ 172 h 274985"/>
                <a:gd name="csX3" fmla="*/ 651849 w 869045"/>
                <a:gd name="csY3" fmla="*/ 275157 h 274985"/>
                <a:gd name="csX4" fmla="*/ 869111 w 869045"/>
                <a:gd name="csY4" fmla="*/ 172 h 2749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</a:cxnLst>
              <a:rect l="l" t="t" r="r" b="b"/>
              <a:pathLst>
                <a:path w="869045" h="274985">
                  <a:moveTo>
                    <a:pt x="65" y="172"/>
                  </a:moveTo>
                  <a:cubicBezTo>
                    <a:pt x="82624" y="172"/>
                    <a:pt x="134767" y="275157"/>
                    <a:pt x="217326" y="275157"/>
                  </a:cubicBezTo>
                  <a:cubicBezTo>
                    <a:pt x="299886" y="275157"/>
                    <a:pt x="352029" y="172"/>
                    <a:pt x="434588" y="172"/>
                  </a:cubicBezTo>
                  <a:cubicBezTo>
                    <a:pt x="517147" y="172"/>
                    <a:pt x="569290" y="275157"/>
                    <a:pt x="651849" y="275157"/>
                  </a:cubicBezTo>
                  <a:cubicBezTo>
                    <a:pt x="734409" y="275157"/>
                    <a:pt x="786551" y="172"/>
                    <a:pt x="869111" y="172"/>
                  </a:cubicBezTo>
                </a:path>
              </a:pathLst>
            </a:custGeom>
            <a:noFill/>
            <a:ln w="36119" cap="rnd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1" name="TextBox 30">
            <a:extLst>
              <a:ext uri="{FF2B5EF4-FFF2-40B4-BE49-F238E27FC236}">
                <a16:creationId xmlns:a16="http://schemas.microsoft.com/office/drawing/2014/main" id="{C2B0D4A3-146C-4FBD-1768-B75A0D299CAD}"/>
              </a:ext>
            </a:extLst>
          </p:cNvPr>
          <p:cNvSpPr txBox="1"/>
          <p:nvPr/>
        </p:nvSpPr>
        <p:spPr>
          <a:xfrm>
            <a:off x="5482777" y="3350408"/>
            <a:ext cx="821059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spc="0" baseline="0" dirty="0">
                <a:ln/>
                <a:solidFill>
                  <a:srgbClr val="B3B5BC"/>
                </a:solidFill>
                <a:latin typeface="Open Sans"/>
                <a:ea typeface="Open Sans"/>
                <a:cs typeface="Open Sans"/>
                <a:sym typeface="Open Sans"/>
                <a:rtl val="0"/>
              </a:rPr>
              <a:t>Three bumps</a:t>
            </a:r>
          </a:p>
        </p:txBody>
      </p:sp>
      <p:grpSp>
        <p:nvGrpSpPr>
          <p:cNvPr id="32" name="CAD bumps" descr="bumps.png">
            <a:extLst>
              <a:ext uri="{FF2B5EF4-FFF2-40B4-BE49-F238E27FC236}">
                <a16:creationId xmlns:a16="http://schemas.microsoft.com/office/drawing/2014/main" id="{C2D0C1FA-85CE-EBB5-931A-0099A3FECA32}"/>
              </a:ext>
            </a:extLst>
          </p:cNvPr>
          <p:cNvGrpSpPr/>
          <p:nvPr/>
        </p:nvGrpSpPr>
        <p:grpSpPr>
          <a:xfrm>
            <a:off x="6496812" y="2883223"/>
            <a:ext cx="905256" cy="434187"/>
            <a:chOff x="6496812" y="2671513"/>
            <a:chExt cx="905256" cy="434187"/>
          </a:xfrm>
        </p:grpSpPr>
        <p:sp>
          <p:nvSpPr>
            <p:cNvPr id="33" name="Rectangle 32">
              <a:extLst>
                <a:ext uri="{FF2B5EF4-FFF2-40B4-BE49-F238E27FC236}">
                  <a16:creationId xmlns:a16="http://schemas.microsoft.com/office/drawing/2014/main" id="{1A2C5E67-E022-2C6F-AB4A-D9B4E9862694}"/>
                </a:ext>
              </a:extLst>
            </p:cNvPr>
            <p:cNvSpPr/>
            <p:nvPr/>
          </p:nvSpPr>
          <p:spPr>
            <a:xfrm>
              <a:off x="6496812" y="2671513"/>
              <a:ext cx="905256" cy="72364"/>
            </a:xfrm>
            <a:prstGeom prst="rect">
              <a:avLst/>
            </a:prstGeom>
            <a:solidFill>
              <a:srgbClr val="D3D5DB"/>
            </a:solidFill>
            <a:ln w="1806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Rectangle 33">
              <a:extLst>
                <a:ext uri="{FF2B5EF4-FFF2-40B4-BE49-F238E27FC236}">
                  <a16:creationId xmlns:a16="http://schemas.microsoft.com/office/drawing/2014/main" id="{E81221F0-A889-632C-05E9-53818EDCBD2E}"/>
                </a:ext>
              </a:extLst>
            </p:cNvPr>
            <p:cNvSpPr/>
            <p:nvPr/>
          </p:nvSpPr>
          <p:spPr>
            <a:xfrm>
              <a:off x="6496812" y="3033336"/>
              <a:ext cx="905256" cy="72364"/>
            </a:xfrm>
            <a:prstGeom prst="rect">
              <a:avLst/>
            </a:prstGeom>
            <a:solidFill>
              <a:srgbClr val="D3D5DB"/>
            </a:solidFill>
            <a:ln w="1806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34">
              <a:extLst>
                <a:ext uri="{FF2B5EF4-FFF2-40B4-BE49-F238E27FC236}">
                  <a16:creationId xmlns:a16="http://schemas.microsoft.com/office/drawing/2014/main" id="{8C1EBF08-3DAE-E361-148C-7089A81748F5}"/>
                </a:ext>
              </a:extLst>
            </p:cNvPr>
            <p:cNvSpPr/>
            <p:nvPr/>
          </p:nvSpPr>
          <p:spPr>
            <a:xfrm>
              <a:off x="6514917" y="2751114"/>
              <a:ext cx="869045" cy="274985"/>
            </a:xfrm>
            <a:custGeom>
              <a:avLst/>
              <a:gdLst>
                <a:gd name="csX0" fmla="*/ 275 w 869045"/>
                <a:gd name="csY0" fmla="*/ 172 h 274985"/>
                <a:gd name="csX1" fmla="*/ 174084 w 869045"/>
                <a:gd name="csY1" fmla="*/ 275157 h 274985"/>
                <a:gd name="csX2" fmla="*/ 347893 w 869045"/>
                <a:gd name="csY2" fmla="*/ 172 h 274985"/>
                <a:gd name="csX3" fmla="*/ 521702 w 869045"/>
                <a:gd name="csY3" fmla="*/ 275157 h 274985"/>
                <a:gd name="csX4" fmla="*/ 695512 w 869045"/>
                <a:gd name="csY4" fmla="*/ 172 h 274985"/>
                <a:gd name="csX5" fmla="*/ 869321 w 869045"/>
                <a:gd name="csY5" fmla="*/ 275157 h 2749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</a:cxnLst>
              <a:rect l="l" t="t" r="r" b="b"/>
              <a:pathLst>
                <a:path w="869045" h="274985">
                  <a:moveTo>
                    <a:pt x="275" y="172"/>
                  </a:moveTo>
                  <a:cubicBezTo>
                    <a:pt x="66322" y="172"/>
                    <a:pt x="108037" y="275157"/>
                    <a:pt x="174084" y="275157"/>
                  </a:cubicBezTo>
                  <a:cubicBezTo>
                    <a:pt x="240132" y="275157"/>
                    <a:pt x="281846" y="172"/>
                    <a:pt x="347893" y="172"/>
                  </a:cubicBezTo>
                  <a:cubicBezTo>
                    <a:pt x="413941" y="172"/>
                    <a:pt x="455655" y="275157"/>
                    <a:pt x="521702" y="275157"/>
                  </a:cubicBezTo>
                  <a:cubicBezTo>
                    <a:pt x="587750" y="275157"/>
                    <a:pt x="629464" y="172"/>
                    <a:pt x="695512" y="172"/>
                  </a:cubicBezTo>
                  <a:cubicBezTo>
                    <a:pt x="761559" y="172"/>
                    <a:pt x="803273" y="275157"/>
                    <a:pt x="869321" y="275157"/>
                  </a:cubicBezTo>
                </a:path>
              </a:pathLst>
            </a:custGeom>
            <a:noFill/>
            <a:ln w="36119" cap="rnd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7C7D2560-9017-F271-581D-B42A604FB6E7}"/>
              </a:ext>
            </a:extLst>
          </p:cNvPr>
          <p:cNvSpPr txBox="1"/>
          <p:nvPr/>
        </p:nvSpPr>
        <p:spPr>
          <a:xfrm>
            <a:off x="6566961" y="3350408"/>
            <a:ext cx="76495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spc="0" baseline="0" dirty="0">
                <a:ln/>
                <a:solidFill>
                  <a:srgbClr val="B3B5BC"/>
                </a:solidFill>
                <a:latin typeface="Open Sans"/>
                <a:ea typeface="Open Sans"/>
                <a:cs typeface="Open Sans"/>
                <a:sym typeface="Open Sans"/>
                <a:rtl val="0"/>
              </a:rPr>
              <a:t>Four bumps</a:t>
            </a:r>
          </a:p>
        </p:txBody>
      </p:sp>
      <p:grpSp>
        <p:nvGrpSpPr>
          <p:cNvPr id="37" name="CAD bumps" descr="bumps.png">
            <a:extLst>
              <a:ext uri="{FF2B5EF4-FFF2-40B4-BE49-F238E27FC236}">
                <a16:creationId xmlns:a16="http://schemas.microsoft.com/office/drawing/2014/main" id="{6A49E32A-7F59-1E3D-B52A-3275EC71F205}"/>
              </a:ext>
            </a:extLst>
          </p:cNvPr>
          <p:cNvGrpSpPr/>
          <p:nvPr/>
        </p:nvGrpSpPr>
        <p:grpSpPr>
          <a:xfrm>
            <a:off x="7552944" y="2883223"/>
            <a:ext cx="905256" cy="434187"/>
            <a:chOff x="7552944" y="2671513"/>
            <a:chExt cx="905256" cy="434187"/>
          </a:xfrm>
        </p:grpSpPr>
        <p:sp>
          <p:nvSpPr>
            <p:cNvPr id="38" name="Rectangle 37">
              <a:extLst>
                <a:ext uri="{FF2B5EF4-FFF2-40B4-BE49-F238E27FC236}">
                  <a16:creationId xmlns:a16="http://schemas.microsoft.com/office/drawing/2014/main" id="{E40CC4AB-1D32-2279-2980-E15ED733203F}"/>
                </a:ext>
              </a:extLst>
            </p:cNvPr>
            <p:cNvSpPr/>
            <p:nvPr/>
          </p:nvSpPr>
          <p:spPr>
            <a:xfrm>
              <a:off x="7552944" y="2671513"/>
              <a:ext cx="905256" cy="72364"/>
            </a:xfrm>
            <a:prstGeom prst="rect">
              <a:avLst/>
            </a:prstGeom>
            <a:solidFill>
              <a:srgbClr val="D3D5DB"/>
            </a:solidFill>
            <a:ln w="1806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D8DE4645-6C61-D72F-0D30-E51328807236}"/>
                </a:ext>
              </a:extLst>
            </p:cNvPr>
            <p:cNvSpPr/>
            <p:nvPr/>
          </p:nvSpPr>
          <p:spPr>
            <a:xfrm>
              <a:off x="7552944" y="3033336"/>
              <a:ext cx="905256" cy="72364"/>
            </a:xfrm>
            <a:prstGeom prst="rect">
              <a:avLst/>
            </a:prstGeom>
            <a:solidFill>
              <a:srgbClr val="D3D5DB"/>
            </a:solidFill>
            <a:ln w="18061" cap="flat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Freeform 39">
              <a:extLst>
                <a:ext uri="{FF2B5EF4-FFF2-40B4-BE49-F238E27FC236}">
                  <a16:creationId xmlns:a16="http://schemas.microsoft.com/office/drawing/2014/main" id="{7B1136CF-7612-DA8D-1CB6-8F5FEC93B2D7}"/>
                </a:ext>
              </a:extLst>
            </p:cNvPr>
            <p:cNvSpPr/>
            <p:nvPr/>
          </p:nvSpPr>
          <p:spPr>
            <a:xfrm>
              <a:off x="7571049" y="2751114"/>
              <a:ext cx="869045" cy="274985"/>
            </a:xfrm>
            <a:custGeom>
              <a:avLst/>
              <a:gdLst>
                <a:gd name="csX0" fmla="*/ 485 w 869045"/>
                <a:gd name="csY0" fmla="*/ 275157 h 274985"/>
                <a:gd name="csX1" fmla="*/ 145326 w 869045"/>
                <a:gd name="csY1" fmla="*/ 172 h 274985"/>
                <a:gd name="csX2" fmla="*/ 290167 w 869045"/>
                <a:gd name="csY2" fmla="*/ 275157 h 274985"/>
                <a:gd name="csX3" fmla="*/ 435008 w 869045"/>
                <a:gd name="csY3" fmla="*/ 172 h 274985"/>
                <a:gd name="csX4" fmla="*/ 579849 w 869045"/>
                <a:gd name="csY4" fmla="*/ 275157 h 274985"/>
                <a:gd name="csX5" fmla="*/ 724690 w 869045"/>
                <a:gd name="csY5" fmla="*/ 172 h 274985"/>
                <a:gd name="csX6" fmla="*/ 869531 w 869045"/>
                <a:gd name="csY6" fmla="*/ 275157 h 27498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</a:cxnLst>
              <a:rect l="l" t="t" r="r" b="b"/>
              <a:pathLst>
                <a:path w="869045" h="274985">
                  <a:moveTo>
                    <a:pt x="485" y="275157"/>
                  </a:moveTo>
                  <a:cubicBezTo>
                    <a:pt x="55525" y="275157"/>
                    <a:pt x="90286" y="172"/>
                    <a:pt x="145326" y="172"/>
                  </a:cubicBezTo>
                  <a:cubicBezTo>
                    <a:pt x="200366" y="172"/>
                    <a:pt x="235127" y="275157"/>
                    <a:pt x="290167" y="275157"/>
                  </a:cubicBezTo>
                  <a:cubicBezTo>
                    <a:pt x="345207" y="275157"/>
                    <a:pt x="379968" y="172"/>
                    <a:pt x="435008" y="172"/>
                  </a:cubicBezTo>
                  <a:cubicBezTo>
                    <a:pt x="490047" y="172"/>
                    <a:pt x="524809" y="275157"/>
                    <a:pt x="579849" y="275157"/>
                  </a:cubicBezTo>
                  <a:cubicBezTo>
                    <a:pt x="634888" y="275157"/>
                    <a:pt x="669650" y="172"/>
                    <a:pt x="724690" y="172"/>
                  </a:cubicBezTo>
                  <a:cubicBezTo>
                    <a:pt x="779729" y="172"/>
                    <a:pt x="814491" y="275157"/>
                    <a:pt x="869531" y="275157"/>
                  </a:cubicBezTo>
                </a:path>
              </a:pathLst>
            </a:custGeom>
            <a:noFill/>
            <a:ln w="36119" cap="rnd">
              <a:solidFill>
                <a:srgbClr val="D3D5DB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" name="TextBox 40">
            <a:extLst>
              <a:ext uri="{FF2B5EF4-FFF2-40B4-BE49-F238E27FC236}">
                <a16:creationId xmlns:a16="http://schemas.microsoft.com/office/drawing/2014/main" id="{2D94D542-93FE-6D5D-8EDA-F2E5E8D97836}"/>
              </a:ext>
            </a:extLst>
          </p:cNvPr>
          <p:cNvSpPr txBox="1"/>
          <p:nvPr/>
        </p:nvSpPr>
        <p:spPr>
          <a:xfrm>
            <a:off x="7639124" y="3344468"/>
            <a:ext cx="73289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800" spc="0" baseline="0" dirty="0">
                <a:ln/>
                <a:solidFill>
                  <a:srgbClr val="B3B5BC"/>
                </a:solidFill>
                <a:latin typeface="Open Sans"/>
                <a:ea typeface="Open Sans"/>
                <a:cs typeface="Open Sans"/>
                <a:sym typeface="Open Sans"/>
                <a:rtl val="0"/>
              </a:rPr>
              <a:t>Five bumps</a:t>
            </a:r>
          </a:p>
        </p:txBody>
      </p:sp>
      <p:sp>
        <p:nvSpPr>
          <p:cNvPr id="7" name="Control grid"/>
          <p:cNvSpPr/>
          <p:nvPr/>
        </p:nvSpPr>
        <p:spPr>
          <a:xfrm>
            <a:off x="685800" y="3931920"/>
            <a:ext cx="2514600" cy="658368"/>
          </a:xfrm>
          <a:prstGeom prst="rect">
            <a:avLst/>
          </a:prstGeom>
          <a:solidFill>
            <a:srgbClr val="27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Accent"/>
          <p:cNvSpPr/>
          <p:nvPr/>
        </p:nvSpPr>
        <p:spPr>
          <a:xfrm>
            <a:off x="685800" y="3931920"/>
            <a:ext cx="54864" cy="658368"/>
          </a:xfrm>
          <a:prstGeom prst="rect">
            <a:avLst/>
          </a:prstGeom>
          <a:solidFill>
            <a:srgbClr val="E04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50392" y="3986784"/>
            <a:ext cx="225856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E0435A"/>
                </a:solidFill>
                <a:latin typeface="Kanit"/>
              </a:rPr>
              <a:t>Control grid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B3B5BC"/>
                </a:solidFill>
                <a:latin typeface="Open Sans"/>
              </a:rPr>
              <a:t>3 × 4 grid · 44 × 44 × 5 mm · 2.0 mm walls</a:t>
            </a:r>
          </a:p>
        </p:txBody>
      </p:sp>
      <p:sp>
        <p:nvSpPr>
          <p:cNvPr id="10" name="Glass sponge"/>
          <p:cNvSpPr/>
          <p:nvPr/>
        </p:nvSpPr>
        <p:spPr>
          <a:xfrm>
            <a:off x="3291840" y="3931920"/>
            <a:ext cx="2514600" cy="658368"/>
          </a:xfrm>
          <a:prstGeom prst="rect">
            <a:avLst/>
          </a:prstGeom>
          <a:solidFill>
            <a:srgbClr val="27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Accent"/>
          <p:cNvSpPr/>
          <p:nvPr/>
        </p:nvSpPr>
        <p:spPr>
          <a:xfrm>
            <a:off x="3291840" y="3931920"/>
            <a:ext cx="54864" cy="658368"/>
          </a:xfrm>
          <a:prstGeom prst="rect">
            <a:avLst/>
          </a:prstGeom>
          <a:solidFill>
            <a:srgbClr val="E04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3456432" y="3986784"/>
            <a:ext cx="2258568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E0435A"/>
                </a:solidFill>
                <a:latin typeface="Kanit"/>
              </a:rPr>
              <a:t>Glass sponge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B3B5BC"/>
                </a:solidFill>
                <a:latin typeface="Open Sans"/>
              </a:rPr>
              <a:t>Same footprint plus diagonal cross-bracing</a:t>
            </a:r>
          </a:p>
        </p:txBody>
      </p:sp>
      <p:sp>
        <p:nvSpPr>
          <p:cNvPr id="13" name="Mantis shrimp"/>
          <p:cNvSpPr/>
          <p:nvPr/>
        </p:nvSpPr>
        <p:spPr>
          <a:xfrm>
            <a:off x="5897880" y="3931920"/>
            <a:ext cx="2560320" cy="658368"/>
          </a:xfrm>
          <a:prstGeom prst="rect">
            <a:avLst/>
          </a:prstGeom>
          <a:solidFill>
            <a:srgbClr val="27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Accent"/>
          <p:cNvSpPr/>
          <p:nvPr/>
        </p:nvSpPr>
        <p:spPr>
          <a:xfrm>
            <a:off x="5897880" y="3931920"/>
            <a:ext cx="54864" cy="658368"/>
          </a:xfrm>
          <a:prstGeom prst="rect">
            <a:avLst/>
          </a:prstGeom>
          <a:solidFill>
            <a:srgbClr val="E04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6062472" y="3986784"/>
            <a:ext cx="2304287" cy="56692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0">
                <a:solidFill>
                  <a:srgbClr val="E0435A"/>
                </a:solidFill>
                <a:latin typeface="Kanit"/>
              </a:rPr>
              <a:t>Mantis shrimp</a:t>
            </a:r>
          </a:p>
          <a:p>
            <a:pPr algn="l">
              <a:spcAft>
                <a:spcPts val="400"/>
              </a:spcAft>
            </a:pPr>
            <a:r>
              <a:rPr sz="900" b="0">
                <a:solidFill>
                  <a:srgbClr val="B3B5BC"/>
                </a:solidFill>
                <a:latin typeface="Open Sans"/>
              </a:rPr>
              <a:t>1 to 5 swept arches · 25 × 15 × 5 mm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896112"/>
            <a:ext cx="7772400" cy="566928"/>
          </a:xfrm>
        </p:spPr>
        <p:txBody>
          <a:bodyPr/>
          <a:lstStyle/>
          <a:p>
            <a:r>
              <a:rPr sz="2600" b="0">
                <a:solidFill>
                  <a:srgbClr val="FFFFFF"/>
                </a:solidFill>
                <a:latin typeface="Kanit"/>
              </a:rPr>
              <a:t>Designing the Models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676656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spc="200">
                <a:solidFill>
                  <a:srgbClr val="E0435A"/>
                </a:solidFill>
                <a:latin typeface="Open Sans"/>
              </a:rPr>
              <a:t>FABRICATION</a:t>
            </a:r>
          </a:p>
        </p:txBody>
      </p:sp>
      <p:sp>
        <p:nvSpPr>
          <p:cNvPr id="4" name="Accent circle"/>
          <p:cNvSpPr/>
          <p:nvPr/>
        </p:nvSpPr>
        <p:spPr>
          <a:xfrm>
            <a:off x="4434840" y="3291840"/>
            <a:ext cx="1097280" cy="1097280"/>
          </a:xfrm>
          <a:prstGeom prst="ellipse">
            <a:avLst/>
          </a:prstGeom>
          <a:solidFill>
            <a:srgbClr val="A6192E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rinted models" descr="fig4-print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5252793" cy="202311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122504" y="1600200"/>
            <a:ext cx="2335696" cy="249299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spc="200" dirty="0">
                <a:solidFill>
                  <a:srgbClr val="E0435A"/>
                </a:solidFill>
                <a:latin typeface="Open Sans"/>
              </a:rPr>
              <a:t>PRINT SETTINGS</a:t>
            </a:r>
          </a:p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•"/>
            </a:pPr>
            <a:r>
              <a:rPr sz="950" b="0" dirty="0">
                <a:solidFill>
                  <a:srgbClr val="FFFFFF"/>
                </a:solidFill>
                <a:latin typeface="Open Sans"/>
              </a:rPr>
              <a:t>Bambu Lab A1 and H2C, sliced in Bambu Studio</a:t>
            </a:r>
          </a:p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•"/>
            </a:pPr>
            <a:r>
              <a:rPr sz="950" b="0" dirty="0">
                <a:solidFill>
                  <a:srgbClr val="FFFFFF"/>
                </a:solidFill>
                <a:latin typeface="Open Sans"/>
              </a:rPr>
              <a:t>0.4 mm nozzle, 15% gyroid infill</a:t>
            </a:r>
          </a:p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•"/>
            </a:pPr>
            <a:r>
              <a:rPr sz="950" b="0" dirty="0">
                <a:solidFill>
                  <a:srgbClr val="FFFFFF"/>
                </a:solidFill>
                <a:latin typeface="Open Sans"/>
              </a:rPr>
              <a:t>Horizontal vs. vertical orientation tested</a:t>
            </a:r>
          </a:p>
          <a:p>
            <a:pPr algn="l">
              <a:spcAft>
                <a:spcPts val="300"/>
              </a:spcAft>
            </a:pPr>
            <a:r>
              <a:rPr sz="850" b="0" spc="200" dirty="0">
                <a:solidFill>
                  <a:srgbClr val="E0435A"/>
                </a:solidFill>
                <a:latin typeface="Open Sans"/>
              </a:rPr>
              <a:t>TAMING FLEXIBLE TPU</a:t>
            </a:r>
          </a:p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•"/>
            </a:pPr>
            <a:r>
              <a:rPr sz="950" b="0" dirty="0">
                <a:solidFill>
                  <a:srgbClr val="FFFFFF"/>
                </a:solidFill>
                <a:latin typeface="Open Sans"/>
              </a:rPr>
              <a:t>Kept dry and loaded without the PTFE tube</a:t>
            </a:r>
          </a:p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•"/>
            </a:pPr>
            <a:r>
              <a:rPr sz="950" b="0" dirty="0">
                <a:solidFill>
                  <a:srgbClr val="FFFFFF"/>
                </a:solidFill>
                <a:latin typeface="Open Sans"/>
              </a:rPr>
              <a:t>Idler screws loosened 1.5 turns, filament hand-fed</a:t>
            </a:r>
          </a:p>
          <a:p>
            <a:pPr algn="l">
              <a:spcAft>
                <a:spcPts val="300"/>
              </a:spcAft>
            </a:pPr>
            <a:r>
              <a:rPr sz="850" b="0" spc="200" dirty="0">
                <a:solidFill>
                  <a:srgbClr val="E0435A"/>
                </a:solidFill>
                <a:latin typeface="Open Sans"/>
              </a:rPr>
              <a:t>WHAT WENT WRONG</a:t>
            </a:r>
          </a:p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•"/>
            </a:pPr>
            <a:r>
              <a:rPr sz="950" b="0" dirty="0">
                <a:solidFill>
                  <a:srgbClr val="FFFFFF"/>
                </a:solidFill>
                <a:latin typeface="Open Sans"/>
              </a:rPr>
              <a:t>Stringing on small features</a:t>
            </a:r>
          </a:p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•"/>
            </a:pPr>
            <a:r>
              <a:rPr sz="950" b="0" dirty="0">
                <a:solidFill>
                  <a:srgbClr val="FFFFFF"/>
                </a:solidFill>
                <a:latin typeface="Open Sans"/>
              </a:rPr>
              <a:t>0.75 mm lattice was too fine for the nozzle: only the frame printed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896112"/>
            <a:ext cx="7772400" cy="566928"/>
          </a:xfrm>
        </p:spPr>
        <p:txBody>
          <a:bodyPr/>
          <a:lstStyle/>
          <a:p>
            <a:r>
              <a:rPr sz="2600" b="0">
                <a:solidFill>
                  <a:srgbClr val="FFFFFF"/>
                </a:solidFill>
                <a:latin typeface="Kanit"/>
              </a:rPr>
              <a:t>From CAD to Printed Part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676656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spc="200">
                <a:solidFill>
                  <a:srgbClr val="E0435A"/>
                </a:solidFill>
                <a:latin typeface="Open Sans"/>
              </a:rPr>
              <a:t>THE TEST RIG</a:t>
            </a:r>
          </a:p>
        </p:txBody>
      </p:sp>
      <p:pic>
        <p:nvPicPr>
          <p:cNvPr id="4" name="Test setup" descr="fig5-setu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90263"/>
            <a:ext cx="4663440" cy="248617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23560" y="1590263"/>
            <a:ext cx="2834640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spc="200" dirty="0">
                <a:solidFill>
                  <a:srgbClr val="E0435A"/>
                </a:solidFill>
                <a:latin typeface="Open Sans"/>
              </a:rPr>
              <a:t>THE RIG</a:t>
            </a:r>
          </a:p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•"/>
            </a:pPr>
            <a:r>
              <a:rPr sz="950" b="0" dirty="0">
                <a:solidFill>
                  <a:srgbClr val="FFFFFF"/>
                </a:solidFill>
                <a:latin typeface="Open Sans"/>
              </a:rPr>
              <a:t>Hand-cranked stand with a 500 N force gauge</a:t>
            </a:r>
          </a:p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•"/>
            </a:pPr>
            <a:r>
              <a:rPr sz="950" b="0" dirty="0">
                <a:solidFill>
                  <a:srgbClr val="FFFFFF"/>
                </a:solidFill>
                <a:latin typeface="Open Sans"/>
              </a:rPr>
              <a:t>16 mm cylindrical tip presses the sample</a:t>
            </a:r>
          </a:p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•"/>
            </a:pPr>
            <a:r>
              <a:rPr sz="950" b="0" dirty="0">
                <a:solidFill>
                  <a:srgbClr val="FFFFFF"/>
                </a:solidFill>
                <a:latin typeface="Open Sans"/>
              </a:rPr>
              <a:t>Digital scale tracks displacement</a:t>
            </a:r>
          </a:p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•"/>
            </a:pPr>
            <a:r>
              <a:rPr sz="950" b="0" dirty="0">
                <a:solidFill>
                  <a:srgbClr val="FFFFFF"/>
                </a:solidFill>
                <a:latin typeface="Open Sans"/>
              </a:rPr>
              <a:t>Multimeter with alligator clips reads resistance</a:t>
            </a:r>
          </a:p>
          <a:p>
            <a:pPr algn="l">
              <a:spcAft>
                <a:spcPts val="300"/>
              </a:spcAft>
            </a:pPr>
            <a:r>
              <a:rPr sz="850" b="0" spc="200" dirty="0">
                <a:solidFill>
                  <a:srgbClr val="E0435A"/>
                </a:solidFill>
                <a:latin typeface="Open Sans"/>
              </a:rPr>
              <a:t>THE METHOD</a:t>
            </a:r>
          </a:p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•"/>
            </a:pPr>
            <a:r>
              <a:rPr sz="950" b="0" dirty="0">
                <a:solidFill>
                  <a:srgbClr val="FFFFFF"/>
                </a:solidFill>
                <a:latin typeface="Open Sans"/>
              </a:rPr>
              <a:t>Every model tested 3 times, results averaged</a:t>
            </a:r>
          </a:p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•"/>
            </a:pPr>
            <a:r>
              <a:rPr sz="950" b="0" dirty="0" err="1">
                <a:solidFill>
                  <a:srgbClr val="FFFFFF"/>
                </a:solidFill>
                <a:latin typeface="Open Sans"/>
              </a:rPr>
              <a:t>FreeCAD</a:t>
            </a:r>
            <a:r>
              <a:rPr sz="950" b="0" dirty="0">
                <a:solidFill>
                  <a:srgbClr val="FFFFFF"/>
                </a:solidFill>
                <a:latin typeface="Open Sans"/>
              </a:rPr>
              <a:t> finite element analysis to predict stress and failure points</a:t>
            </a:r>
          </a:p>
        </p:txBody>
      </p:sp>
      <p:sp>
        <p:nvSpPr>
          <p:cNvPr id="6" name="Callout"/>
          <p:cNvSpPr/>
          <p:nvPr/>
        </p:nvSpPr>
        <p:spPr>
          <a:xfrm>
            <a:off x="685800" y="4224528"/>
            <a:ext cx="4663440" cy="384048"/>
          </a:xfrm>
          <a:prstGeom prst="rect">
            <a:avLst/>
          </a:prstGeom>
          <a:gradFill rotWithShape="1">
            <a:gsLst>
              <a:gs pos="0">
                <a:srgbClr val="B81E34"/>
              </a:gs>
              <a:gs pos="100000">
                <a:srgbClr val="8F1427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41248" y="4224528"/>
            <a:ext cx="4389120" cy="38404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Open Sans"/>
              </a:rPr>
              <a:t>Force and resistance are recorded at the same time as each model is crushed.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896112"/>
            <a:ext cx="7772400" cy="566928"/>
          </a:xfrm>
        </p:spPr>
        <p:txBody>
          <a:bodyPr/>
          <a:lstStyle/>
          <a:p>
            <a:r>
              <a:rPr sz="2600" b="0">
                <a:solidFill>
                  <a:srgbClr val="FFFFFF"/>
                </a:solidFill>
                <a:latin typeface="Kanit"/>
              </a:rPr>
              <a:t>Squeeze and Measure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 circle"/>
          <p:cNvSpPr/>
          <p:nvPr/>
        </p:nvSpPr>
        <p:spPr>
          <a:xfrm>
            <a:off x="1618488" y="429767"/>
            <a:ext cx="3803904" cy="3803904"/>
          </a:xfrm>
          <a:prstGeom prst="ellipse">
            <a:avLst/>
          </a:prstGeom>
          <a:noFill/>
          <a:ln w="15875">
            <a:solidFill>
              <a:srgbClr val="3B3C43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Accent circle"/>
          <p:cNvSpPr/>
          <p:nvPr/>
        </p:nvSpPr>
        <p:spPr>
          <a:xfrm>
            <a:off x="1965960" y="777239"/>
            <a:ext cx="3108960" cy="3108960"/>
          </a:xfrm>
          <a:prstGeom prst="ellipse">
            <a:avLst/>
          </a:prstGeom>
          <a:solidFill>
            <a:srgbClr val="A6192E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5577840" y="914400"/>
            <a:ext cx="22860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0">
                <a:solidFill>
                  <a:srgbClr val="E0435A"/>
                </a:solidFill>
                <a:latin typeface="Kanit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3246120"/>
            <a:ext cx="2926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■"/>
            </a:pPr>
            <a:r>
              <a:rPr sz="1050" b="0">
                <a:solidFill>
                  <a:srgbClr val="B3B5BC"/>
                </a:solidFill>
                <a:latin typeface="Open Sans"/>
              </a:rPr>
              <a:t>Line thickness and spacing</a:t>
            </a:r>
          </a:p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■"/>
            </a:pPr>
            <a:r>
              <a:rPr sz="1050" b="0">
                <a:solidFill>
                  <a:srgbClr val="B3B5BC"/>
                </a:solidFill>
                <a:latin typeface="Open Sans"/>
              </a:rPr>
              <a:t>The final design, ten times</a:t>
            </a:r>
          </a:p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■"/>
            </a:pPr>
            <a:r>
              <a:rPr sz="1050" b="0">
                <a:solidFill>
                  <a:srgbClr val="B3B5BC"/>
                </a:solidFill>
                <a:latin typeface="Open Sans"/>
              </a:rPr>
              <a:t>Mantis shrimp arches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77840" y="1874519"/>
            <a:ext cx="3108960" cy="1234440"/>
          </a:xfrm>
        </p:spPr>
        <p:txBody>
          <a:bodyPr/>
          <a:lstStyle/>
          <a:p>
            <a:r>
              <a:rPr sz="3400" b="0">
                <a:solidFill>
                  <a:srgbClr val="FFFFFF"/>
                </a:solidFill>
                <a:latin typeface="Kanit"/>
              </a:rPr>
              <a:t>Testing &amp; Results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A1D176E-B4A4-A5C9-448A-453A42862422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3185" r="14629"/>
          <a:stretch>
            <a:fillRect/>
          </a:stretch>
        </p:blipFill>
        <p:spPr>
          <a:xfrm>
            <a:off x="680719" y="696333"/>
            <a:ext cx="3291841" cy="3692788"/>
          </a:xfrm>
          <a:prstGeom prst="rect">
            <a:avLst/>
          </a:prstGeom>
        </p:spPr>
      </p:pic>
      <p:sp>
        <p:nvSpPr>
          <p:cNvPr id="6" name="Teaser"/>
          <p:cNvSpPr/>
          <p:nvPr/>
        </p:nvSpPr>
        <p:spPr>
          <a:xfrm>
            <a:off x="2880360" y="3383280"/>
            <a:ext cx="2103120" cy="1005840"/>
          </a:xfrm>
          <a:prstGeom prst="rect">
            <a:avLst/>
          </a:prstGeom>
          <a:gradFill rotWithShape="1">
            <a:gsLst>
              <a:gs pos="0">
                <a:srgbClr val="B81E34"/>
              </a:gs>
              <a:gs pos="100000">
                <a:srgbClr val="8F1427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035808" y="3383280"/>
            <a:ext cx="1810512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Kanit"/>
              </a:rPr>
              <a:t>Four rounds of crush tests, plus simulations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676656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spc="200">
                <a:solidFill>
                  <a:srgbClr val="E0435A"/>
                </a:solidFill>
                <a:latin typeface="Open Sans"/>
              </a:rPr>
              <a:t>GLASS SPONGE LATTICE · CB-PLA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B3B5BC"/>
                </a:solidFill>
                <a:latin typeface="Open Sans"/>
              </a:rPr>
              <a:t>Each round kept the winner from the last and changed one variable.</a:t>
            </a:r>
          </a:p>
        </p:txBody>
      </p:sp>
      <p:sp>
        <p:nvSpPr>
          <p:cNvPr id="5" name="ROUND 1"/>
          <p:cNvSpPr/>
          <p:nvPr/>
        </p:nvSpPr>
        <p:spPr>
          <a:xfrm>
            <a:off x="685800" y="1874519"/>
            <a:ext cx="1810512" cy="2286000"/>
          </a:xfrm>
          <a:prstGeom prst="rect">
            <a:avLst/>
          </a:prstGeom>
          <a:solidFill>
            <a:srgbClr val="27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50392" y="2011680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1" spc="150">
                <a:solidFill>
                  <a:srgbClr val="E0435A"/>
                </a:solidFill>
                <a:latin typeface="Open Sans"/>
              </a:rPr>
              <a:t>ROUND 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50392" y="2240280"/>
            <a:ext cx="1508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Kanit"/>
              </a:rPr>
              <a:t>Line thickness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50392" y="2606040"/>
            <a:ext cx="15087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3B5BC"/>
                </a:solidFill>
                <a:latin typeface="Open Sans"/>
              </a:rPr>
              <a:t>Plain grid vs. 1.0 to 2.5 mm diagonal lines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0392" y="3337560"/>
            <a:ext cx="1508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E0435A"/>
                </a:solidFill>
                <a:latin typeface="Kanit"/>
              </a:rPr>
              <a:t>1.0 mm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50392" y="3767328"/>
            <a:ext cx="1508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B3B5BC"/>
                </a:solidFill>
                <a:latin typeface="Open Sans"/>
              </a:rPr>
              <a:t>456.73 N avg</a:t>
            </a:r>
          </a:p>
        </p:txBody>
      </p:sp>
      <p:sp>
        <p:nvSpPr>
          <p:cNvPr id="11" name="Arrow"/>
          <p:cNvSpPr/>
          <p:nvPr/>
        </p:nvSpPr>
        <p:spPr>
          <a:xfrm rot="5400000">
            <a:off x="2514600" y="2926080"/>
            <a:ext cx="118872" cy="182880"/>
          </a:xfrm>
          <a:prstGeom prst="triangle">
            <a:avLst/>
          </a:prstGeom>
          <a:solidFill>
            <a:srgbClr val="E04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OUND 1.5"/>
          <p:cNvSpPr/>
          <p:nvPr/>
        </p:nvSpPr>
        <p:spPr>
          <a:xfrm>
            <a:off x="2651760" y="1874519"/>
            <a:ext cx="1810512" cy="2286000"/>
          </a:xfrm>
          <a:prstGeom prst="rect">
            <a:avLst/>
          </a:prstGeom>
          <a:solidFill>
            <a:srgbClr val="27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2816352" y="2011680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1" spc="150">
                <a:solidFill>
                  <a:srgbClr val="E0435A"/>
                </a:solidFill>
                <a:latin typeface="Open Sans"/>
              </a:rPr>
              <a:t>ROUND 1.5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16352" y="2240280"/>
            <a:ext cx="1508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Kanit"/>
              </a:rPr>
              <a:t>Double-check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16352" y="2606040"/>
            <a:ext cx="15087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3B5BC"/>
                </a:solidFill>
                <a:latin typeface="Open Sans"/>
              </a:rPr>
              <a:t>Added 0.75, 0.9 and 1.25 mm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816352" y="3337560"/>
            <a:ext cx="1508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E0435A"/>
                </a:solidFill>
                <a:latin typeface="Kanit"/>
              </a:rPr>
              <a:t>1.0 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16352" y="3767328"/>
            <a:ext cx="1508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B3B5BC"/>
                </a:solidFill>
                <a:latin typeface="Open Sans"/>
              </a:rPr>
              <a:t>still on top</a:t>
            </a:r>
          </a:p>
        </p:txBody>
      </p:sp>
      <p:sp>
        <p:nvSpPr>
          <p:cNvPr id="18" name="Arrow"/>
          <p:cNvSpPr/>
          <p:nvPr/>
        </p:nvSpPr>
        <p:spPr>
          <a:xfrm rot="5400000">
            <a:off x="4480560" y="2926080"/>
            <a:ext cx="118872" cy="182880"/>
          </a:xfrm>
          <a:prstGeom prst="triangle">
            <a:avLst/>
          </a:prstGeom>
          <a:solidFill>
            <a:srgbClr val="E04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OUND 2"/>
          <p:cNvSpPr/>
          <p:nvPr/>
        </p:nvSpPr>
        <p:spPr>
          <a:xfrm>
            <a:off x="4617720" y="1874519"/>
            <a:ext cx="1810512" cy="2286000"/>
          </a:xfrm>
          <a:prstGeom prst="rect">
            <a:avLst/>
          </a:prstGeom>
          <a:solidFill>
            <a:srgbClr val="27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782312" y="2011680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1" spc="150">
                <a:solidFill>
                  <a:srgbClr val="E0435A"/>
                </a:solidFill>
                <a:latin typeface="Open Sans"/>
              </a:rPr>
              <a:t>ROUND 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82312" y="2240280"/>
            <a:ext cx="1508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Kanit"/>
              </a:rPr>
              <a:t>Line spacing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82312" y="2606040"/>
            <a:ext cx="15087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B3B5BC"/>
                </a:solidFill>
                <a:latin typeface="Open Sans"/>
              </a:rPr>
              <a:t>Offsets from −1.0 to +1.0 mm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82312" y="3337560"/>
            <a:ext cx="1508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E0435A"/>
                </a:solidFill>
                <a:latin typeface="Kanit"/>
              </a:rPr>
              <a:t>+0.5 mm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82312" y="3767328"/>
            <a:ext cx="1508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B3B5BC"/>
                </a:solidFill>
                <a:latin typeface="Open Sans"/>
              </a:rPr>
              <a:t>493.73 N avg</a:t>
            </a:r>
          </a:p>
        </p:txBody>
      </p:sp>
      <p:sp>
        <p:nvSpPr>
          <p:cNvPr id="25" name="Arrow"/>
          <p:cNvSpPr/>
          <p:nvPr/>
        </p:nvSpPr>
        <p:spPr>
          <a:xfrm rot="5400000">
            <a:off x="6446520" y="2926080"/>
            <a:ext cx="118872" cy="182880"/>
          </a:xfrm>
          <a:prstGeom prst="triangle">
            <a:avLst/>
          </a:prstGeom>
          <a:solidFill>
            <a:srgbClr val="E04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OUND 3"/>
          <p:cNvSpPr/>
          <p:nvPr/>
        </p:nvSpPr>
        <p:spPr>
          <a:xfrm>
            <a:off x="6583679" y="1874519"/>
            <a:ext cx="1810512" cy="2286000"/>
          </a:xfrm>
          <a:prstGeom prst="rect">
            <a:avLst/>
          </a:prstGeom>
          <a:gradFill rotWithShape="1">
            <a:gsLst>
              <a:gs pos="0">
                <a:srgbClr val="B81E34"/>
              </a:gs>
              <a:gs pos="100000">
                <a:srgbClr val="8F1427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6748271" y="2011680"/>
            <a:ext cx="150876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00" b="1" spc="150">
                <a:solidFill>
                  <a:srgbClr val="FFFFFF"/>
                </a:solidFill>
                <a:latin typeface="Open Sans"/>
              </a:rPr>
              <a:t>ROUND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748271" y="2240280"/>
            <a:ext cx="1508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Kanit"/>
              </a:rPr>
              <a:t>Final design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748271" y="2606040"/>
            <a:ext cx="1508760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00" b="0">
                <a:solidFill>
                  <a:srgbClr val="FFFFFF"/>
                </a:solidFill>
                <a:latin typeface="Open Sans"/>
              </a:rPr>
              <a:t>1.0 mm lines + 0.5 mm offset, 10 runs + FEA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48271" y="3337560"/>
            <a:ext cx="15087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FFFFFF"/>
                </a:solidFill>
                <a:latin typeface="Kanit"/>
              </a:rPr>
              <a:t>425.50 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48271" y="3767328"/>
            <a:ext cx="15087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>
                <a:solidFill>
                  <a:srgbClr val="FFFFFF"/>
                </a:solidFill>
                <a:latin typeface="Open Sans"/>
              </a:rPr>
              <a:t>average peak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85800" y="4315968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00" b="1">
                <a:solidFill>
                  <a:srgbClr val="FFFFFF"/>
                </a:solidFill>
                <a:latin typeface="Open Sans"/>
              </a:rPr>
              <a:t>Mantis shrimp arches (CB-TPU): </a:t>
            </a:r>
            <a:r>
              <a:rPr sz="1000" b="0">
                <a:solidFill>
                  <a:srgbClr val="B3B5BC"/>
                </a:solidFill>
                <a:latin typeface="Open Sans"/>
              </a:rPr>
              <a:t>1 to 5 bumps, same 25 × 15 × 5 mm size. </a:t>
            </a:r>
            <a:r>
              <a:rPr sz="1000" b="1">
                <a:solidFill>
                  <a:srgbClr val="FFFFFF"/>
                </a:solidFill>
                <a:latin typeface="Open Sans"/>
              </a:rPr>
              <a:t>Two bumps won at 131.67 N.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896112"/>
            <a:ext cx="7772400" cy="566928"/>
          </a:xfrm>
        </p:spPr>
        <p:txBody>
          <a:bodyPr/>
          <a:lstStyle/>
          <a:p>
            <a:r>
              <a:rPr sz="2600" b="0">
                <a:solidFill>
                  <a:srgbClr val="FFFFFF"/>
                </a:solidFill>
                <a:latin typeface="Kanit"/>
              </a:rPr>
              <a:t>Four Rounds of Refinement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676656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spc="200">
                <a:solidFill>
                  <a:srgbClr val="E0435A"/>
                </a:solidFill>
                <a:latin typeface="Open Sans"/>
              </a:rPr>
              <a:t>RESULTS · GLASS SPONGE LATTICE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B3B5BC"/>
                </a:solidFill>
                <a:latin typeface="Open Sans"/>
              </a:rPr>
              <a:t>1.0 mm diagonal lines were both the strongest and the most sensitive.</a:t>
            </a:r>
          </a:p>
        </p:txBody>
      </p:sp>
      <p:graphicFrame>
        <p:nvGraphicFramePr>
          <p:cNvPr id="5" name="Chart: Average breaking point (N)" descr="Char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3749260"/>
              </p:ext>
            </p:extLst>
          </p:nvPr>
        </p:nvGraphicFramePr>
        <p:xfrm>
          <a:off x="548640" y="1783080"/>
          <a:ext cx="40233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: Change in resistance (kΩ)" descr="Char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32366473"/>
              </p:ext>
            </p:extLst>
          </p:nvPr>
        </p:nvGraphicFramePr>
        <p:xfrm>
          <a:off x="4617720" y="1783080"/>
          <a:ext cx="393192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160520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•"/>
            </a:pPr>
            <a:r>
              <a:rPr sz="1000" b="1">
                <a:solidFill>
                  <a:srgbClr val="E0435A"/>
                </a:solidFill>
                <a:latin typeface="Open Sans"/>
              </a:rPr>
              <a:t>1.0 mm: </a:t>
            </a:r>
            <a:r>
              <a:rPr sz="1000" b="0">
                <a:solidFill>
                  <a:srgbClr val="FFFFFF"/>
                </a:solidFill>
                <a:latin typeface="Open Sans"/>
              </a:rPr>
              <a:t>456.73 N vs. 309.37 N for the plain grid, about 48% stronger</a:t>
            </a:r>
          </a:p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•"/>
            </a:pPr>
            <a:r>
              <a:rPr sz="1000" b="1">
                <a:solidFill>
                  <a:srgbClr val="E0435A"/>
                </a:solidFill>
                <a:latin typeface="Open Sans"/>
              </a:rPr>
              <a:t>Biggest signal: </a:t>
            </a:r>
            <a:r>
              <a:rPr sz="1000" b="0">
                <a:solidFill>
                  <a:srgbClr val="FFFFFF"/>
                </a:solidFill>
                <a:latin typeface="Open Sans"/>
              </a:rPr>
              <a:t>0.57 kΩ; thick 2.5 mm lines likely masked the micro-cracks (0.07 kΩ)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896112"/>
            <a:ext cx="7772400" cy="566928"/>
          </a:xfrm>
        </p:spPr>
        <p:txBody>
          <a:bodyPr/>
          <a:lstStyle/>
          <a:p>
            <a:r>
              <a:rPr sz="2600" b="0">
                <a:solidFill>
                  <a:srgbClr val="FFFFFF"/>
                </a:solidFill>
                <a:latin typeface="Kanit"/>
              </a:rPr>
              <a:t>Round 1: Line Thickness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676656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spc="200">
                <a:solidFill>
                  <a:srgbClr val="E0435A"/>
                </a:solidFill>
                <a:latin typeface="Open Sans"/>
              </a:rPr>
              <a:t>RESULTS · DOUBLE-CHECK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B3B5BC"/>
                </a:solidFill>
                <a:latin typeface="Open Sans"/>
              </a:rPr>
              <a:t>Thinner and in-between lines were added to make sure we hadn’t missed a better option.</a:t>
            </a:r>
          </a:p>
        </p:txBody>
      </p:sp>
      <p:graphicFrame>
        <p:nvGraphicFramePr>
          <p:cNvPr id="5" name="Chart: Average breaking point (N)" descr="Char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46707380"/>
              </p:ext>
            </p:extLst>
          </p:nvPr>
        </p:nvGraphicFramePr>
        <p:xfrm>
          <a:off x="548640" y="1783080"/>
          <a:ext cx="40233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: Change in resistance (kΩ)" descr="Char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23228144"/>
              </p:ext>
            </p:extLst>
          </p:nvPr>
        </p:nvGraphicFramePr>
        <p:xfrm>
          <a:off x="4617720" y="1783080"/>
          <a:ext cx="393192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160520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•"/>
            </a:pPr>
            <a:r>
              <a:rPr sz="1000" b="1">
                <a:solidFill>
                  <a:srgbClr val="E0435A"/>
                </a:solidFill>
                <a:latin typeface="Open Sans"/>
              </a:rPr>
              <a:t>1.0 mm stays on top </a:t>
            </a:r>
            <a:r>
              <a:rPr sz="1000" b="0">
                <a:solidFill>
                  <a:srgbClr val="FFFFFF"/>
                </a:solidFill>
                <a:latin typeface="Open Sans"/>
              </a:rPr>
              <a:t>at 456.73 N, with the largest resistance change (0.57 kΩ)</a:t>
            </a:r>
          </a:p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•"/>
            </a:pPr>
            <a:r>
              <a:rPr sz="1000" b="1">
                <a:solidFill>
                  <a:srgbClr val="E0435A"/>
                </a:solidFill>
                <a:latin typeface="Open Sans"/>
              </a:rPr>
              <a:t>0.75 mm collapsed </a:t>
            </a:r>
            <a:r>
              <a:rPr sz="1000" b="0">
                <a:solidFill>
                  <a:srgbClr val="FFFFFF"/>
                </a:solidFill>
                <a:latin typeface="Open Sans"/>
              </a:rPr>
              <a:t>at 165.7 N: too fine for a 0.4 mm nozzle, so only the outer frame printed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896112"/>
            <a:ext cx="7772400" cy="566928"/>
          </a:xfrm>
        </p:spPr>
        <p:txBody>
          <a:bodyPr/>
          <a:lstStyle/>
          <a:p>
            <a:r>
              <a:rPr sz="2600" b="0">
                <a:solidFill>
                  <a:srgbClr val="FFFFFF"/>
                </a:solidFill>
                <a:latin typeface="Kanit"/>
              </a:rPr>
              <a:t>Round 1.5: Is 1.0 mm Really Best?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676656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spc="200">
                <a:solidFill>
                  <a:srgbClr val="E0435A"/>
                </a:solidFill>
                <a:latin typeface="Open Sans"/>
              </a:rPr>
              <a:t>RESULTS · SPACING OFFSETS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7772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B3B5BC"/>
                </a:solidFill>
                <a:latin typeface="Open Sans"/>
              </a:rPr>
              <a:t>Strength and sensitivity pull in opposite directions.</a:t>
            </a:r>
          </a:p>
        </p:txBody>
      </p:sp>
      <p:graphicFrame>
        <p:nvGraphicFramePr>
          <p:cNvPr id="5" name="Chart: Average breaking point (N)" descr="Char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90884933"/>
              </p:ext>
            </p:extLst>
          </p:nvPr>
        </p:nvGraphicFramePr>
        <p:xfrm>
          <a:off x="548640" y="1783080"/>
          <a:ext cx="40233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6" name="Chart: Change in resistance (kΩ)" descr="Char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6908300"/>
              </p:ext>
            </p:extLst>
          </p:nvPr>
        </p:nvGraphicFramePr>
        <p:xfrm>
          <a:off x="4617720" y="1783080"/>
          <a:ext cx="393192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685800" y="4160520"/>
            <a:ext cx="77724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•"/>
            </a:pPr>
            <a:r>
              <a:rPr sz="1000" b="1">
                <a:solidFill>
                  <a:srgbClr val="E0435A"/>
                </a:solidFill>
                <a:latin typeface="Open Sans"/>
              </a:rPr>
              <a:t>+0.5 mm offset: </a:t>
            </a:r>
            <a:r>
              <a:rPr sz="1000" b="0">
                <a:solidFill>
                  <a:srgbClr val="FFFFFF"/>
                </a:solidFill>
                <a:latin typeface="Open Sans"/>
              </a:rPr>
              <a:t>strongest at 493.73 N, but the smallest resistance change (0.21 kΩ)</a:t>
            </a:r>
          </a:p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•"/>
            </a:pPr>
            <a:r>
              <a:rPr sz="1000" b="1">
                <a:solidFill>
                  <a:srgbClr val="E0435A"/>
                </a:solidFill>
                <a:latin typeface="Open Sans"/>
              </a:rPr>
              <a:t>+1.0 mm offset: </a:t>
            </a:r>
            <a:r>
              <a:rPr sz="1000" b="0">
                <a:solidFill>
                  <a:srgbClr val="FFFFFF"/>
                </a:solidFill>
                <a:latin typeface="Open Sans"/>
              </a:rPr>
              <a:t>biggest signal at 1.09 kΩ, but wider gaps made weak points (465.40 N)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896112"/>
            <a:ext cx="7772400" cy="566928"/>
          </a:xfrm>
        </p:spPr>
        <p:txBody>
          <a:bodyPr/>
          <a:lstStyle/>
          <a:p>
            <a:r>
              <a:rPr sz="2600" b="0">
                <a:solidFill>
                  <a:srgbClr val="FFFFFF"/>
                </a:solidFill>
                <a:latin typeface="Kanit"/>
              </a:rPr>
              <a:t>Round 2: Line Spacing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676656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spc="200">
                <a:solidFill>
                  <a:srgbClr val="E0435A"/>
                </a:solidFill>
                <a:latin typeface="Open Sans"/>
              </a:rPr>
              <a:t>RESULTS · TEN RUNS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B3B5BC"/>
                </a:solidFill>
                <a:latin typeface="Open Sans"/>
              </a:rPr>
              <a:t>1.0 mm lines with a +0.5 mm offset, compressed ten times.</a:t>
            </a:r>
          </a:p>
        </p:txBody>
      </p:sp>
      <p:sp>
        <p:nvSpPr>
          <p:cNvPr id="5" name="Chart key"/>
          <p:cNvSpPr txBox="1"/>
          <p:nvPr/>
        </p:nvSpPr>
        <p:spPr>
          <a:xfrm>
            <a:off x="5257800" y="1499616"/>
            <a:ext cx="32004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900" b="0">
                <a:solidFill>
                  <a:srgbClr val="6E717A"/>
                </a:solidFill>
                <a:latin typeface="Open Sans"/>
              </a:rPr>
              <a:t>━  10 individual runs</a:t>
            </a:r>
            <a:r>
              <a:rPr sz="900" b="1">
                <a:solidFill>
                  <a:srgbClr val="E0435A"/>
                </a:solidFill>
                <a:latin typeface="Open Sans"/>
              </a:rPr>
              <a:t>      ━  Average</a:t>
            </a:r>
          </a:p>
        </p:txBody>
      </p:sp>
      <p:graphicFrame>
        <p:nvGraphicFramePr>
          <p:cNvPr id="6" name="Chart: Force (N) vs Time (s)" descr="Char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65650304"/>
              </p:ext>
            </p:extLst>
          </p:nvPr>
        </p:nvGraphicFramePr>
        <p:xfrm>
          <a:off x="548640" y="1828800"/>
          <a:ext cx="402336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7" name="Chart: Resistance (kΩ) vs Displacement (mm)" descr="Char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6479157"/>
              </p:ext>
            </p:extLst>
          </p:nvPr>
        </p:nvGraphicFramePr>
        <p:xfrm>
          <a:off x="4617720" y="1828800"/>
          <a:ext cx="3931920" cy="233172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85800" y="4224528"/>
            <a:ext cx="7772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•"/>
            </a:pPr>
            <a:r>
              <a:rPr sz="1000" b="0">
                <a:solidFill>
                  <a:srgbClr val="FFFFFF"/>
                </a:solidFill>
                <a:latin typeface="Open Sans"/>
              </a:rPr>
              <a:t>Average curve peaks at </a:t>
            </a:r>
            <a:r>
              <a:rPr sz="1000" b="1">
                <a:solidFill>
                  <a:srgbClr val="E0435A"/>
                </a:solidFill>
                <a:latin typeface="Open Sans"/>
              </a:rPr>
              <a:t>425.50 N</a:t>
            </a:r>
            <a:r>
              <a:rPr sz="1000" b="0">
                <a:solidFill>
                  <a:srgbClr val="FFFFFF"/>
                </a:solidFill>
                <a:latin typeface="Open Sans"/>
              </a:rPr>
              <a:t>; resistance averages a peak of </a:t>
            </a:r>
            <a:r>
              <a:rPr sz="1000" b="1">
                <a:solidFill>
                  <a:srgbClr val="E0435A"/>
                </a:solidFill>
                <a:latin typeface="Open Sans"/>
              </a:rPr>
              <a:t>0.76 kΩ</a:t>
            </a:r>
          </a:p>
          <a:p>
            <a:pPr marL="155448" indent="-155448" algn="l">
              <a:spcAft>
                <a:spcPts val="400"/>
              </a:spcAft>
              <a:buClr>
                <a:srgbClr val="E0435A"/>
              </a:buClr>
              <a:buFont typeface="Arial"/>
              <a:buChar char="•"/>
            </a:pPr>
            <a:r>
              <a:rPr sz="1000" b="0">
                <a:solidFill>
                  <a:srgbClr val="FFFFFF"/>
                </a:solidFill>
                <a:latin typeface="Open Sans"/>
              </a:rPr>
              <a:t>Ten runs show how much real prints vary, even with identical settings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896112"/>
            <a:ext cx="7772400" cy="566928"/>
          </a:xfrm>
        </p:spPr>
        <p:txBody>
          <a:bodyPr/>
          <a:lstStyle/>
          <a:p>
            <a:r>
              <a:rPr sz="2600" b="0">
                <a:solidFill>
                  <a:srgbClr val="FFFFFF"/>
                </a:solidFill>
                <a:latin typeface="Kanit"/>
              </a:rPr>
              <a:t>Round 3: The Final Design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676656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spc="200">
                <a:solidFill>
                  <a:srgbClr val="E0435A"/>
                </a:solidFill>
                <a:latin typeface="Open Sans"/>
              </a:rPr>
              <a:t>UNDER THE MICROSCOPE</a:t>
            </a:r>
          </a:p>
        </p:txBody>
      </p:sp>
      <p:sp>
        <p:nvSpPr>
          <p:cNvPr id="4" name="Accent circle"/>
          <p:cNvSpPr/>
          <p:nvPr/>
        </p:nvSpPr>
        <p:spPr>
          <a:xfrm>
            <a:off x="3904487" y="612647"/>
            <a:ext cx="2340864" cy="2340864"/>
          </a:xfrm>
          <a:prstGeom prst="ellipse">
            <a:avLst/>
          </a:prstGeom>
          <a:noFill/>
          <a:ln w="15875">
            <a:solidFill>
              <a:srgbClr val="3B3C43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ccent circle"/>
          <p:cNvSpPr/>
          <p:nvPr/>
        </p:nvSpPr>
        <p:spPr>
          <a:xfrm>
            <a:off x="4251959" y="960119"/>
            <a:ext cx="1645920" cy="1645920"/>
          </a:xfrm>
          <a:prstGeom prst="ellipse">
            <a:avLst/>
          </a:prstGeom>
          <a:solidFill>
            <a:srgbClr val="A6192E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Microscope photo" descr="x-cracks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45920"/>
            <a:ext cx="4572000" cy="2872583"/>
          </a:xfrm>
          <a:prstGeom prst="rect">
            <a:avLst/>
          </a:prstGeom>
        </p:spPr>
      </p:pic>
      <p:sp>
        <p:nvSpPr>
          <p:cNvPr id="7" name="Crack marker"/>
          <p:cNvSpPr/>
          <p:nvPr/>
        </p:nvSpPr>
        <p:spPr>
          <a:xfrm>
            <a:off x="3191256" y="2993161"/>
            <a:ext cx="873252" cy="721018"/>
          </a:xfrm>
          <a:prstGeom prst="ellipse">
            <a:avLst/>
          </a:prstGeom>
          <a:noFill/>
          <a:ln w="31750">
            <a:solidFill>
              <a:srgbClr val="E043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Scale bar"/>
          <p:cNvSpPr/>
          <p:nvPr/>
        </p:nvSpPr>
        <p:spPr>
          <a:xfrm>
            <a:off x="4347972" y="4389237"/>
            <a:ext cx="777240" cy="527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4347972" y="4173793"/>
            <a:ext cx="77724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800" b="1">
                <a:solidFill>
                  <a:srgbClr val="FFFFFF"/>
                </a:solidFill>
                <a:latin typeface="Open Sans"/>
              </a:rPr>
              <a:t>3 mm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23560" y="1691640"/>
            <a:ext cx="283464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Kanit"/>
              </a:rPr>
              <a:t>Hairline cracks form where struts meet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B3B5BC"/>
                </a:solidFill>
                <a:latin typeface="Open Sans"/>
              </a:rPr>
              <a:t>Under stress, cracks form, some invisible to the naked eye. Each one breaks part of the carbon network, which is what shifts the resistance.</a:t>
            </a:r>
          </a:p>
        </p:txBody>
      </p:sp>
      <p:sp>
        <p:nvSpPr>
          <p:cNvPr id="11" name="Callout"/>
          <p:cNvSpPr/>
          <p:nvPr/>
        </p:nvSpPr>
        <p:spPr>
          <a:xfrm>
            <a:off x="5623560" y="3703320"/>
            <a:ext cx="2834640" cy="640080"/>
          </a:xfrm>
          <a:prstGeom prst="rect">
            <a:avLst/>
          </a:prstGeom>
          <a:gradFill rotWithShape="1">
            <a:gsLst>
              <a:gs pos="0">
                <a:srgbClr val="B81E34"/>
              </a:gs>
              <a:gs pos="100000">
                <a:srgbClr val="8F1427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5779008" y="3703320"/>
            <a:ext cx="2560320" cy="6400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Open Sans"/>
              </a:rPr>
              <a:t>Magnified ×2.6. The circle marks a crack at a joint.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896112"/>
            <a:ext cx="7772400" cy="566928"/>
          </a:xfrm>
        </p:spPr>
        <p:txBody>
          <a:bodyPr/>
          <a:lstStyle/>
          <a:p>
            <a:r>
              <a:rPr sz="2600" b="0">
                <a:solidFill>
                  <a:srgbClr val="FFFFFF"/>
                </a:solidFill>
                <a:latin typeface="Kanit"/>
              </a:rPr>
              <a:t>Microscopic Cracks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676656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spc="200">
                <a:solidFill>
                  <a:srgbClr val="E0435A"/>
                </a:solidFill>
                <a:latin typeface="Open Sans"/>
              </a:rPr>
              <a:t>FINITE ELEMENT ANALYSIS · GLASS SPONGE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715000" y="1691640"/>
            <a:ext cx="274320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dirty="0">
                <a:solidFill>
                  <a:srgbClr val="FFFFFF"/>
                </a:solidFill>
                <a:latin typeface="Kanit"/>
              </a:rPr>
              <a:t>500 N static load</a:t>
            </a:r>
          </a:p>
          <a:p>
            <a:pPr algn="l">
              <a:spcAft>
                <a:spcPts val="400"/>
              </a:spcAft>
            </a:pPr>
            <a:r>
              <a:rPr sz="1050" b="0" dirty="0" err="1">
                <a:solidFill>
                  <a:srgbClr val="B3B5BC"/>
                </a:solidFill>
                <a:latin typeface="Open Sans"/>
              </a:rPr>
              <a:t>FreeCAD</a:t>
            </a:r>
            <a:r>
              <a:rPr sz="1050" b="0" dirty="0">
                <a:solidFill>
                  <a:srgbClr val="B3B5BC"/>
                </a:solidFill>
                <a:latin typeface="Open Sans"/>
              </a:rPr>
              <a:t> simulation of the final design, pressed through a 16 mm head to match the real rig. Before loading (left) and fully loaded (right).</a:t>
            </a:r>
          </a:p>
        </p:txBody>
      </p:sp>
      <p:sp>
        <p:nvSpPr>
          <p:cNvPr id="6" name="Callout"/>
          <p:cNvSpPr/>
          <p:nvPr/>
        </p:nvSpPr>
        <p:spPr>
          <a:xfrm>
            <a:off x="5715000" y="3703320"/>
            <a:ext cx="2743200" cy="685800"/>
          </a:xfrm>
          <a:prstGeom prst="rect">
            <a:avLst/>
          </a:prstGeom>
          <a:gradFill rotWithShape="1">
            <a:gsLst>
              <a:gs pos="0">
                <a:srgbClr val="B81E34"/>
              </a:gs>
              <a:gs pos="100000">
                <a:srgbClr val="8F1427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5870448" y="3703320"/>
            <a:ext cx="2468880" cy="68580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Open Sans"/>
              </a:rPr>
              <a:t>Simulated deformation was compared with what we saw in the physical tests.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896112"/>
            <a:ext cx="7772400" cy="566928"/>
          </a:xfrm>
        </p:spPr>
        <p:txBody>
          <a:bodyPr/>
          <a:lstStyle/>
          <a:p>
            <a:r>
              <a:rPr sz="2600" b="0">
                <a:solidFill>
                  <a:srgbClr val="FFFFFF"/>
                </a:solidFill>
                <a:latin typeface="Kanit"/>
              </a:rPr>
              <a:t>Simulating the Load</a:t>
            </a:r>
          </a:p>
        </p:txBody>
      </p:sp>
      <p:pic>
        <p:nvPicPr>
          <p:cNvPr id="8" name="Google Shape;1319;p83">
            <a:extLst>
              <a:ext uri="{FF2B5EF4-FFF2-40B4-BE49-F238E27FC236}">
                <a16:creationId xmlns:a16="http://schemas.microsoft.com/office/drawing/2014/main" id="{F3FCB93D-8130-12DA-77BB-551A2A2B7C07}"/>
              </a:ext>
            </a:extLst>
          </p:cNvPr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33506" y="1789054"/>
            <a:ext cx="1713320" cy="1870345"/>
          </a:xfrm>
          <a:prstGeom prst="rect">
            <a:avLst/>
          </a:prstGeom>
          <a:noFill/>
          <a:ln w="28575" cap="flat" cmpd="sng">
            <a:solidFill>
              <a:srgbClr val="CCA677"/>
            </a:solidFill>
            <a:prstDash val="solid"/>
            <a:round/>
            <a:headEnd type="none" w="sm" len="sm"/>
            <a:tailEnd type="none" w="sm" len="sm"/>
          </a:ln>
        </p:spPr>
      </p:pic>
      <p:pic>
        <p:nvPicPr>
          <p:cNvPr id="9" name="Google Shape;1322;p83">
            <a:extLst>
              <a:ext uri="{FF2B5EF4-FFF2-40B4-BE49-F238E27FC236}">
                <a16:creationId xmlns:a16="http://schemas.microsoft.com/office/drawing/2014/main" id="{33ABC378-ACE9-3CF1-2375-6F497CD56D25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230500" y="1789054"/>
            <a:ext cx="1917735" cy="1870324"/>
          </a:xfrm>
          <a:prstGeom prst="rect">
            <a:avLst/>
          </a:prstGeom>
          <a:noFill/>
          <a:ln w="28575" cap="flat" cmpd="sng">
            <a:solidFill>
              <a:srgbClr val="CCA677"/>
            </a:solidFill>
            <a:prstDash val="solid"/>
            <a:round/>
            <a:headEnd type="none" w="sm" len="sm"/>
            <a:tailEnd type="none" w="sm" len="sm"/>
          </a:ln>
        </p:spPr>
      </p:pic>
      <p:cxnSp>
        <p:nvCxnSpPr>
          <p:cNvPr id="10" name="Google Shape;1323;p83">
            <a:extLst>
              <a:ext uri="{FF2B5EF4-FFF2-40B4-BE49-F238E27FC236}">
                <a16:creationId xmlns:a16="http://schemas.microsoft.com/office/drawing/2014/main" id="{D7547446-0738-2EFB-2CB6-8E55FD569400}"/>
              </a:ext>
            </a:extLst>
          </p:cNvPr>
          <p:cNvCxnSpPr/>
          <p:nvPr/>
        </p:nvCxnSpPr>
        <p:spPr>
          <a:xfrm rot="10800000" flipH="1">
            <a:off x="1065153" y="2107004"/>
            <a:ext cx="1007400" cy="96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stealth" w="med" len="med"/>
            <a:tailEnd type="stealth" w="med" len="med"/>
          </a:ln>
        </p:spPr>
      </p:cxnSp>
      <p:sp>
        <p:nvSpPr>
          <p:cNvPr id="11" name="Google Shape;1324;p83">
            <a:extLst>
              <a:ext uri="{FF2B5EF4-FFF2-40B4-BE49-F238E27FC236}">
                <a16:creationId xmlns:a16="http://schemas.microsoft.com/office/drawing/2014/main" id="{07CB41EE-97CF-4BD7-E503-734374475509}"/>
              </a:ext>
            </a:extLst>
          </p:cNvPr>
          <p:cNvSpPr txBox="1"/>
          <p:nvPr/>
        </p:nvSpPr>
        <p:spPr>
          <a:xfrm>
            <a:off x="1065153" y="1903499"/>
            <a:ext cx="1007400" cy="16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16 mm</a:t>
            </a:r>
            <a:endParaRPr sz="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12" name="Google Shape;1325;p83">
            <a:extLst>
              <a:ext uri="{FF2B5EF4-FFF2-40B4-BE49-F238E27FC236}">
                <a16:creationId xmlns:a16="http://schemas.microsoft.com/office/drawing/2014/main" id="{07ED2DAD-A620-4A9A-347D-F4FD72FEC443}"/>
              </a:ext>
            </a:extLst>
          </p:cNvPr>
          <p:cNvCxnSpPr/>
          <p:nvPr/>
        </p:nvCxnSpPr>
        <p:spPr>
          <a:xfrm>
            <a:off x="2334078" y="2184404"/>
            <a:ext cx="19500" cy="1346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stealth" w="med" len="med"/>
            <a:tailEnd type="stealth" w="med" len="med"/>
          </a:ln>
        </p:spPr>
      </p:cxnSp>
      <p:sp>
        <p:nvSpPr>
          <p:cNvPr id="13" name="Google Shape;1326;p83">
            <a:extLst>
              <a:ext uri="{FF2B5EF4-FFF2-40B4-BE49-F238E27FC236}">
                <a16:creationId xmlns:a16="http://schemas.microsoft.com/office/drawing/2014/main" id="{AC187001-545A-CF70-443B-93F715270D0F}"/>
              </a:ext>
            </a:extLst>
          </p:cNvPr>
          <p:cNvSpPr txBox="1"/>
          <p:nvPr/>
        </p:nvSpPr>
        <p:spPr>
          <a:xfrm>
            <a:off x="1635335" y="2853897"/>
            <a:ext cx="1028400" cy="2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sz="800">
                <a:solidFill>
                  <a:schemeClr val="dk1"/>
                </a:solidFill>
                <a:latin typeface="Open Sans"/>
                <a:ea typeface="Open Sans"/>
                <a:cs typeface="Open Sans"/>
                <a:sym typeface="Open Sans"/>
              </a:rPr>
              <a:t>22 mm</a:t>
            </a:r>
            <a:endParaRPr sz="800">
              <a:solidFill>
                <a:schemeClr val="dk1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sp>
        <p:nvSpPr>
          <p:cNvPr id="14" name="Freeform 13">
            <a:extLst>
              <a:ext uri="{FF2B5EF4-FFF2-40B4-BE49-F238E27FC236}">
                <a16:creationId xmlns:a16="http://schemas.microsoft.com/office/drawing/2014/main" id="{49A7638F-CDB9-FABB-103E-DD32EB143DDE}"/>
              </a:ext>
            </a:extLst>
          </p:cNvPr>
          <p:cNvSpPr/>
          <p:nvPr/>
        </p:nvSpPr>
        <p:spPr>
          <a:xfrm>
            <a:off x="2590638" y="2853895"/>
            <a:ext cx="383712" cy="45719"/>
          </a:xfrm>
          <a:custGeom>
            <a:avLst/>
            <a:gdLst>
              <a:gd name="csX0" fmla="*/ 0 w 776139"/>
              <a:gd name="csY0" fmla="*/ 0 h 3767"/>
              <a:gd name="csX1" fmla="*/ 776139 w 776139"/>
              <a:gd name="csY1" fmla="*/ 0 h 3767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776139" h="3767">
                <a:moveTo>
                  <a:pt x="0" y="0"/>
                </a:moveTo>
                <a:lnTo>
                  <a:pt x="776139" y="0"/>
                </a:lnTo>
              </a:path>
            </a:pathLst>
          </a:custGeom>
          <a:ln w="52723" cap="flat">
            <a:solidFill>
              <a:srgbClr val="E0435A"/>
            </a:solidFill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5" name="Freeform 14">
            <a:extLst>
              <a:ext uri="{FF2B5EF4-FFF2-40B4-BE49-F238E27FC236}">
                <a16:creationId xmlns:a16="http://schemas.microsoft.com/office/drawing/2014/main" id="{64D44B87-D4D2-B4DF-848D-30275226FF10}"/>
              </a:ext>
            </a:extLst>
          </p:cNvPr>
          <p:cNvSpPr/>
          <p:nvPr/>
        </p:nvSpPr>
        <p:spPr>
          <a:xfrm>
            <a:off x="2932920" y="2755938"/>
            <a:ext cx="150706" cy="195918"/>
          </a:xfrm>
          <a:custGeom>
            <a:avLst/>
            <a:gdLst>
              <a:gd name="csX0" fmla="*/ 0 w 150706"/>
              <a:gd name="csY0" fmla="*/ 0 h 195918"/>
              <a:gd name="csX1" fmla="*/ 150707 w 150706"/>
              <a:gd name="csY1" fmla="*/ 97959 h 195918"/>
              <a:gd name="csX2" fmla="*/ 0 w 150706"/>
              <a:gd name="csY2" fmla="*/ 195919 h 19591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150706" h="195918">
                <a:moveTo>
                  <a:pt x="0" y="0"/>
                </a:moveTo>
                <a:lnTo>
                  <a:pt x="150707" y="97959"/>
                </a:lnTo>
                <a:lnTo>
                  <a:pt x="0" y="195919"/>
                </a:lnTo>
                <a:close/>
              </a:path>
            </a:pathLst>
          </a:custGeom>
          <a:solidFill>
            <a:srgbClr val="E0435A"/>
          </a:solidFill>
          <a:ln w="3766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F3969BA3-3206-E7F4-2621-1998B66F7DE9}"/>
              </a:ext>
            </a:extLst>
          </p:cNvPr>
          <p:cNvSpPr txBox="1"/>
          <p:nvPr/>
        </p:nvSpPr>
        <p:spPr>
          <a:xfrm>
            <a:off x="1315418" y="3875421"/>
            <a:ext cx="50687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+mn-lt"/>
              </a:rPr>
              <a:t>0%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733C9D1A-C0BD-C3E9-1062-C0DD69B41995}"/>
              </a:ext>
            </a:extLst>
          </p:cNvPr>
          <p:cNvSpPr txBox="1"/>
          <p:nvPr/>
        </p:nvSpPr>
        <p:spPr>
          <a:xfrm>
            <a:off x="3804487" y="3875421"/>
            <a:ext cx="76976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800" dirty="0">
                <a:solidFill>
                  <a:schemeClr val="tx1"/>
                </a:solidFill>
                <a:latin typeface="+mn-lt"/>
              </a:rPr>
              <a:t>100%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676656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spc="200">
                <a:solidFill>
                  <a:srgbClr val="E0435A"/>
                </a:solidFill>
                <a:latin typeface="Open Sans"/>
              </a:rPr>
              <a:t>RESULTS · CB-TPU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481328"/>
            <a:ext cx="5029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050" b="0">
                <a:solidFill>
                  <a:srgbClr val="B3B5BC"/>
                </a:solidFill>
                <a:latin typeface="Open Sans"/>
              </a:rPr>
              <a:t>In flexible TPU, two wide arches beat five narrow ones.</a:t>
            </a:r>
          </a:p>
        </p:txBody>
      </p:sp>
      <p:graphicFrame>
        <p:nvGraphicFramePr>
          <p:cNvPr id="5" name="Chart: Force (N) vs Time (s)" descr="Char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43684726"/>
              </p:ext>
            </p:extLst>
          </p:nvPr>
        </p:nvGraphicFramePr>
        <p:xfrm>
          <a:off x="548640" y="1783080"/>
          <a:ext cx="5120640" cy="28803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pic>
        <p:nvPicPr>
          <p:cNvPr id="6" name="Mantis shrimp photo" descr="p-m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7880" y="1600200"/>
            <a:ext cx="2560320" cy="1709928"/>
          </a:xfrm>
          <a:prstGeom prst="rect">
            <a:avLst/>
          </a:prstGeom>
        </p:spPr>
      </p:pic>
      <p:sp>
        <p:nvSpPr>
          <p:cNvPr id="7" name="Photo credit"/>
          <p:cNvSpPr txBox="1"/>
          <p:nvPr/>
        </p:nvSpPr>
        <p:spPr>
          <a:xfrm>
            <a:off x="5897880" y="3337560"/>
            <a:ext cx="25603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50" b="0">
                <a:solidFill>
                  <a:srgbClr val="7E8089"/>
                </a:solidFill>
                <a:latin typeface="Open Sans"/>
              </a:rPr>
              <a:t>Photo: Heidi Bruce / Unsplash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97880" y="3566160"/>
            <a:ext cx="256032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5448" indent="-155448" algn="l">
              <a:spcAft>
                <a:spcPts val="400"/>
              </a:spcAft>
              <a:buClr>
                <a:srgbClr val="E0435A"/>
              </a:buClr>
              <a:buFont typeface="Arial"/>
              <a:buChar char="•"/>
            </a:pPr>
            <a:r>
              <a:rPr sz="950" b="1">
                <a:solidFill>
                  <a:srgbClr val="E0435A"/>
                </a:solidFill>
                <a:latin typeface="Open Sans"/>
              </a:rPr>
              <a:t>Two bumps: </a:t>
            </a:r>
            <a:r>
              <a:rPr sz="950" b="0">
                <a:solidFill>
                  <a:srgbClr val="FFFFFF"/>
                </a:solidFill>
                <a:latin typeface="Open Sans"/>
              </a:rPr>
              <a:t>131.67 N peak. Wider arches likely spread the load better</a:t>
            </a:r>
          </a:p>
          <a:p>
            <a:pPr marL="155448" indent="-155448" algn="l">
              <a:spcAft>
                <a:spcPts val="400"/>
              </a:spcAft>
              <a:buClr>
                <a:srgbClr val="E0435A"/>
              </a:buClr>
              <a:buFont typeface="Arial"/>
              <a:buChar char="•"/>
            </a:pPr>
            <a:r>
              <a:rPr sz="950" b="1">
                <a:solidFill>
                  <a:srgbClr val="E0435A"/>
                </a:solidFill>
                <a:latin typeface="Open Sans"/>
              </a:rPr>
              <a:t>Four bumps: </a:t>
            </a:r>
            <a:r>
              <a:rPr sz="950" b="0">
                <a:solidFill>
                  <a:srgbClr val="FFFFFF"/>
                </a:solidFill>
                <a:latin typeface="Open Sans"/>
              </a:rPr>
              <a:t>92.33 N. Tight arches buckled locally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896112"/>
            <a:ext cx="7772400" cy="566928"/>
          </a:xfrm>
        </p:spPr>
        <p:txBody>
          <a:bodyPr/>
          <a:lstStyle/>
          <a:p>
            <a:r>
              <a:rPr sz="2600" b="0">
                <a:solidFill>
                  <a:srgbClr val="FFFFFF"/>
                </a:solidFill>
                <a:latin typeface="Kanit"/>
              </a:rPr>
              <a:t>The Mantis Shrimp Arches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676656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spc="200">
                <a:solidFill>
                  <a:srgbClr val="E0435A"/>
                </a:solidFill>
                <a:latin typeface="Open Sans"/>
              </a:rPr>
              <a:t>FINITE ELEMENT ANALYSIS · 500 N CONSTANT FORCE</a:t>
            </a:r>
          </a:p>
        </p:txBody>
      </p:sp>
      <p:pic>
        <p:nvPicPr>
          <p:cNvPr id="4" name="FEA 0%" descr="x-fea-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3276" y="1600200"/>
            <a:ext cx="2136768" cy="1463040"/>
          </a:xfrm>
          <a:prstGeom prst="rect">
            <a:avLst/>
          </a:prstGeom>
        </p:spPr>
      </p:pic>
      <p:sp>
        <p:nvSpPr>
          <p:cNvPr id="5" name="0% chip"/>
          <p:cNvSpPr/>
          <p:nvPr/>
        </p:nvSpPr>
        <p:spPr>
          <a:xfrm>
            <a:off x="685800" y="1600200"/>
            <a:ext cx="566928" cy="274320"/>
          </a:xfrm>
          <a:prstGeom prst="rect">
            <a:avLst/>
          </a:prstGeom>
          <a:gradFill rotWithShape="1">
            <a:gsLst>
              <a:gs pos="0">
                <a:srgbClr val="B81E34"/>
              </a:gs>
              <a:gs pos="100000">
                <a:srgbClr val="8F1427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685800" y="1600200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Open Sans"/>
              </a:rPr>
              <a:t>0%</a:t>
            </a:r>
          </a:p>
        </p:txBody>
      </p:sp>
      <p:pic>
        <p:nvPicPr>
          <p:cNvPr id="7" name="FEA 50%" descr="x-fea-5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8655" y="1600200"/>
            <a:ext cx="2283769" cy="1463040"/>
          </a:xfrm>
          <a:prstGeom prst="rect">
            <a:avLst/>
          </a:prstGeom>
        </p:spPr>
      </p:pic>
      <p:sp>
        <p:nvSpPr>
          <p:cNvPr id="8" name="50% chip"/>
          <p:cNvSpPr/>
          <p:nvPr/>
        </p:nvSpPr>
        <p:spPr>
          <a:xfrm>
            <a:off x="3154680" y="1600200"/>
            <a:ext cx="566928" cy="274320"/>
          </a:xfrm>
          <a:prstGeom prst="rect">
            <a:avLst/>
          </a:prstGeom>
          <a:gradFill rotWithShape="1">
            <a:gsLst>
              <a:gs pos="0">
                <a:srgbClr val="B81E34"/>
              </a:gs>
              <a:gs pos="100000">
                <a:srgbClr val="8F1427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3154680" y="1600200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Open Sans"/>
              </a:rPr>
              <a:t>50%</a:t>
            </a:r>
          </a:p>
        </p:txBody>
      </p:sp>
      <p:pic>
        <p:nvPicPr>
          <p:cNvPr id="10" name="FEA 75%" descr="x-fea-75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172968"/>
            <a:ext cx="2331720" cy="1463040"/>
          </a:xfrm>
          <a:prstGeom prst="rect">
            <a:avLst/>
          </a:prstGeom>
        </p:spPr>
      </p:pic>
      <p:sp>
        <p:nvSpPr>
          <p:cNvPr id="11" name="75% chip"/>
          <p:cNvSpPr/>
          <p:nvPr/>
        </p:nvSpPr>
        <p:spPr>
          <a:xfrm>
            <a:off x="685800" y="3172968"/>
            <a:ext cx="566928" cy="274320"/>
          </a:xfrm>
          <a:prstGeom prst="rect">
            <a:avLst/>
          </a:prstGeom>
          <a:gradFill rotWithShape="1">
            <a:gsLst>
              <a:gs pos="0">
                <a:srgbClr val="B81E34"/>
              </a:gs>
              <a:gs pos="100000">
                <a:srgbClr val="8F1427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85800" y="3172968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Open Sans"/>
              </a:rPr>
              <a:t>75%</a:t>
            </a:r>
          </a:p>
        </p:txBody>
      </p:sp>
      <p:pic>
        <p:nvPicPr>
          <p:cNvPr id="13" name="FEA 100%" descr="x-fea-10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54680" y="3184934"/>
            <a:ext cx="2331720" cy="1439108"/>
          </a:xfrm>
          <a:prstGeom prst="rect">
            <a:avLst/>
          </a:prstGeom>
        </p:spPr>
      </p:pic>
      <p:sp>
        <p:nvSpPr>
          <p:cNvPr id="14" name="100% chip"/>
          <p:cNvSpPr/>
          <p:nvPr/>
        </p:nvSpPr>
        <p:spPr>
          <a:xfrm>
            <a:off x="3154680" y="3172968"/>
            <a:ext cx="566928" cy="274320"/>
          </a:xfrm>
          <a:prstGeom prst="rect">
            <a:avLst/>
          </a:prstGeom>
          <a:gradFill rotWithShape="1">
            <a:gsLst>
              <a:gs pos="0">
                <a:srgbClr val="B81E34"/>
              </a:gs>
              <a:gs pos="100000">
                <a:srgbClr val="8F1427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154680" y="3172968"/>
            <a:ext cx="566928" cy="27432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900" b="1">
                <a:solidFill>
                  <a:srgbClr val="FFFFFF"/>
                </a:solidFill>
                <a:latin typeface="Open Sans"/>
              </a:rPr>
              <a:t>100%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1645920"/>
            <a:ext cx="2651760" cy="2011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Kanit"/>
              </a:rPr>
              <a:t>The arches bend instead of snapping</a:t>
            </a:r>
          </a:p>
          <a:p>
            <a:pPr algn="l">
              <a:spcAft>
                <a:spcPts val="400"/>
              </a:spcAft>
            </a:pPr>
            <a:r>
              <a:rPr sz="1050" b="0">
                <a:solidFill>
                  <a:srgbClr val="B3B5BC"/>
                </a:solidFill>
                <a:latin typeface="Open Sans"/>
              </a:rPr>
              <a:t>Frames at 0, 50, 75 and 100% of a 500 N load on the two-bump TPU design: the arches flex and flatten as the load grows.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896112"/>
            <a:ext cx="7772400" cy="566928"/>
          </a:xfrm>
        </p:spPr>
        <p:txBody>
          <a:bodyPr/>
          <a:lstStyle/>
          <a:p>
            <a:r>
              <a:rPr sz="2600" b="0">
                <a:solidFill>
                  <a:srgbClr val="FFFFFF"/>
                </a:solidFill>
                <a:latin typeface="Kanit"/>
              </a:rPr>
              <a:t>Simulating the Arches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676656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spc="200">
                <a:solidFill>
                  <a:srgbClr val="E0435A"/>
                </a:solidFill>
                <a:latin typeface="Open Sans"/>
              </a:rPr>
              <a:t>MANTIS SHRIMP · CB-TPU</a:t>
            </a:r>
          </a:p>
        </p:txBody>
      </p:sp>
      <p:pic>
        <p:nvPicPr>
          <p:cNvPr id="4" name="Printed two-bump model" descr="x-shrimp-pri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600200"/>
            <a:ext cx="3108960" cy="1825204"/>
          </a:xfrm>
          <a:prstGeom prst="rect">
            <a:avLst/>
          </a:prstGeom>
        </p:spPr>
      </p:pic>
      <p:sp>
        <p:nvSpPr>
          <p:cNvPr id="5" name="Quote"/>
          <p:cNvSpPr/>
          <p:nvPr/>
        </p:nvSpPr>
        <p:spPr>
          <a:xfrm>
            <a:off x="685800" y="3520440"/>
            <a:ext cx="3108960" cy="1097280"/>
          </a:xfrm>
          <a:prstGeom prst="rect">
            <a:avLst/>
          </a:prstGeom>
          <a:gradFill rotWithShape="1">
            <a:gsLst>
              <a:gs pos="0">
                <a:srgbClr val="B81E34"/>
              </a:gs>
              <a:gs pos="100000">
                <a:srgbClr val="8F1427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868680" y="3520440"/>
            <a:ext cx="2743200" cy="109728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Kanit"/>
              </a:rPr>
              <a:t>“It was squishy, so it could actually absorb force, but not too squishy that it can actually withstand stuff.”</a:t>
            </a:r>
          </a:p>
        </p:txBody>
      </p:sp>
      <p:graphicFrame>
        <p:nvGraphicFramePr>
          <p:cNvPr id="7" name="Chart: Force (N) vs Displacement (mm)" descr="Char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0012826"/>
              </p:ext>
            </p:extLst>
          </p:nvPr>
        </p:nvGraphicFramePr>
        <p:xfrm>
          <a:off x="4023360" y="1508760"/>
          <a:ext cx="4526280" cy="1600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8" name="Chart: Resistance (MΩ) vs Displacement (mm)" descr="Chart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53867156"/>
              </p:ext>
            </p:extLst>
          </p:nvPr>
        </p:nvGraphicFramePr>
        <p:xfrm>
          <a:off x="4023360" y="3108960"/>
          <a:ext cx="4526280" cy="16002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7315200" y="1481328"/>
            <a:ext cx="118872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750" b="0">
                <a:solidFill>
                  <a:srgbClr val="7E8089"/>
                </a:solidFill>
                <a:latin typeface="Open Sans"/>
              </a:rPr>
              <a:t>Average of 3 trials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896112"/>
            <a:ext cx="7772400" cy="566928"/>
          </a:xfrm>
        </p:spPr>
        <p:txBody>
          <a:bodyPr/>
          <a:lstStyle/>
          <a:p>
            <a:r>
              <a:rPr sz="2600" b="0">
                <a:solidFill>
                  <a:srgbClr val="FFFFFF"/>
                </a:solidFill>
                <a:latin typeface="Kanit"/>
              </a:rPr>
              <a:t>Final Result: The Two-Bump Arch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676656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spc="200">
                <a:solidFill>
                  <a:srgbClr val="E0435A"/>
                </a:solidFill>
                <a:latin typeface="Open Sans"/>
              </a:rPr>
              <a:t>PUTTING IT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85800" y="1645920"/>
            <a:ext cx="3574161" cy="124136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5000"/>
              </a:lnSpc>
              <a:spcAft>
                <a:spcPts val="1200"/>
              </a:spcAft>
            </a:pPr>
            <a:r>
              <a:rPr sz="1500" b="0" dirty="0">
                <a:solidFill>
                  <a:srgbClr val="FFFFFF"/>
                </a:solidFill>
                <a:latin typeface="Kanit"/>
              </a:rPr>
              <a:t>We tested our results by building a piece of armor from the data we collected.</a:t>
            </a:r>
          </a:p>
          <a:p>
            <a:pPr algn="l">
              <a:spcAft>
                <a:spcPts val="400"/>
              </a:spcAft>
            </a:pPr>
            <a:r>
              <a:rPr sz="1050" b="1" dirty="0">
                <a:solidFill>
                  <a:srgbClr val="E0435A"/>
                </a:solidFill>
                <a:latin typeface="Open Sans"/>
              </a:rPr>
              <a:t>Two models:</a:t>
            </a:r>
          </a:p>
          <a:p>
            <a:pPr marL="155448" indent="-155448" algn="l">
              <a:spcAft>
                <a:spcPts val="400"/>
              </a:spcAft>
              <a:buClr>
                <a:srgbClr val="E0435A"/>
              </a:buClr>
              <a:buFont typeface="Arial"/>
              <a:buChar char="•"/>
            </a:pPr>
            <a:r>
              <a:rPr sz="1100" b="0" dirty="0">
                <a:solidFill>
                  <a:srgbClr val="FFFFFF"/>
                </a:solidFill>
                <a:latin typeface="Open Sans"/>
              </a:rPr>
              <a:t>All PLA, using the finalized glass sponge design</a:t>
            </a:r>
          </a:p>
          <a:p>
            <a:pPr marL="155448" indent="-155448" algn="l">
              <a:spcAft>
                <a:spcPts val="400"/>
              </a:spcAft>
              <a:buClr>
                <a:srgbClr val="E0435A"/>
              </a:buClr>
              <a:buFont typeface="Arial"/>
              <a:buChar char="•"/>
            </a:pPr>
            <a:r>
              <a:rPr sz="1100" b="0" dirty="0">
                <a:solidFill>
                  <a:srgbClr val="FFFFFF"/>
                </a:solidFill>
                <a:latin typeface="Open Sans"/>
              </a:rPr>
              <a:t>A PLA and TPU mix, using the two-bump arch design</a:t>
            </a:r>
          </a:p>
        </p:txBody>
      </p:sp>
      <p:sp>
        <p:nvSpPr>
          <p:cNvPr id="5" name="Accent circle"/>
          <p:cNvSpPr/>
          <p:nvPr/>
        </p:nvSpPr>
        <p:spPr>
          <a:xfrm>
            <a:off x="5458968" y="886967"/>
            <a:ext cx="3529584" cy="3529584"/>
          </a:xfrm>
          <a:prstGeom prst="ellipse">
            <a:avLst/>
          </a:prstGeom>
          <a:noFill/>
          <a:ln w="15875">
            <a:solidFill>
              <a:srgbClr val="3B3C43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Accent circle"/>
          <p:cNvSpPr/>
          <p:nvPr/>
        </p:nvSpPr>
        <p:spPr>
          <a:xfrm>
            <a:off x="5806440" y="1234439"/>
            <a:ext cx="2834640" cy="2834640"/>
          </a:xfrm>
          <a:prstGeom prst="ellipse">
            <a:avLst/>
          </a:prstGeom>
          <a:solidFill>
            <a:srgbClr val="A6192E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896112"/>
            <a:ext cx="7772400" cy="566928"/>
          </a:xfrm>
        </p:spPr>
        <p:txBody>
          <a:bodyPr/>
          <a:lstStyle/>
          <a:p>
            <a:r>
              <a:rPr sz="2600" b="0">
                <a:solidFill>
                  <a:srgbClr val="FFFFFF"/>
                </a:solidFill>
                <a:latin typeface="Kanit"/>
              </a:rPr>
              <a:t>Our Final Prototype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82247E4-40AC-7207-752F-589B17195A95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b="21770"/>
          <a:stretch>
            <a:fillRect/>
          </a:stretch>
        </p:blipFill>
        <p:spPr>
          <a:xfrm>
            <a:off x="5806440" y="2506028"/>
            <a:ext cx="3074670" cy="240530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16F05EB-E32C-EB84-48AD-0212E9C5D12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b="21275"/>
          <a:stretch>
            <a:fillRect/>
          </a:stretch>
        </p:blipFill>
        <p:spPr>
          <a:xfrm>
            <a:off x="4607433" y="159163"/>
            <a:ext cx="3074670" cy="2420538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68141F4A-A8A2-2642-2066-1C3F44C54ABD}"/>
              </a:ext>
            </a:extLst>
          </p:cNvPr>
          <p:cNvSpPr txBox="1"/>
          <p:nvPr/>
        </p:nvSpPr>
        <p:spPr>
          <a:xfrm>
            <a:off x="6230597" y="435561"/>
            <a:ext cx="830677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MATERIAL: PLA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C503951-43AC-3C68-F81B-F8D8700DC100}"/>
              </a:ext>
            </a:extLst>
          </p:cNvPr>
          <p:cNvSpPr txBox="1"/>
          <p:nvPr/>
        </p:nvSpPr>
        <p:spPr>
          <a:xfrm>
            <a:off x="6474654" y="232166"/>
            <a:ext cx="95410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GLASS SPONGE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D23E685-AB1B-64A6-1EDD-E5B797195A7B}"/>
              </a:ext>
            </a:extLst>
          </p:cNvPr>
          <p:cNvSpPr txBox="1"/>
          <p:nvPr/>
        </p:nvSpPr>
        <p:spPr>
          <a:xfrm>
            <a:off x="7428761" y="2784213"/>
            <a:ext cx="1228221" cy="20005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7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MATERIAL: PLA/TPU MIX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86EEED14-D491-F6DD-F1BF-F6A3DA760405}"/>
              </a:ext>
            </a:extLst>
          </p:cNvPr>
          <p:cNvSpPr txBox="1"/>
          <p:nvPr/>
        </p:nvSpPr>
        <p:spPr>
          <a:xfrm>
            <a:off x="7686973" y="2579701"/>
            <a:ext cx="101822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solidFill>
                  <a:schemeClr val="tx1"/>
                </a:solidFill>
                <a:latin typeface="Consolas" panose="020B0609020204030204" pitchFamily="49" charset="0"/>
                <a:cs typeface="Consolas" panose="020B0609020204030204" pitchFamily="49" charset="0"/>
              </a:rPr>
              <a:t>MANTIS SHRIMP</a:t>
            </a:r>
          </a:p>
        </p:txBody>
      </p:sp>
      <p:pic>
        <p:nvPicPr>
          <p:cNvPr id="18" name="Graphic 17">
            <a:extLst>
              <a:ext uri="{FF2B5EF4-FFF2-40B4-BE49-F238E27FC236}">
                <a16:creationId xmlns:a16="http://schemas.microsoft.com/office/drawing/2014/main" id="{4A6BA6F8-1C5D-0AAD-12B9-D9D56FA650A6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6309928" y="288403"/>
            <a:ext cx="130627" cy="130627"/>
          </a:xfrm>
          <a:prstGeom prst="rect">
            <a:avLst/>
          </a:prstGeom>
        </p:spPr>
      </p:pic>
      <p:pic>
        <p:nvPicPr>
          <p:cNvPr id="19" name="Graphic 18">
            <a:extLst>
              <a:ext uri="{FF2B5EF4-FFF2-40B4-BE49-F238E27FC236}">
                <a16:creationId xmlns:a16="http://schemas.microsoft.com/office/drawing/2014/main" id="{E38025AA-91C9-D776-97FF-5E4C742FAED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 flipH="1">
            <a:off x="7512451" y="2641972"/>
            <a:ext cx="130627" cy="130627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ccent circle"/>
          <p:cNvSpPr/>
          <p:nvPr/>
        </p:nvSpPr>
        <p:spPr>
          <a:xfrm>
            <a:off x="1618488" y="429767"/>
            <a:ext cx="3803904" cy="3803904"/>
          </a:xfrm>
          <a:prstGeom prst="ellipse">
            <a:avLst/>
          </a:prstGeom>
          <a:noFill/>
          <a:ln w="15875">
            <a:solidFill>
              <a:srgbClr val="3B3C43">
                <a:alpha val="70000"/>
              </a:srgbClr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Accent circle"/>
          <p:cNvSpPr/>
          <p:nvPr/>
        </p:nvSpPr>
        <p:spPr>
          <a:xfrm>
            <a:off x="1965960" y="777239"/>
            <a:ext cx="3108960" cy="3108960"/>
          </a:xfrm>
          <a:prstGeom prst="ellipse">
            <a:avLst/>
          </a:prstGeom>
          <a:solidFill>
            <a:srgbClr val="A6192E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Section photo" descr="p-sec4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731520"/>
            <a:ext cx="3291840" cy="3657600"/>
          </a:xfrm>
          <a:prstGeom prst="rect">
            <a:avLst/>
          </a:prstGeom>
        </p:spPr>
      </p:pic>
      <p:sp>
        <p:nvSpPr>
          <p:cNvPr id="6" name="Teaser"/>
          <p:cNvSpPr/>
          <p:nvPr/>
        </p:nvSpPr>
        <p:spPr>
          <a:xfrm>
            <a:off x="2880360" y="3383280"/>
            <a:ext cx="2103120" cy="1005840"/>
          </a:xfrm>
          <a:prstGeom prst="rect">
            <a:avLst/>
          </a:prstGeom>
          <a:gradFill rotWithShape="1">
            <a:gsLst>
              <a:gs pos="0">
                <a:srgbClr val="B81E34"/>
              </a:gs>
              <a:gs pos="100000">
                <a:srgbClr val="8F1427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3035808" y="3383280"/>
            <a:ext cx="1810512" cy="100584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1150" b="0">
                <a:solidFill>
                  <a:srgbClr val="FFFFFF"/>
                </a:solidFill>
                <a:latin typeface="Kanit"/>
              </a:rPr>
              <a:t>What we learned and where it could go</a:t>
            </a:r>
          </a:p>
        </p:txBody>
      </p:sp>
      <p:sp>
        <p:nvSpPr>
          <p:cNvPr id="8" name="Photo credit"/>
          <p:cNvSpPr txBox="1"/>
          <p:nvPr/>
        </p:nvSpPr>
        <p:spPr>
          <a:xfrm>
            <a:off x="685800" y="4462272"/>
            <a:ext cx="320040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50" b="0">
                <a:solidFill>
                  <a:srgbClr val="7E8089"/>
                </a:solidFill>
                <a:latin typeface="Open Sans"/>
              </a:rPr>
              <a:t>Photo: Quilia / Unsplash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577840" y="914400"/>
            <a:ext cx="22860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6000" b="0">
                <a:solidFill>
                  <a:srgbClr val="E0435A"/>
                </a:solidFill>
                <a:latin typeface="Kanit"/>
              </a:rPr>
              <a:t>04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577840" y="3246120"/>
            <a:ext cx="292608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■"/>
            </a:pPr>
            <a:r>
              <a:rPr sz="1050" b="0">
                <a:solidFill>
                  <a:srgbClr val="B3B5BC"/>
                </a:solidFill>
                <a:latin typeface="Open Sans"/>
              </a:rPr>
              <a:t>Lessons learned</a:t>
            </a:r>
          </a:p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■"/>
            </a:pPr>
            <a:r>
              <a:rPr sz="1050" b="0">
                <a:solidFill>
                  <a:srgbClr val="B3B5BC"/>
                </a:solidFill>
                <a:latin typeface="Open Sans"/>
              </a:rPr>
              <a:t>Real-life applications</a:t>
            </a:r>
          </a:p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■"/>
            </a:pPr>
            <a:r>
              <a:rPr sz="1050" b="0">
                <a:solidFill>
                  <a:srgbClr val="B3B5BC"/>
                </a:solidFill>
                <a:latin typeface="Open Sans"/>
              </a:rPr>
              <a:t>Why this matters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77840" y="1874519"/>
            <a:ext cx="3108960" cy="1234440"/>
          </a:xfrm>
        </p:spPr>
        <p:txBody>
          <a:bodyPr/>
          <a:lstStyle/>
          <a:p>
            <a:r>
              <a:rPr sz="3400" b="0">
                <a:solidFill>
                  <a:srgbClr val="FFFFFF"/>
                </a:solidFill>
                <a:latin typeface="Kanit"/>
              </a:rPr>
              <a:t>Conclusion &amp; Takeaways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676656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spc="200">
                <a:solidFill>
                  <a:srgbClr val="E0435A"/>
                </a:solidFill>
                <a:latin typeface="Open Sans"/>
              </a:rPr>
              <a:t>REFLECTION</a:t>
            </a:r>
          </a:p>
        </p:txBody>
      </p:sp>
      <p:sp>
        <p:nvSpPr>
          <p:cNvPr id="4" name="Obstacles"/>
          <p:cNvSpPr/>
          <p:nvPr/>
        </p:nvSpPr>
        <p:spPr>
          <a:xfrm>
            <a:off x="685800" y="1645920"/>
            <a:ext cx="3749039" cy="2514600"/>
          </a:xfrm>
          <a:prstGeom prst="rect">
            <a:avLst/>
          </a:prstGeom>
          <a:solidFill>
            <a:srgbClr val="27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Accent"/>
          <p:cNvSpPr/>
          <p:nvPr/>
        </p:nvSpPr>
        <p:spPr>
          <a:xfrm>
            <a:off x="685800" y="1645920"/>
            <a:ext cx="3749039" cy="54864"/>
          </a:xfrm>
          <a:prstGeom prst="rect">
            <a:avLst/>
          </a:prstGeom>
          <a:solidFill>
            <a:srgbClr val="E043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1874519"/>
            <a:ext cx="3337560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E0435A"/>
                </a:solidFill>
                <a:latin typeface="Kanit"/>
              </a:rPr>
              <a:t>What got in the way</a:t>
            </a:r>
          </a:p>
          <a:p>
            <a:pPr marL="155448" indent="-155448" algn="l">
              <a:spcAft>
                <a:spcPts val="600"/>
              </a:spcAft>
              <a:buClr>
                <a:srgbClr val="E0435A"/>
              </a:buClr>
              <a:buFont typeface="Arial"/>
              <a:buChar char="•"/>
            </a:pPr>
            <a:r>
              <a:rPr sz="1150" b="0">
                <a:solidFill>
                  <a:srgbClr val="FFFFFF"/>
                </a:solidFill>
                <a:latin typeface="Open Sans"/>
              </a:rPr>
              <a:t>500 N gauge limit: the strongest models couldn't be broken</a:t>
            </a:r>
          </a:p>
          <a:p>
            <a:pPr marL="155448" indent="-155448" algn="l">
              <a:spcAft>
                <a:spcPts val="600"/>
              </a:spcAft>
              <a:buClr>
                <a:srgbClr val="E0435A"/>
              </a:buClr>
              <a:buFont typeface="Arial"/>
              <a:buChar char="•"/>
            </a:pPr>
            <a:r>
              <a:rPr sz="1150" b="0">
                <a:solidFill>
                  <a:srgbClr val="FFFFFF"/>
                </a:solidFill>
                <a:latin typeface="Open Sans"/>
              </a:rPr>
              <a:t>Hand-cranked loading, so the rate varied between trials</a:t>
            </a:r>
          </a:p>
          <a:p>
            <a:pPr marL="155448" indent="-155448" algn="l">
              <a:spcAft>
                <a:spcPts val="600"/>
              </a:spcAft>
              <a:buClr>
                <a:srgbClr val="E0435A"/>
              </a:buClr>
              <a:buFont typeface="Arial"/>
              <a:buChar char="•"/>
            </a:pPr>
            <a:r>
              <a:rPr sz="1150" b="0">
                <a:solidFill>
                  <a:srgbClr val="FFFFFF"/>
                </a:solidFill>
                <a:latin typeface="Open Sans"/>
              </a:rPr>
              <a:t>Testing software deleted several finished datasets</a:t>
            </a:r>
          </a:p>
          <a:p>
            <a:pPr marL="155448" indent="-155448" algn="l">
              <a:spcAft>
                <a:spcPts val="600"/>
              </a:spcAft>
              <a:buClr>
                <a:srgbClr val="E0435A"/>
              </a:buClr>
              <a:buFont typeface="Arial"/>
              <a:buChar char="•"/>
            </a:pPr>
            <a:r>
              <a:rPr sz="1150" b="0">
                <a:solidFill>
                  <a:srgbClr val="FFFFFF"/>
                </a:solidFill>
                <a:latin typeface="Open Sans"/>
              </a:rPr>
              <a:t>Identical prints gave different resistance readings</a:t>
            </a:r>
          </a:p>
        </p:txBody>
      </p:sp>
      <p:sp>
        <p:nvSpPr>
          <p:cNvPr id="7" name="Next"/>
          <p:cNvSpPr/>
          <p:nvPr/>
        </p:nvSpPr>
        <p:spPr>
          <a:xfrm>
            <a:off x="4709160" y="1645920"/>
            <a:ext cx="3749039" cy="2514600"/>
          </a:xfrm>
          <a:prstGeom prst="rect">
            <a:avLst/>
          </a:prstGeom>
          <a:gradFill rotWithShape="1">
            <a:gsLst>
              <a:gs pos="0">
                <a:srgbClr val="B81E34"/>
              </a:gs>
              <a:gs pos="100000">
                <a:srgbClr val="8F1427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4937760" y="1874519"/>
            <a:ext cx="3337560" cy="2606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FFFFFF"/>
                </a:solidFill>
                <a:latin typeface="Kanit"/>
              </a:rPr>
              <a:t>What's next</a:t>
            </a:r>
          </a:p>
          <a:p>
            <a:pPr marL="155448" indent="-155448" algn="l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150" b="0">
                <a:solidFill>
                  <a:srgbClr val="FFFFFF"/>
                </a:solidFill>
                <a:latin typeface="Open Sans"/>
              </a:rPr>
              <a:t>Try other materials: PETG and ABS</a:t>
            </a:r>
          </a:p>
          <a:p>
            <a:pPr marL="155448" indent="-155448" algn="l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150" b="0">
                <a:solidFill>
                  <a:srgbClr val="FFFFFF"/>
                </a:solidFill>
                <a:latin typeface="Open Sans"/>
              </a:rPr>
              <a:t>Motorized, automated loading for consistent tests</a:t>
            </a:r>
          </a:p>
          <a:p>
            <a:pPr marL="155448" indent="-155448" algn="l">
              <a:spcAft>
                <a:spcPts val="600"/>
              </a:spcAft>
              <a:buClr>
                <a:srgbClr val="FFFFFF"/>
              </a:buClr>
              <a:buFont typeface="Arial"/>
              <a:buChar char="•"/>
            </a:pPr>
            <a:r>
              <a:rPr sz="1150" b="0">
                <a:solidFill>
                  <a:srgbClr val="FFFFFF"/>
                </a:solidFill>
                <a:latin typeface="Open Sans"/>
              </a:rPr>
              <a:t>Aim: next-generation body armor, sports safety gear and medical prosthetics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896112"/>
            <a:ext cx="7772400" cy="566928"/>
          </a:xfrm>
        </p:spPr>
        <p:txBody>
          <a:bodyPr/>
          <a:lstStyle/>
          <a:p>
            <a:r>
              <a:rPr sz="2600" b="0">
                <a:solidFill>
                  <a:srgbClr val="FFFFFF"/>
                </a:solidFill>
                <a:latin typeface="Kanit"/>
              </a:rPr>
              <a:t>Lessons Learned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676656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spc="200">
                <a:solidFill>
                  <a:srgbClr val="E0435A"/>
                </a:solidFill>
                <a:latin typeface="Open Sans"/>
              </a:rPr>
              <a:t>WHERE IT COULD GO</a:t>
            </a:r>
          </a:p>
        </p:txBody>
      </p:sp>
      <p:sp>
        <p:nvSpPr>
          <p:cNvPr id="4" name="Sports"/>
          <p:cNvSpPr/>
          <p:nvPr/>
        </p:nvSpPr>
        <p:spPr>
          <a:xfrm>
            <a:off x="685800" y="1600200"/>
            <a:ext cx="1463040" cy="3017520"/>
          </a:xfrm>
          <a:prstGeom prst="rect">
            <a:avLst/>
          </a:prstGeom>
          <a:solidFill>
            <a:srgbClr val="27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Image tile"/>
          <p:cNvSpPr/>
          <p:nvPr/>
        </p:nvSpPr>
        <p:spPr>
          <a:xfrm>
            <a:off x="685800" y="1600200"/>
            <a:ext cx="1463040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6" name="Sports image"/>
          <p:cNvPicPr>
            <a:picLocks noChangeAspect="1"/>
          </p:cNvPicPr>
          <p:nvPr/>
        </p:nvPicPr>
        <p:blipFill>
          <a:blip r:embed="rId2"/>
          <a:srcRect l="22454" t="-1111" r="10417" b="1111"/>
          <a:stretch>
            <a:fillRect/>
          </a:stretch>
        </p:blipFill>
        <p:spPr>
          <a:xfrm>
            <a:off x="675655" y="1600200"/>
            <a:ext cx="1473183" cy="12344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" y="2944368"/>
            <a:ext cx="1243584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E0435A"/>
                </a:solidFill>
                <a:latin typeface="Kanit"/>
              </a:rPr>
              <a:t>Sports</a:t>
            </a:r>
          </a:p>
          <a:p>
            <a:pPr marL="155448" indent="-155448" algn="l">
              <a:spcAft>
                <a:spcPts val="200"/>
              </a:spcAft>
              <a:buClr>
                <a:srgbClr val="E0435A"/>
              </a:buClr>
              <a:buFont typeface="Arial"/>
              <a:buChar char="•"/>
            </a:pPr>
            <a:r>
              <a:rPr sz="850" b="0">
                <a:solidFill>
                  <a:srgbClr val="FFFFFF"/>
                </a:solidFill>
                <a:latin typeface="Open Sans"/>
              </a:rPr>
              <a:t>Shin guards</a:t>
            </a:r>
          </a:p>
          <a:p>
            <a:pPr marL="155448" indent="-155448" algn="l">
              <a:spcAft>
                <a:spcPts val="200"/>
              </a:spcAft>
              <a:buClr>
                <a:srgbClr val="E0435A"/>
              </a:buClr>
              <a:buFont typeface="Arial"/>
              <a:buChar char="•"/>
            </a:pPr>
            <a:r>
              <a:rPr sz="850" b="0">
                <a:solidFill>
                  <a:srgbClr val="FFFFFF"/>
                </a:solidFill>
                <a:latin typeface="Open Sans"/>
              </a:rPr>
              <a:t>Helmets</a:t>
            </a:r>
          </a:p>
          <a:p>
            <a:pPr marL="155448" indent="-155448" algn="l">
              <a:spcAft>
                <a:spcPts val="200"/>
              </a:spcAft>
              <a:buClr>
                <a:srgbClr val="E0435A"/>
              </a:buClr>
              <a:buFont typeface="Arial"/>
              <a:buChar char="•"/>
            </a:pPr>
            <a:r>
              <a:rPr sz="850" b="0">
                <a:solidFill>
                  <a:srgbClr val="FFFFFF"/>
                </a:solidFill>
                <a:latin typeface="Open Sans"/>
              </a:rPr>
              <a:t>Elbow and shoulder pads</a:t>
            </a:r>
          </a:p>
        </p:txBody>
      </p:sp>
      <p:sp>
        <p:nvSpPr>
          <p:cNvPr id="8" name="Military &amp; law enforcement"/>
          <p:cNvSpPr/>
          <p:nvPr/>
        </p:nvSpPr>
        <p:spPr>
          <a:xfrm>
            <a:off x="2258568" y="1600200"/>
            <a:ext cx="1463040" cy="3017520"/>
          </a:xfrm>
          <a:prstGeom prst="rect">
            <a:avLst/>
          </a:prstGeom>
          <a:solidFill>
            <a:srgbClr val="27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Image tile"/>
          <p:cNvSpPr/>
          <p:nvPr/>
        </p:nvSpPr>
        <p:spPr>
          <a:xfrm>
            <a:off x="2258568" y="1600200"/>
            <a:ext cx="1463040" cy="123444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0" name="Military &amp; law enforcement image"/>
          <p:cNvPicPr>
            <a:picLocks noChangeAspect="1"/>
          </p:cNvPicPr>
          <p:nvPr/>
        </p:nvPicPr>
        <p:blipFill>
          <a:blip r:embed="rId3"/>
          <a:srcRect l="1084" t="156" r="287" b="32766"/>
          <a:stretch>
            <a:fillRect/>
          </a:stretch>
        </p:blipFill>
        <p:spPr>
          <a:xfrm>
            <a:off x="2273486" y="1603078"/>
            <a:ext cx="1448119" cy="123156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2377439" y="2944368"/>
            <a:ext cx="1243584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E0435A"/>
                </a:solidFill>
                <a:latin typeface="Kanit"/>
              </a:rPr>
              <a:t>Military &amp; law enforcement</a:t>
            </a:r>
          </a:p>
          <a:p>
            <a:pPr marL="155448" indent="-155448" algn="l">
              <a:spcAft>
                <a:spcPts val="200"/>
              </a:spcAft>
              <a:buClr>
                <a:srgbClr val="E0435A"/>
              </a:buClr>
              <a:buFont typeface="Arial"/>
              <a:buChar char="•"/>
            </a:pPr>
            <a:r>
              <a:rPr sz="850" b="0">
                <a:solidFill>
                  <a:srgbClr val="FFFFFF"/>
                </a:solidFill>
                <a:latin typeface="Open Sans"/>
              </a:rPr>
              <a:t>Armor</a:t>
            </a:r>
          </a:p>
          <a:p>
            <a:pPr marL="155448" indent="-155448" algn="l">
              <a:spcAft>
                <a:spcPts val="200"/>
              </a:spcAft>
              <a:buClr>
                <a:srgbClr val="E0435A"/>
              </a:buClr>
              <a:buFont typeface="Arial"/>
              <a:buChar char="•"/>
            </a:pPr>
            <a:r>
              <a:rPr sz="850" b="0">
                <a:solidFill>
                  <a:srgbClr val="FFFFFF"/>
                </a:solidFill>
                <a:latin typeface="Open Sans"/>
              </a:rPr>
              <a:t>Protective vests</a:t>
            </a:r>
          </a:p>
        </p:txBody>
      </p:sp>
      <p:sp>
        <p:nvSpPr>
          <p:cNvPr id="12" name="Medical"/>
          <p:cNvSpPr/>
          <p:nvPr/>
        </p:nvSpPr>
        <p:spPr>
          <a:xfrm>
            <a:off x="3831335" y="1600200"/>
            <a:ext cx="1463040" cy="3017520"/>
          </a:xfrm>
          <a:prstGeom prst="rect">
            <a:avLst/>
          </a:prstGeom>
          <a:solidFill>
            <a:srgbClr val="27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950207" y="2944368"/>
            <a:ext cx="1243584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E0435A"/>
                </a:solidFill>
                <a:latin typeface="Kanit"/>
              </a:rPr>
              <a:t>Medical</a:t>
            </a:r>
          </a:p>
          <a:p>
            <a:pPr marL="155448" indent="-155448" algn="l">
              <a:spcAft>
                <a:spcPts val="200"/>
              </a:spcAft>
              <a:buClr>
                <a:srgbClr val="E0435A"/>
              </a:buClr>
              <a:buFont typeface="Arial"/>
              <a:buChar char="•"/>
            </a:pPr>
            <a:r>
              <a:rPr sz="850" b="0">
                <a:solidFill>
                  <a:srgbClr val="FFFFFF"/>
                </a:solidFill>
                <a:latin typeface="Open Sans"/>
              </a:rPr>
              <a:t>Stronger, durable prosthetics</a:t>
            </a:r>
          </a:p>
          <a:p>
            <a:pPr marL="155448" indent="-155448" algn="l">
              <a:spcAft>
                <a:spcPts val="200"/>
              </a:spcAft>
              <a:buClr>
                <a:srgbClr val="E0435A"/>
              </a:buClr>
              <a:buFont typeface="Arial"/>
              <a:buChar char="•"/>
            </a:pPr>
            <a:r>
              <a:rPr sz="850" b="0">
                <a:solidFill>
                  <a:srgbClr val="FFFFFF"/>
                </a:solidFill>
                <a:latin typeface="Open Sans"/>
              </a:rPr>
              <a:t>Monitor movement, detect falls</a:t>
            </a:r>
          </a:p>
        </p:txBody>
      </p:sp>
      <p:sp>
        <p:nvSpPr>
          <p:cNvPr id="16" name="Transportation"/>
          <p:cNvSpPr/>
          <p:nvPr/>
        </p:nvSpPr>
        <p:spPr>
          <a:xfrm>
            <a:off x="5404104" y="1600200"/>
            <a:ext cx="1463040" cy="3017520"/>
          </a:xfrm>
          <a:prstGeom prst="rect">
            <a:avLst/>
          </a:prstGeom>
          <a:solidFill>
            <a:srgbClr val="27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5522976" y="2944368"/>
            <a:ext cx="1243584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E0435A"/>
                </a:solidFill>
                <a:latin typeface="Kanit"/>
              </a:rPr>
              <a:t>Transportation</a:t>
            </a:r>
          </a:p>
          <a:p>
            <a:pPr marL="155448" indent="-155448" algn="l">
              <a:spcAft>
                <a:spcPts val="200"/>
              </a:spcAft>
              <a:buClr>
                <a:srgbClr val="E0435A"/>
              </a:buClr>
              <a:buFont typeface="Arial"/>
              <a:buChar char="•"/>
            </a:pPr>
            <a:r>
              <a:rPr sz="850" b="0">
                <a:solidFill>
                  <a:srgbClr val="FFFFFF"/>
                </a:solidFill>
                <a:latin typeface="Open Sans"/>
              </a:rPr>
              <a:t>Monitor stress and damage during vehicle operation</a:t>
            </a:r>
          </a:p>
        </p:txBody>
      </p:sp>
      <p:sp>
        <p:nvSpPr>
          <p:cNvPr id="20" name="Machines"/>
          <p:cNvSpPr/>
          <p:nvPr/>
        </p:nvSpPr>
        <p:spPr>
          <a:xfrm>
            <a:off x="6976872" y="1600200"/>
            <a:ext cx="1463040" cy="3017520"/>
          </a:xfrm>
          <a:prstGeom prst="rect">
            <a:avLst/>
          </a:prstGeom>
          <a:solidFill>
            <a:srgbClr val="27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7095744" y="2944368"/>
            <a:ext cx="1243584" cy="1645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95000"/>
              </a:lnSpc>
              <a:spcAft>
                <a:spcPts val="400"/>
              </a:spcAft>
            </a:pPr>
            <a:r>
              <a:rPr sz="1100" b="0">
                <a:solidFill>
                  <a:srgbClr val="E0435A"/>
                </a:solidFill>
                <a:latin typeface="Kanit"/>
              </a:rPr>
              <a:t>Machines</a:t>
            </a:r>
          </a:p>
          <a:p>
            <a:pPr marL="155448" indent="-155448" algn="l">
              <a:spcAft>
                <a:spcPts val="200"/>
              </a:spcAft>
              <a:buClr>
                <a:srgbClr val="E0435A"/>
              </a:buClr>
              <a:buFont typeface="Arial"/>
              <a:buChar char="•"/>
            </a:pPr>
            <a:r>
              <a:rPr sz="850" b="0">
                <a:solidFill>
                  <a:srgbClr val="FFFFFF"/>
                </a:solidFill>
                <a:latin typeface="Open Sans"/>
              </a:rPr>
              <a:t>Better protection against outside elements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896112"/>
            <a:ext cx="7772400" cy="566928"/>
          </a:xfrm>
        </p:spPr>
        <p:txBody>
          <a:bodyPr/>
          <a:lstStyle/>
          <a:p>
            <a:r>
              <a:rPr sz="2600" b="0">
                <a:solidFill>
                  <a:srgbClr val="FFFFFF"/>
                </a:solidFill>
                <a:latin typeface="Kanit"/>
              </a:rPr>
              <a:t>Real-Life Applications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232673FD-F360-392F-0EC9-31FD62298108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15175" r="-533"/>
          <a:stretch>
            <a:fillRect/>
          </a:stretch>
        </p:blipFill>
        <p:spPr>
          <a:xfrm>
            <a:off x="6976872" y="1600200"/>
            <a:ext cx="1463040" cy="1234440"/>
          </a:xfrm>
          <a:prstGeom prst="rect">
            <a:avLst/>
          </a:prstGeom>
        </p:spPr>
      </p:pic>
      <p:pic>
        <p:nvPicPr>
          <p:cNvPr id="28" name="Picture 27">
            <a:extLst>
              <a:ext uri="{FF2B5EF4-FFF2-40B4-BE49-F238E27FC236}">
                <a16:creationId xmlns:a16="http://schemas.microsoft.com/office/drawing/2014/main" id="{A21DCE56-7D6B-E9CD-C9C3-6783664F215C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22673" r="8721"/>
          <a:stretch>
            <a:fillRect/>
          </a:stretch>
        </p:blipFill>
        <p:spPr>
          <a:xfrm>
            <a:off x="5401623" y="1600200"/>
            <a:ext cx="1463040" cy="1233305"/>
          </a:xfrm>
          <a:prstGeom prst="rect">
            <a:avLst/>
          </a:prstGeom>
        </p:spPr>
      </p:pic>
      <p:pic>
        <p:nvPicPr>
          <p:cNvPr id="30" name="Picture 29">
            <a:extLst>
              <a:ext uri="{FF2B5EF4-FFF2-40B4-BE49-F238E27FC236}">
                <a16:creationId xmlns:a16="http://schemas.microsoft.com/office/drawing/2014/main" id="{6C6A1FB1-EA6A-86A5-F5B7-83CF16019DBF}"/>
              </a:ext>
            </a:extLst>
          </p:cNvPr>
          <p:cNvPicPr>
            <a:picLocks noChangeAspect="1"/>
          </p:cNvPicPr>
          <p:nvPr/>
        </p:nvPicPr>
        <p:blipFill>
          <a:blip r:embed="rId6"/>
          <a:srcRect l="-724" t="36017" r="724" b="5277"/>
          <a:stretch>
            <a:fillRect/>
          </a:stretch>
        </p:blipFill>
        <p:spPr>
          <a:xfrm>
            <a:off x="3857244" y="1600200"/>
            <a:ext cx="1400556" cy="1233305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676656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spc="200">
                <a:solidFill>
                  <a:srgbClr val="E0435A"/>
                </a:solidFill>
                <a:latin typeface="Open Sans"/>
              </a:rPr>
              <a:t>IMPACT</a:t>
            </a:r>
          </a:p>
        </p:txBody>
      </p:sp>
      <p:sp>
        <p:nvSpPr>
          <p:cNvPr id="4" name="Icon tile"/>
          <p:cNvSpPr/>
          <p:nvPr/>
        </p:nvSpPr>
        <p:spPr>
          <a:xfrm>
            <a:off x="685800" y="1645920"/>
            <a:ext cx="685800" cy="685800"/>
          </a:xfrm>
          <a:prstGeom prst="rect">
            <a:avLst/>
          </a:prstGeom>
          <a:gradFill rotWithShape="1">
            <a:gsLst>
              <a:gs pos="0">
                <a:srgbClr val="B81E34"/>
              </a:gs>
              <a:gs pos="100000">
                <a:srgbClr val="8F1427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Built-in health check icon" descr="icon1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95528" y="1755648"/>
            <a:ext cx="466344" cy="46634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581912" y="1627632"/>
            <a:ext cx="28346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Kanit"/>
              </a:rPr>
              <a:t>Built-in health check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B3B5BC"/>
                </a:solidFill>
                <a:latin typeface="Open Sans"/>
              </a:rPr>
              <a:t>Armor that reports its own damage, without lab equipment</a:t>
            </a:r>
          </a:p>
        </p:txBody>
      </p:sp>
      <p:sp>
        <p:nvSpPr>
          <p:cNvPr id="7" name="Icon tile"/>
          <p:cNvSpPr/>
          <p:nvPr/>
        </p:nvSpPr>
        <p:spPr>
          <a:xfrm>
            <a:off x="4617720" y="1645920"/>
            <a:ext cx="685800" cy="685800"/>
          </a:xfrm>
          <a:prstGeom prst="rect">
            <a:avLst/>
          </a:prstGeom>
          <a:gradFill rotWithShape="1">
            <a:gsLst>
              <a:gs pos="0">
                <a:srgbClr val="B81E34"/>
              </a:gs>
              <a:gs pos="100000">
                <a:srgbClr val="8F1427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Light and custom-fit icon" descr="icon2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27448" y="1755648"/>
            <a:ext cx="466344" cy="46634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513831" y="1627632"/>
            <a:ext cx="28346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Kanit"/>
              </a:rPr>
              <a:t>Light and custom-fit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B3B5BC"/>
                </a:solidFill>
                <a:latin typeface="Open Sans"/>
              </a:rPr>
              <a:t>3D printing makes complex lattices practical and lets armor be shaped to the wearer</a:t>
            </a:r>
          </a:p>
        </p:txBody>
      </p:sp>
      <p:sp>
        <p:nvSpPr>
          <p:cNvPr id="10" name="Icon tile"/>
          <p:cNvSpPr/>
          <p:nvPr/>
        </p:nvSpPr>
        <p:spPr>
          <a:xfrm>
            <a:off x="685800" y="3108960"/>
            <a:ext cx="685800" cy="685800"/>
          </a:xfrm>
          <a:prstGeom prst="rect">
            <a:avLst/>
          </a:prstGeom>
          <a:gradFill rotWithShape="1">
            <a:gsLst>
              <a:gs pos="0">
                <a:srgbClr val="B81E34"/>
              </a:gs>
              <a:gs pos="100000">
                <a:srgbClr val="8F1427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1" name="Beyond the battlefield icon" descr="icon3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5528" y="3218688"/>
            <a:ext cx="466344" cy="4663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581912" y="3090672"/>
            <a:ext cx="28346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Kanit"/>
              </a:rPr>
              <a:t>Beyond the battlefield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B3B5BC"/>
                </a:solidFill>
                <a:latin typeface="Open Sans"/>
              </a:rPr>
              <a:t>Sports safety gear and medical prosthetics could use the same idea</a:t>
            </a:r>
          </a:p>
        </p:txBody>
      </p:sp>
      <p:sp>
        <p:nvSpPr>
          <p:cNvPr id="13" name="Icon tile"/>
          <p:cNvSpPr/>
          <p:nvPr/>
        </p:nvSpPr>
        <p:spPr>
          <a:xfrm>
            <a:off x="4617720" y="3108960"/>
            <a:ext cx="685800" cy="685800"/>
          </a:xfrm>
          <a:prstGeom prst="rect">
            <a:avLst/>
          </a:prstGeom>
          <a:gradFill rotWithShape="1">
            <a:gsLst>
              <a:gs pos="0">
                <a:srgbClr val="B81E34"/>
              </a:gs>
              <a:gs pos="100000">
                <a:srgbClr val="8F1427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4" name="Nature as engineer icon" descr="icon4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7448" y="3218688"/>
            <a:ext cx="466344" cy="46634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513831" y="3090672"/>
            <a:ext cx="283464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00" b="0">
                <a:solidFill>
                  <a:srgbClr val="FFFFFF"/>
                </a:solidFill>
                <a:latin typeface="Kanit"/>
              </a:rPr>
              <a:t>Nature as engineer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B3B5BC"/>
                </a:solidFill>
                <a:latin typeface="Open Sans"/>
              </a:rPr>
              <a:t>Sponges and shrimp solved strength-per-weight long ago. We can borrow their designs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896112"/>
            <a:ext cx="7772400" cy="566928"/>
          </a:xfrm>
        </p:spPr>
        <p:txBody>
          <a:bodyPr/>
          <a:lstStyle/>
          <a:p>
            <a:r>
              <a:rPr sz="2600" b="0">
                <a:solidFill>
                  <a:srgbClr val="FFFFFF"/>
                </a:solidFill>
                <a:latin typeface="Kanit"/>
              </a:rPr>
              <a:t>Why This Matters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676656"/>
            <a:ext cx="4572000" cy="13080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lang="en-US" sz="850" b="0" spc="200">
                <a:solidFill>
                  <a:srgbClr val="E0435A"/>
                </a:solidFill>
                <a:latin typeface="Open Sans"/>
              </a:rPr>
              <a:t>VBR RESEARCH CAMP</a:t>
            </a:r>
            <a:endParaRPr sz="850" b="0" spc="200">
              <a:solidFill>
                <a:srgbClr val="E0435A"/>
              </a:solidFill>
              <a:latin typeface="Open Sans"/>
            </a:endParaRPr>
          </a:p>
        </p:txBody>
      </p:sp>
      <p:sp>
        <p:nvSpPr>
          <p:cNvPr id="4" name="Accent circle"/>
          <p:cNvSpPr/>
          <p:nvPr/>
        </p:nvSpPr>
        <p:spPr>
          <a:xfrm>
            <a:off x="3383280" y="3474720"/>
            <a:ext cx="1371600" cy="1371600"/>
          </a:xfrm>
          <a:prstGeom prst="ellipse">
            <a:avLst/>
          </a:prstGeom>
          <a:solidFill>
            <a:srgbClr val="A6192E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Generated research-lab illustration"/>
          <p:cNvPicPr>
            <a:picLocks noChangeAspect="1"/>
          </p:cNvPicPr>
          <p:nvPr/>
        </p:nvPicPr>
        <p:blipFill>
          <a:blip r:embed="rId3"/>
          <a:srcRect l="6557" t="10069" r="5105" b="1594"/>
          <a:stretch>
            <a:fillRect/>
          </a:stretch>
        </p:blipFill>
        <p:spPr>
          <a:xfrm>
            <a:off x="685800" y="1600200"/>
            <a:ext cx="3749039" cy="2811779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6" name="TextBox 5"/>
          <p:cNvSpPr txBox="1"/>
          <p:nvPr/>
        </p:nvSpPr>
        <p:spPr>
          <a:xfrm>
            <a:off x="4800599" y="1600200"/>
            <a:ext cx="3806125" cy="23544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850" b="0" spc="200" dirty="0">
                <a:solidFill>
                  <a:srgbClr val="E0435A"/>
                </a:solidFill>
                <a:latin typeface="Open Sans"/>
              </a:rPr>
              <a:t>A TYPICAL DAY</a:t>
            </a:r>
          </a:p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•"/>
            </a:pPr>
            <a:r>
              <a:rPr sz="1000" b="0" dirty="0">
                <a:solidFill>
                  <a:srgbClr val="FFFFFF"/>
                </a:solidFill>
                <a:latin typeface="Open Sans"/>
              </a:rPr>
              <a:t>About an hour of instruction from Dr. Yang</a:t>
            </a:r>
          </a:p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•"/>
            </a:pPr>
            <a:r>
              <a:rPr sz="1000" b="0" dirty="0">
                <a:solidFill>
                  <a:srgbClr val="FFFFFF"/>
                </a:solidFill>
                <a:latin typeface="Open Sans"/>
              </a:rPr>
              <a:t>Small teams run experiments with teaching assistants</a:t>
            </a:r>
          </a:p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•"/>
            </a:pPr>
            <a:r>
              <a:rPr sz="1000" b="0" dirty="0">
                <a:solidFill>
                  <a:srgbClr val="FFFFFF"/>
                </a:solidFill>
                <a:latin typeface="Open Sans"/>
              </a:rPr>
              <a:t>Roles rotate: experiments, data, analysis, slides</a:t>
            </a:r>
          </a:p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•"/>
            </a:pPr>
            <a:r>
              <a:rPr sz="1000" b="0" dirty="0">
                <a:solidFill>
                  <a:srgbClr val="FFFFFF"/>
                </a:solidFill>
                <a:latin typeface="Open Sans"/>
              </a:rPr>
              <a:t>Dr. Yang checks in with every group</a:t>
            </a:r>
          </a:p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•"/>
            </a:pPr>
            <a:r>
              <a:rPr sz="1000" b="0" dirty="0">
                <a:solidFill>
                  <a:srgbClr val="FFFFFF"/>
                </a:solidFill>
                <a:latin typeface="Open Sans"/>
              </a:rPr>
              <a:t>Around 4 PM, each team reviews results and slides with him</a:t>
            </a:r>
          </a:p>
          <a:p>
            <a:pPr algn="l">
              <a:spcAft>
                <a:spcPts val="300"/>
              </a:spcAft>
            </a:pPr>
            <a:r>
              <a:rPr sz="850" b="0" spc="200" dirty="0">
                <a:solidFill>
                  <a:srgbClr val="E0435A"/>
                </a:solidFill>
                <a:latin typeface="Open Sans"/>
              </a:rPr>
              <a:t>GUEST SEMINARS</a:t>
            </a:r>
          </a:p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•"/>
            </a:pPr>
            <a:r>
              <a:rPr sz="1000" b="0" dirty="0">
                <a:solidFill>
                  <a:srgbClr val="FFFFFF"/>
                </a:solidFill>
                <a:latin typeface="Open Sans"/>
              </a:rPr>
              <a:t>Stanford, UW–Madison and USC researchers on multi-material 3D printing, adaptive materials and ultrasound</a:t>
            </a:r>
            <a:endParaRPr lang="en-US" sz="1000" b="0" dirty="0">
              <a:solidFill>
                <a:srgbClr val="FFFFFF"/>
              </a:solidFill>
              <a:latin typeface="Open Sans"/>
            </a:endParaRPr>
          </a:p>
          <a:p>
            <a:pPr>
              <a:spcAft>
                <a:spcPts val="300"/>
              </a:spcAft>
            </a:pPr>
            <a:r>
              <a:rPr lang="en-US" sz="850" spc="200" dirty="0">
                <a:solidFill>
                  <a:srgbClr val="E0435A"/>
                </a:solidFill>
                <a:latin typeface="Open Sans"/>
              </a:rPr>
              <a:t>SCHEDULE</a:t>
            </a:r>
          </a:p>
          <a:p>
            <a:pPr marL="155448" indent="-155448">
              <a:spcAft>
                <a:spcPts val="300"/>
              </a:spcAft>
              <a:buClr>
                <a:srgbClr val="E0435A"/>
              </a:buClr>
              <a:buFont typeface="Arial"/>
              <a:buChar char="•"/>
            </a:pPr>
            <a:r>
              <a:rPr lang="en-US" sz="1000" dirty="0">
                <a:solidFill>
                  <a:srgbClr val="FFFFFF"/>
                </a:solidFill>
                <a:latin typeface="Open Sans"/>
              </a:rPr>
              <a:t>3 weeks of in-person labs and experiments</a:t>
            </a:r>
          </a:p>
          <a:p>
            <a:pPr marL="155448" indent="-155448">
              <a:spcAft>
                <a:spcPts val="300"/>
              </a:spcAft>
              <a:buClr>
                <a:srgbClr val="E0435A"/>
              </a:buClr>
              <a:buFont typeface="Arial"/>
              <a:buChar char="•"/>
            </a:pPr>
            <a:r>
              <a:rPr lang="en-US" sz="1000" dirty="0">
                <a:solidFill>
                  <a:srgbClr val="FFFFFF"/>
                </a:solidFill>
                <a:latin typeface="Open Sans"/>
              </a:rPr>
              <a:t>6 weeks of paper writing for publication</a:t>
            </a:r>
          </a:p>
          <a:p>
            <a:pPr marL="155448" indent="-155448" algn="l">
              <a:spcAft>
                <a:spcPts val="300"/>
              </a:spcAft>
              <a:buClr>
                <a:srgbClr val="E0435A"/>
              </a:buClr>
              <a:buFont typeface="Arial"/>
              <a:buChar char="•"/>
            </a:pPr>
            <a:endParaRPr sz="1000" b="0" dirty="0">
              <a:solidFill>
                <a:srgbClr val="FFFFFF"/>
              </a:solidFill>
              <a:latin typeface="Open Sans"/>
            </a:endParaRP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896112"/>
            <a:ext cx="7772400" cy="566928"/>
          </a:xfrm>
        </p:spPr>
        <p:txBody>
          <a:bodyPr/>
          <a:lstStyle/>
          <a:p>
            <a:r>
              <a:rPr sz="2600" b="0">
                <a:solidFill>
                  <a:srgbClr val="FFFFFF"/>
                </a:solidFill>
                <a:latin typeface="Kanit"/>
              </a:rPr>
              <a:t>Behind the Research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/>
          <p:cNvSpPr txBox="1"/>
          <p:nvPr/>
        </p:nvSpPr>
        <p:spPr>
          <a:xfrm>
            <a:off x="685800" y="676656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spc="200">
                <a:solidFill>
                  <a:srgbClr val="E0435A"/>
                </a:solidFill>
                <a:latin typeface="Open Sans"/>
              </a:rPr>
              <a:t>SUMMARY</a:t>
            </a:r>
          </a:p>
        </p:txBody>
      </p:sp>
      <p:sp>
        <p:nvSpPr>
          <p:cNvPr id="4" name="Stat 456.73 N"/>
          <p:cNvSpPr/>
          <p:nvPr/>
        </p:nvSpPr>
        <p:spPr>
          <a:xfrm>
            <a:off x="685800" y="1645920"/>
            <a:ext cx="1810512" cy="1874519"/>
          </a:xfrm>
          <a:prstGeom prst="rect">
            <a:avLst/>
          </a:prstGeom>
          <a:gradFill rotWithShape="1">
            <a:gsLst>
              <a:gs pos="0">
                <a:srgbClr val="B81E34"/>
              </a:gs>
              <a:gs pos="100000">
                <a:srgbClr val="8F1427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50392" y="1828800"/>
            <a:ext cx="1508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FFFFFF"/>
                </a:solidFill>
                <a:latin typeface="Kanit"/>
              </a:rPr>
              <a:t>456.73 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50392" y="2359152"/>
            <a:ext cx="15087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FFFFFF"/>
                </a:solidFill>
                <a:latin typeface="Open Sans"/>
              </a:rPr>
              <a:t>1.0 mm lines were strongest in Round 1, about 48% stronger than a plain grid</a:t>
            </a:r>
          </a:p>
        </p:txBody>
      </p:sp>
      <p:sp>
        <p:nvSpPr>
          <p:cNvPr id="7" name="Stat 0.57 kΩ"/>
          <p:cNvSpPr/>
          <p:nvPr/>
        </p:nvSpPr>
        <p:spPr>
          <a:xfrm>
            <a:off x="2651760" y="1828800"/>
            <a:ext cx="1810512" cy="1874519"/>
          </a:xfrm>
          <a:prstGeom prst="rect">
            <a:avLst/>
          </a:prstGeom>
          <a:solidFill>
            <a:srgbClr val="27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2816352" y="2011680"/>
            <a:ext cx="1508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E0435A"/>
                </a:solidFill>
                <a:latin typeface="Kanit"/>
              </a:rPr>
              <a:t>0.57 kΩ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16352" y="2542032"/>
            <a:ext cx="15087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B3B5BC"/>
                </a:solidFill>
                <a:latin typeface="Open Sans"/>
              </a:rPr>
              <a:t>1.0 mm also gave the biggest resistance change in Round 1</a:t>
            </a:r>
          </a:p>
        </p:txBody>
      </p:sp>
      <p:sp>
        <p:nvSpPr>
          <p:cNvPr id="10" name="Stat 493.73 N"/>
          <p:cNvSpPr/>
          <p:nvPr/>
        </p:nvSpPr>
        <p:spPr>
          <a:xfrm>
            <a:off x="4617720" y="1645920"/>
            <a:ext cx="1810512" cy="1874519"/>
          </a:xfrm>
          <a:prstGeom prst="rect">
            <a:avLst/>
          </a:prstGeom>
          <a:gradFill rotWithShape="1">
            <a:gsLst>
              <a:gs pos="0">
                <a:srgbClr val="B81E34"/>
              </a:gs>
              <a:gs pos="100000">
                <a:srgbClr val="8F1427"/>
              </a:gs>
            </a:gsLst>
            <a:lin ang="540000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782312" y="1828800"/>
            <a:ext cx="1508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FFFFFF"/>
                </a:solidFill>
                <a:latin typeface="Kanit"/>
              </a:rPr>
              <a:t>493.73 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82312" y="2359152"/>
            <a:ext cx="15087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FFFFFF"/>
                </a:solidFill>
                <a:latin typeface="Open Sans"/>
              </a:rPr>
              <a:t>A +0.5 mm spacing offset made the strongest lattice of all</a:t>
            </a:r>
          </a:p>
        </p:txBody>
      </p:sp>
      <p:sp>
        <p:nvSpPr>
          <p:cNvPr id="13" name="Stat 131.67 N"/>
          <p:cNvSpPr/>
          <p:nvPr/>
        </p:nvSpPr>
        <p:spPr>
          <a:xfrm>
            <a:off x="6583679" y="1828800"/>
            <a:ext cx="1810512" cy="1874519"/>
          </a:xfrm>
          <a:prstGeom prst="rect">
            <a:avLst/>
          </a:prstGeom>
          <a:solidFill>
            <a:srgbClr val="27282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748271" y="2011680"/>
            <a:ext cx="150876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200" b="0">
                <a:solidFill>
                  <a:srgbClr val="E0435A"/>
                </a:solidFill>
                <a:latin typeface="Kanit"/>
              </a:rPr>
              <a:t>131.67 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748271" y="2542032"/>
            <a:ext cx="1508760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950" b="0">
                <a:solidFill>
                  <a:srgbClr val="B3B5BC"/>
                </a:solidFill>
                <a:latin typeface="Open Sans"/>
              </a:rPr>
              <a:t>Two wide TPU arches carried the most load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931920"/>
            <a:ext cx="777240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Kanit"/>
              </a:rPr>
              <a:t>3D-printed, bio-inspired lattices in conductive plastic can carry real loads and signal stress through changes in their own resistance.</a:t>
            </a:r>
          </a:p>
          <a:p>
            <a:pPr algn="l">
              <a:spcAft>
                <a:spcPts val="400"/>
              </a:spcAft>
            </a:pPr>
            <a:r>
              <a:rPr sz="1000" b="0">
                <a:solidFill>
                  <a:srgbClr val="B3B5BC"/>
                </a:solidFill>
                <a:latin typeface="Open Sans"/>
              </a:rPr>
              <a:t>Strength and sensitivity trade off, so designs must balance both.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896112"/>
            <a:ext cx="7772400" cy="566928"/>
          </a:xfrm>
        </p:spPr>
        <p:txBody>
          <a:bodyPr/>
          <a:lstStyle/>
          <a:p>
            <a:r>
              <a:rPr sz="2600" b="0">
                <a:solidFill>
                  <a:srgbClr val="FFFFFF"/>
                </a:solidFill>
                <a:latin typeface="Kanit"/>
              </a:rPr>
              <a:t>What We Found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Honeycomb photo" descr="p-honey-ful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  <p:sp>
        <p:nvSpPr>
          <p:cNvPr id="4" name="Gradient overlay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gradFill rotWithShape="1">
            <a:gsLst>
              <a:gs pos="0">
                <a:srgbClr val="0C0C0E">
                  <a:alpha val="90000"/>
                </a:srgbClr>
              </a:gs>
              <a:gs pos="55000">
                <a:srgbClr val="232328">
                  <a:alpha val="75000"/>
                </a:srgbClr>
              </a:gs>
              <a:gs pos="100000">
                <a:srgbClr val="A6192E">
                  <a:alpha val="55000"/>
                </a:srgbClr>
              </a:gs>
            </a:gsLst>
            <a:lin ang="0" scaled="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85800" y="1371600"/>
            <a:ext cx="4572000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850" b="0" spc="200">
                <a:solidFill>
                  <a:srgbClr val="FFFFFF"/>
                </a:solidFill>
                <a:latin typeface="Open Sans"/>
              </a:rPr>
              <a:t>VBR MECHANICAL ENGINEERING TEAM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606040"/>
            <a:ext cx="54864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0">
                <a:solidFill>
                  <a:srgbClr val="E0435A"/>
                </a:solidFill>
                <a:latin typeface="Kanit"/>
              </a:rPr>
              <a:t>Questions?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200400"/>
            <a:ext cx="54864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1">
                <a:solidFill>
                  <a:srgbClr val="FFFFFF"/>
                </a:solidFill>
                <a:latin typeface="Open Sans"/>
              </a:rPr>
              <a:t>Emmet · Raina · Jayden · Jaycen · Peggy</a:t>
            </a:r>
          </a:p>
          <a:p>
            <a:pPr algn="l">
              <a:spcAft>
                <a:spcPts val="400"/>
              </a:spcAft>
            </a:pPr>
            <a:r>
              <a:rPr sz="950" b="0">
                <a:solidFill>
                  <a:srgbClr val="E6E6EA"/>
                </a:solidFill>
                <a:latin typeface="Open Sans"/>
              </a:rPr>
              <a:t>With thanks to Dr. Yang Yang, our TA Preston, and Victory Bell Education &amp; Research</a:t>
            </a:r>
          </a:p>
        </p:txBody>
      </p:sp>
      <p:sp>
        <p:nvSpPr>
          <p:cNvPr id="8" name="Logo chip"/>
          <p:cNvSpPr/>
          <p:nvPr/>
        </p:nvSpPr>
        <p:spPr>
          <a:xfrm>
            <a:off x="685800" y="4160520"/>
            <a:ext cx="3207170" cy="4572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9" name="Logo" descr="sdsu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4251959"/>
            <a:ext cx="822959" cy="274320"/>
          </a:xfrm>
          <a:prstGeom prst="rect">
            <a:avLst/>
          </a:prstGeom>
        </p:spPr>
      </p:pic>
      <p:pic>
        <p:nvPicPr>
          <p:cNvPr id="10" name="Logo" descr="logo-yanglab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56231" y="4251959"/>
            <a:ext cx="892551" cy="274320"/>
          </a:xfrm>
          <a:prstGeom prst="rect">
            <a:avLst/>
          </a:prstGeom>
        </p:spPr>
      </p:pic>
      <p:pic>
        <p:nvPicPr>
          <p:cNvPr id="11" name="Logo" descr="vb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913375" y="4251959"/>
            <a:ext cx="796715" cy="274320"/>
          </a:xfrm>
          <a:prstGeom prst="rect">
            <a:avLst/>
          </a:prstGeom>
        </p:spPr>
      </p:pic>
      <p:sp>
        <p:nvSpPr>
          <p:cNvPr id="12" name="Photo credit"/>
          <p:cNvSpPr txBox="1"/>
          <p:nvPr/>
        </p:nvSpPr>
        <p:spPr>
          <a:xfrm>
            <a:off x="6400800" y="4873752"/>
            <a:ext cx="2560320" cy="1463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650" b="0">
                <a:solidFill>
                  <a:srgbClr val="E6E6EA"/>
                </a:solidFill>
                <a:latin typeface="Open Sans"/>
              </a:rPr>
              <a:t>Photo: Victoria Druc / Unsplash</a:t>
            </a:r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5800" y="1600200"/>
            <a:ext cx="5486400" cy="914400"/>
          </a:xfrm>
        </p:spPr>
        <p:txBody>
          <a:bodyPr/>
          <a:lstStyle/>
          <a:p>
            <a:r>
              <a:rPr sz="5400" b="0">
                <a:solidFill>
                  <a:srgbClr val="FFFFFF"/>
                </a:solidFill>
                <a:latin typeface="Kanit"/>
              </a:rPr>
              <a:t>Thank You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perations Research by Slidesgo">
  <a:themeElements>
    <a:clrScheme name="Simple Light">
      <a:dk1>
        <a:srgbClr val="FFFFFF"/>
      </a:dk1>
      <a:lt1>
        <a:srgbClr val="161618"/>
      </a:lt1>
      <a:dk2>
        <a:srgbClr val="161618"/>
      </a:dk2>
      <a:lt2>
        <a:srgbClr val="1E1F23"/>
      </a:lt2>
      <a:accent1>
        <a:srgbClr val="A6192E"/>
      </a:accent1>
      <a:accent2>
        <a:srgbClr val="E0435A"/>
      </a:accent2>
      <a:accent3>
        <a:srgbClr val="6E717A"/>
      </a:accent3>
      <a:accent4>
        <a:srgbClr val="4A4C54"/>
      </a:accent4>
      <a:accent5>
        <a:srgbClr val="E0435A"/>
      </a:accent5>
      <a:accent6>
        <a:srgbClr val="A6192E"/>
      </a:accent6>
      <a:hlink>
        <a:srgbClr val="E0435A"/>
      </a:hlink>
      <a:folHlink>
        <a:srgbClr val="F08A97"/>
      </a:folHlink>
    </a:clrScheme>
    <a:fontScheme name="Office">
      <a:majorFont>
        <a:latin typeface="Kani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Open Sans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215</TotalTime>
  <Words>2225</Words>
  <Application>Microsoft Macintosh PowerPoint</Application>
  <PresentationFormat>On-screen Show (16:9)</PresentationFormat>
  <Paragraphs>359</Paragraphs>
  <Slides>34</Slides>
  <Notes>1</Notes>
  <HiddenSlides>0</HiddenSlides>
  <MMClips>1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9" baseType="lpstr">
      <vt:lpstr>Kanit</vt:lpstr>
      <vt:lpstr>Open Sans</vt:lpstr>
      <vt:lpstr>Consolas</vt:lpstr>
      <vt:lpstr>Arial</vt:lpstr>
      <vt:lpstr>Operations Research by Slidesgo</vt:lpstr>
      <vt:lpstr>Teaching Armor to Feel Its Own Damage</vt:lpstr>
      <vt:lpstr>Dr. Yang Yang &amp; the Yang Lab</vt:lpstr>
      <vt:lpstr>Meet the Team</vt:lpstr>
      <vt:lpstr>What We'll Cover</vt:lpstr>
      <vt:lpstr>Research &amp; Ideas</vt:lpstr>
      <vt:lpstr>Hidden Damage</vt:lpstr>
      <vt:lpstr>How Can Plastic Feel?</vt:lpstr>
      <vt:lpstr>Seeing It Happen</vt:lpstr>
      <vt:lpstr>The Mantis Shrimp</vt:lpstr>
      <vt:lpstr>Borrowing From Nature</vt:lpstr>
      <vt:lpstr>Two Materials, Two Jobs</vt:lpstr>
      <vt:lpstr>Design Process &amp; Methods</vt:lpstr>
      <vt:lpstr>Designing the Models</vt:lpstr>
      <vt:lpstr>From CAD to Printed Part</vt:lpstr>
      <vt:lpstr>Squeeze and Measure</vt:lpstr>
      <vt:lpstr>Testing &amp; Results</vt:lpstr>
      <vt:lpstr>Four Rounds of Refinement</vt:lpstr>
      <vt:lpstr>Round 1: Line Thickness</vt:lpstr>
      <vt:lpstr>Round 1.5: Is 1.0 mm Really Best?</vt:lpstr>
      <vt:lpstr>Round 2: Line Spacing</vt:lpstr>
      <vt:lpstr>Round 3: The Final Design</vt:lpstr>
      <vt:lpstr>Microscopic Cracks</vt:lpstr>
      <vt:lpstr>Simulating the Load</vt:lpstr>
      <vt:lpstr>The Mantis Shrimp Arches</vt:lpstr>
      <vt:lpstr>Simulating the Arches</vt:lpstr>
      <vt:lpstr>Final Result: The Two-Bump Arch</vt:lpstr>
      <vt:lpstr>Our Final Prototype</vt:lpstr>
      <vt:lpstr>Conclusion &amp; Takeaways</vt:lpstr>
      <vt:lpstr>Lessons Learned</vt:lpstr>
      <vt:lpstr>Real-Life Applications</vt:lpstr>
      <vt:lpstr>Why This Matters</vt:lpstr>
      <vt:lpstr>Behind the Research</vt:lpstr>
      <vt:lpstr>What We Found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Bio-Inspired Multifunctional 3D Printed Armor</dc:title>
  <dc:subject>VBR July Research Camp 2026 · SDSU Yang Lab · Mechanical Engineering Team</dc:subject>
  <cp:lastModifiedBy>Ingo MUSCHENETZ</cp:lastModifiedBy>
  <cp:revision>8</cp:revision>
  <dcterms:modified xsi:type="dcterms:W3CDTF">2026-10-13T00:45:07Z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d68af6de-cd8b-46d2-a1d5-482b920c67c1_Enabled">
    <vt:lpwstr>true</vt:lpwstr>
  </property>
  <property fmtid="{D5CDD505-2E9C-101B-9397-08002B2CF9AE}" pid="3" name="MSIP_Label_d68af6de-cd8b-46d2-a1d5-482b920c67c1_SetDate">
    <vt:lpwstr>2026-10-12T19:55:15Z</vt:lpwstr>
  </property>
  <property fmtid="{D5CDD505-2E9C-101B-9397-08002B2CF9AE}" pid="4" name="MSIP_Label_d68af6de-cd8b-46d2-a1d5-482b920c67c1_Method">
    <vt:lpwstr>Standard</vt:lpwstr>
  </property>
  <property fmtid="{D5CDD505-2E9C-101B-9397-08002B2CF9AE}" pid="5" name="MSIP_Label_d68af6de-cd8b-46d2-a1d5-482b920c67c1_Name">
    <vt:lpwstr>d68af6de-cd8b-46d2-a1d5-482b920c67c1</vt:lpwstr>
  </property>
  <property fmtid="{D5CDD505-2E9C-101B-9397-08002B2CF9AE}" pid="6" name="MSIP_Label_d68af6de-cd8b-46d2-a1d5-482b920c67c1_SiteId">
    <vt:lpwstr>300f59df-78e6-436f-9b27-b64973e34f7d</vt:lpwstr>
  </property>
  <property fmtid="{D5CDD505-2E9C-101B-9397-08002B2CF9AE}" pid="7" name="MSIP_Label_d68af6de-cd8b-46d2-a1d5-482b920c67c1_ActionId">
    <vt:lpwstr>7861c50e-12f8-427d-b94e-ac9258c29600</vt:lpwstr>
  </property>
  <property fmtid="{D5CDD505-2E9C-101B-9397-08002B2CF9AE}" pid="8" name="MSIP_Label_d68af6de-cd8b-46d2-a1d5-482b920c67c1_ContentBits">
    <vt:lpwstr>0</vt:lpwstr>
  </property>
  <property fmtid="{D5CDD505-2E9C-101B-9397-08002B2CF9AE}" pid="9" name="MSIP_Label_d68af6de-cd8b-46d2-a1d5-482b920c67c1_Tag">
    <vt:lpwstr>50, 3, 0, 1</vt:lpwstr>
  </property>
</Properties>
</file>